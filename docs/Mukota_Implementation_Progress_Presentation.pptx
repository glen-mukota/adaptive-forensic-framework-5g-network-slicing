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7d51602c054fe7" /><Relationship Type="http://schemas.openxmlformats.org/officeDocument/2006/relationships/extended-properties" Target="/docProps/app.xml" Id="R0d28a2c6f62a47d3" /><Relationship Type="http://schemas.openxmlformats.org/officeDocument/2006/relationships/officeDocument" Target="/ppt/presentation.xml" Id="R9872e1a0b50943cb" /></Relationships>
</file>

<file path=ppt/presentation.xml><?xml version="1.0" encoding="utf-8"?>
<p:presentation xmlns:p="http://schemas.openxmlformats.org/presentationml/2006/main">
  <p:sldMasterIdLst>
    <p:sldMasterId xmlns:r="http://schemas.openxmlformats.org/officeDocument/2006/relationships" id="2147483648" r:id="Rf4eb288985c44174"/>
  </p:sldMasterIdLst>
  <p:notesMasterIdLst>
    <p:notesMasterId xmlns:r="http://schemas.openxmlformats.org/officeDocument/2006/relationships" r:id="Rdfbadb9e242d455a"/>
  </p:notesMasterIdLst>
  <p:sldIdLst>
    <p:sldId xmlns:r="http://schemas.openxmlformats.org/officeDocument/2006/relationships" id="256" r:id="R1ea093c315c54292"/>
    <p:sldId xmlns:r="http://schemas.openxmlformats.org/officeDocument/2006/relationships" id="257" r:id="Raa69c6770e0f4338"/>
    <p:sldId xmlns:r="http://schemas.openxmlformats.org/officeDocument/2006/relationships" id="258" r:id="Re1189123feb44c94"/>
    <p:sldId xmlns:r="http://schemas.openxmlformats.org/officeDocument/2006/relationships" id="259" r:id="R6d6f83788bf24561"/>
    <p:sldId xmlns:r="http://schemas.openxmlformats.org/officeDocument/2006/relationships" id="260" r:id="Re78b588c9e3f4770"/>
    <p:sldId xmlns:r="http://schemas.openxmlformats.org/officeDocument/2006/relationships" id="261" r:id="R18516f0858db4c7d"/>
    <p:sldId xmlns:r="http://schemas.openxmlformats.org/officeDocument/2006/relationships" id="262" r:id="Rca560b9ffa8d499d"/>
    <p:sldId xmlns:r="http://schemas.openxmlformats.org/officeDocument/2006/relationships" id="263" r:id="R2b7905a249164e46"/>
    <p:sldId xmlns:r="http://schemas.openxmlformats.org/officeDocument/2006/relationships" id="264" r:id="Ra584821974f7435f"/>
    <p:sldId xmlns:r="http://schemas.openxmlformats.org/officeDocument/2006/relationships" id="265" r:id="Re7ca938ee1144e01"/>
    <p:sldId xmlns:r="http://schemas.openxmlformats.org/officeDocument/2006/relationships" id="266" r:id="Rfb8d51d0a0874f29"/>
    <p:sldId xmlns:r="http://schemas.openxmlformats.org/officeDocument/2006/relationships" id="267" r:id="R46df0c78ff194cfd"/>
    <p:sldId xmlns:r="http://schemas.openxmlformats.org/officeDocument/2006/relationships" id="268" r:id="R593315c4a0e245b5"/>
    <p:sldId xmlns:r="http://schemas.openxmlformats.org/officeDocument/2006/relationships" id="269" r:id="R3072c60003e74240"/>
    <p:sldId xmlns:r="http://schemas.openxmlformats.org/officeDocument/2006/relationships" id="270" r:id="Rba3cdce7dda443f6"/>
    <p:sldId xmlns:r="http://schemas.openxmlformats.org/officeDocument/2006/relationships" id="271" r:id="Rde706d7a04234b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e634ae80ffa465f" /><Relationship Type="http://schemas.openxmlformats.org/officeDocument/2006/relationships/slideMaster" Target="/ppt/slideMasters/slideMaster1.xml" Id="Rf4eb288985c44174" /><Relationship Type="http://schemas.openxmlformats.org/officeDocument/2006/relationships/notesMaster" Target="/ppt/notesMasters/notesMaster1.xml" Id="Rdfbadb9e242d455a" /><Relationship Type="http://schemas.openxmlformats.org/officeDocument/2006/relationships/presProps" Target="/ppt/presProps.xml" Id="R740ee8400db04c86" /><Relationship Type="http://schemas.openxmlformats.org/officeDocument/2006/relationships/viewProps" Target="/ppt/viewProps.xml" Id="Rd756c727763844c9" /><Relationship Type="http://schemas.openxmlformats.org/officeDocument/2006/relationships/tableStyles" Target="/ppt/tableStyles.xml" Id="R71ef155f11e14c1c" /><Relationship Type="http://schemas.openxmlformats.org/officeDocument/2006/relationships/slide" Target="/ppt/slides/slide1.xml" Id="R1ea093c315c54292" /><Relationship Type="http://schemas.openxmlformats.org/officeDocument/2006/relationships/slide" Target="/ppt/slides/slide2.xml" Id="Raa69c6770e0f4338" /><Relationship Type="http://schemas.openxmlformats.org/officeDocument/2006/relationships/slide" Target="/ppt/slides/slide3.xml" Id="Re1189123feb44c94" /><Relationship Type="http://schemas.openxmlformats.org/officeDocument/2006/relationships/slide" Target="/ppt/slides/slide4.xml" Id="R6d6f83788bf24561" /><Relationship Type="http://schemas.openxmlformats.org/officeDocument/2006/relationships/slide" Target="/ppt/slides/slide5.xml" Id="Re78b588c9e3f4770" /><Relationship Type="http://schemas.openxmlformats.org/officeDocument/2006/relationships/slide" Target="/ppt/slides/slide6.xml" Id="R18516f0858db4c7d" /><Relationship Type="http://schemas.openxmlformats.org/officeDocument/2006/relationships/slide" Target="/ppt/slides/slide7.xml" Id="Rca560b9ffa8d499d" /><Relationship Type="http://schemas.openxmlformats.org/officeDocument/2006/relationships/slide" Target="/ppt/slides/slide8.xml" Id="R2b7905a249164e46" /><Relationship Type="http://schemas.openxmlformats.org/officeDocument/2006/relationships/slide" Target="/ppt/slides/slide9.xml" Id="Ra584821974f7435f" /><Relationship Type="http://schemas.openxmlformats.org/officeDocument/2006/relationships/slide" Target="/ppt/slides/slide10.xml" Id="Re7ca938ee1144e01" /><Relationship Type="http://schemas.openxmlformats.org/officeDocument/2006/relationships/slide" Target="/ppt/slides/slide11.xml" Id="Rfb8d51d0a0874f29" /><Relationship Type="http://schemas.openxmlformats.org/officeDocument/2006/relationships/slide" Target="/ppt/slides/slide12.xml" Id="R46df0c78ff194cfd" /><Relationship Type="http://schemas.openxmlformats.org/officeDocument/2006/relationships/slide" Target="/ppt/slides/slide13.xml" Id="R593315c4a0e245b5" /><Relationship Type="http://schemas.openxmlformats.org/officeDocument/2006/relationships/slide" Target="/ppt/slides/slide14.xml" Id="R3072c60003e74240" /><Relationship Type="http://schemas.openxmlformats.org/officeDocument/2006/relationships/slide" Target="/ppt/slides/slide15.xml" Id="Rba3cdce7dda443f6" /><Relationship Type="http://schemas.openxmlformats.org/officeDocument/2006/relationships/slide" Target="/ppt/slides/slide16.xml" Id="Rde706d7a04234b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eda7857ae042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54c582c20846a0" /><Relationship Type="http://schemas.openxmlformats.org/officeDocument/2006/relationships/notesMaster" Target="/ppt/notesMasters/notesMaster1.xml" Id="R7369eb5b4e664f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0d477fac9f48df" /><Relationship Type="http://schemas.openxmlformats.org/officeDocument/2006/relationships/notesMaster" Target="/ppt/notesMasters/notesMaster1.xml" Id="R34f29b1bcb39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8d16cbeee14884" /><Relationship Type="http://schemas.openxmlformats.org/officeDocument/2006/relationships/notesMaster" Target="/ppt/notesMasters/notesMaster1.xml" Id="R1ff9be13539d48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3fd52989254e71" /><Relationship Type="http://schemas.openxmlformats.org/officeDocument/2006/relationships/notesMaster" Target="/ppt/notesMasters/notesMaster1.xml" Id="Ra45b36c1a82e46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4258a4ab2c4934" /><Relationship Type="http://schemas.openxmlformats.org/officeDocument/2006/relationships/notesMaster" Target="/ppt/notesMasters/notesMaster1.xml" Id="R0ba8021418e74b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a9be406af8415b" /><Relationship Type="http://schemas.openxmlformats.org/officeDocument/2006/relationships/notesMaster" Target="/ppt/notesMasters/notesMaster1.xml" Id="Rdde6e39e68ee43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4244f82fe446b0" /><Relationship Type="http://schemas.openxmlformats.org/officeDocument/2006/relationships/notesMaster" Target="/ppt/notesMasters/notesMaster1.xml" Id="Re56d0d18a2f94b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6f4cdee71b44c7" /><Relationship Type="http://schemas.openxmlformats.org/officeDocument/2006/relationships/notesMaster" Target="/ppt/notesMasters/notesMaster1.xml" Id="R69aedff184664a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89d45f9a4145f0" /><Relationship Type="http://schemas.openxmlformats.org/officeDocument/2006/relationships/notesMaster" Target="/ppt/notesMasters/notesMaster1.xml" Id="R560be646d8324d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cd919548df4411" /><Relationship Type="http://schemas.openxmlformats.org/officeDocument/2006/relationships/notesMaster" Target="/ppt/notesMasters/notesMaster1.xml" Id="R99f00beced934e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9155cda7984846" /><Relationship Type="http://schemas.openxmlformats.org/officeDocument/2006/relationships/notesMaster" Target="/ppt/notesMasters/notesMaster1.xml" Id="R5ed3078526f242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5d874c2fd345b9" /><Relationship Type="http://schemas.openxmlformats.org/officeDocument/2006/relationships/notesMaster" Target="/ppt/notesMasters/notesMaster1.xml" Id="Rf7743971924d43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2ce6bfceaa451c" /><Relationship Type="http://schemas.openxmlformats.org/officeDocument/2006/relationships/notesMaster" Target="/ppt/notesMasters/notesMaster1.xml" Id="Rdf4a6c43dd0940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c37f4ffc054828" /><Relationship Type="http://schemas.openxmlformats.org/officeDocument/2006/relationships/notesMaster" Target="/ppt/notesMasters/notesMaster1.xml" Id="R9997cc3e892044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73cd493eb645c8" /><Relationship Type="http://schemas.openxmlformats.org/officeDocument/2006/relationships/notesMaster" Target="/ppt/notesMasters/notesMaster1.xml" Id="R2ae0d2f52f6645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9f9c0b709244d7" /><Relationship Type="http://schemas.openxmlformats.org/officeDocument/2006/relationships/notesMaster" Target="/ppt/notesMasters/notesMaster1.xml" Id="Rd59c8f34e10943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update shows the completed six-step proof of concept. I will demonstrate the live controlled laboratory, then the evaluation result and the retained evidence that supports it.</a:t>
            </a:r>
          </a:p>
          <a:p xmlns:a="http://schemas.openxmlformats.org/drawingml/2006/main">
            <a:r>
              <a:t/>
            </a:r>
            <a:endParaRPr/>
          </a:p>
          <a:p xmlns:a="http://schemas.openxmlformats.org/drawingml/2006/main">
            <a:r>
              <a:t>[Sources]</a:t>
            </a:r>
          </a:p>
          <a:p xmlns:a="http://schemas.openxmlformats.org/drawingml/2006/main">
            <a:r>
              <a:t>- Research proposal and implementation action plan.</a:t>
            </a:r>
          </a:p>
          <a:p xmlns:a="http://schemas.openxmlformats.org/drawingml/2006/main">
            <a:r>
              <a:t>- Current Phase 6 evaluation run: artifacts/runs/phase6-20260904-184135.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Avoid technical words here. Docker is the safe test environment, C# is the program I wrote, and GitHub is the online version history. A slice is a separate logical lane, not a physical wire.</a:t>
            </a:r>
          </a:p>
          <a:p xmlns:a="http://schemas.openxmlformats.org/drawingml/2006/main">
            <a:endParaRPr/>
          </a:p>
          <a:p xmlns:a="http://schemas.openxmlformats.org/drawingml/2006/main">
            <a:r>
              <a:t>[Sources]</a:t>
            </a:r>
          </a:p>
          <a:p xmlns:a="http://schemas.openxmlformats.org/drawingml/2006/main">
            <a:r>
              <a:t>- Proposal: Mukota LG_Makura SM.pdf, proposed adaptive framework and 5G slicing context.</a:t>
            </a:r>
          </a:p>
          <a:p xmlns:a="http://schemas.openxmlformats.org/drawingml/2006/main">
            <a:r>
              <a:t>- Implementation Action Plan: Mukota_Implementation_Action_Plan.docx.</a:t>
            </a:r>
          </a:p>
          <a:p xmlns:a="http://schemas.openxmlformats.org/drawingml/2006/main">
            <a:r>
              <a:t>Diagram 1 - framework architecture:
Blue identifies what has been reported as working in Phases 1-3. Amber identifies the approved next layers. Green identifies stored evidence or outputs.
The key flow is: laboratory evidence -&gt; C# normalised records -&gt; explainable slice decision -&gt; integrity and custody -&gt; retrieval and reporting.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slide answers the supervisor's request directly: these are the practical steps already taken. I am now at the end of Step 3, not at the end of the research.</a:t>
            </a:r>
          </a:p>
          <a:p xmlns:a="http://schemas.openxmlformats.org/drawingml/2006/main">
            <a:endParaRPr/>
          </a:p>
          <a:p xmlns:a="http://schemas.openxmlformats.org/drawingml/2006/main">
            <a:r>
              <a:t>[Sources]</a:t>
            </a:r>
          </a:p>
          <a:p xmlns:a="http://schemas.openxmlformats.org/drawingml/2006/main">
            <a:r>
              <a:t>- Implementation Action Plan: Mukota_Implementation_Action_Plan.docx, Stages 1 to 3.</a:t>
            </a:r>
          </a:p>
          <a:p xmlns:a="http://schemas.openxmlformats.org/drawingml/2006/main">
            <a:r>
              <a:t>- Updated progress report: Mukota_Phase_1_and_2_Development_Progress_Report.docx.</a:t>
            </a:r>
          </a:p>
          <a:p xmlns:a="http://schemas.openxmlformats.org/drawingml/2006/main">
            <a:r>
              <a:t>How the diagrams fit the path:
The framework architecture diagram shows the complete research structure. The prototype deployment diagram shows where Phases 1-3 fit in the actual laboratory. The use-case diagram shows what is demonstrated now and what follows in Phases 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Docker lets me run each required 5G part safely on my laptop. The screenshot is fresh and shows the core services running. A baseline record means I captured the starting healthy state before later tests.</a:t>
            </a:r>
          </a:p>
          <a:p xmlns:a="http://schemas.openxmlformats.org/drawingml/2006/main">
            <a:endParaRPr/>
          </a:p>
          <a:p xmlns:a="http://schemas.openxmlformats.org/drawingml/2006/main">
            <a:r>
              <a:t>[Sources]</a:t>
            </a:r>
          </a:p>
          <a:p xmlns:a="http://schemas.openxmlformats.org/drawingml/2006/main">
            <a:r>
              <a:t>- Docker Desktop capture: assets/docker-desktop-containers-expanded.png, 4 August 2026.</a:t>
            </a:r>
          </a:p>
          <a:p xmlns:a="http://schemas.openxmlformats.org/drawingml/2006/main">
            <a:r>
              <a:t>- Implementation Action Plan: Stage 1 - establish the controlled 5G test environment.</a:t>
            </a:r>
          </a:p>
          <a:p xmlns:a="http://schemas.openxmlformats.org/drawingml/2006/main">
            <a:r>
              <a:t>Diagram 2 - prototype deployment:
Point to the upper blue layer: it is the implemented 5G laboratory. Point to the lower green layer: this is the C# evidence-organising step.
The diagram deliberately shows a laboratory boundary. It does not claim that this is a live operator network.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These are software versions of a base station and phones. They let me run repeatable tests without physical radios. I used two different traffic scenarios so the evidence records are not all the same.</a:t>
            </a:r>
          </a:p>
          <a:p xmlns:a="http://schemas.openxmlformats.org/drawingml/2006/main">
            <a:endParaRPr/>
          </a:p>
          <a:p xmlns:a="http://schemas.openxmlformats.org/drawingml/2006/main">
            <a:r>
              <a:t>[Sources]</a:t>
            </a:r>
          </a:p>
          <a:p xmlns:a="http://schemas.openxmlformats.org/drawingml/2006/main">
            <a:r>
              <a:t>- Docker Desktop capture: assets/docker-desktop-ran-expanded.png, 4 August 2026.</a:t>
            </a:r>
          </a:p>
          <a:p xmlns:a="http://schemas.openxmlformats.org/drawingml/2006/main">
            <a:r>
              <a:t>- Phase 2 summary: artifacts/runs/phase2-20260804-073242/phase2-summary.json.</a:t>
            </a:r>
          </a:p>
          <a:p xmlns:a="http://schemas.openxmlformats.org/drawingml/2006/main">
            <a:r>
              <a:t>- Implementation Action Plan: Stage 2 - introduce virtual gNB/UE and controlled traffic scenarios.</a:t>
            </a:r>
            <a:endParaRPr/>
          </a:p>
          <a:p xmlns:a="http://schemas.openxmlformats.org/drawingml/2006/main">
            <a:r>
              <a:t>Diagram 2 - Phase 2:
The virtual gNB and two virtual UEs sit in the upper laboratory layer. Their controlled traffic produces the retained artefacts that enter the lower evidence-organisation layer.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C# is the language used to write the evidence collection program. It reads selected files, puts key details into the same format, and keeps a reference to the original file. This is useful because I can search the records later without changing the evidence.</a:t>
            </a:r>
          </a:p>
          <a:p xmlns:a="http://schemas.openxmlformats.org/drawingml/2006/main">
            <a:endParaRPr/>
          </a:p>
          <a:p xmlns:a="http://schemas.openxmlformats.org/drawingml/2006/main">
            <a:r>
              <a:t>[Sources]</a:t>
            </a:r>
          </a:p>
          <a:p xmlns:a="http://schemas.openxmlformats.org/drawingml/2006/main">
            <a:r>
              <a:t>- Visual Studio capture: assets/visual-studio-build.png, 4 August 2026.</a:t>
            </a:r>
          </a:p>
          <a:p xmlns:a="http://schemas.openxmlformats.org/drawingml/2006/main">
            <a:r>
              <a:t>- Phase 3 summary: artifacts/runs/phase3-20260804-073407/evidence-</a:t>
            </a:r>
            <a:r>
              <a:t>index.json</a:t>
            </a:r>
            <a:r>
              <a:t>.</a:t>
            </a:r>
          </a:p>
          <a:p xmlns:a="http://schemas.openxmlformats.org/drawingml/2006/main">
            <a:r>
              <a:t>- Implementation Action Plan: Stage 3 - implement </a:t>
            </a:r>
            <a:r>
              <a:t>normalised</a:t>
            </a:r>
            <a:r>
              <a:t> evidence ingestion.</a:t>
            </a:r>
          </a:p>
          <a:p xmlns:a="http://schemas.openxmlformats.org/drawingml/2006/main">
            <a:r>
              <a:t>Diagram 2 - Phase 3:
The C#/.NET component is deliberately outside the OAI core. It reads selected retained artefacts and creates a searchable evidence index. It does not change the original source files.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I did not build Phase 4 on an untested base. I reran the Docker laboratory, the two controlled traffic scenarios and the C# evidence ingestion first. Those checks passed, so the attribution result is based on working Phase 1 to 3 components.</a:t>
            </a:r>
          </a:p>
          <a:p xmlns:a="http://schemas.openxmlformats.org/drawingml/2006/main">
            <a:r>
              <a:t/>
            </a:r>
            <a:endParaRPr/>
          </a:p>
          <a:p xmlns:a="http://schemas.openxmlformats.org/drawingml/2006/main">
            <a:r>
              <a:t>[Sources]</a:t>
            </a:r>
          </a:p>
          <a:p xmlns:a="http://schemas.openxmlformats.org/drawingml/2006/main">
            <a:r>
              <a:t>- Phase 1 validation: artifacts/runs/20260816-123157.</a:t>
            </a:r>
          </a:p>
          <a:p xmlns:a="http://schemas.openxmlformats.org/drawingml/2006/main">
            <a:r>
              <a:t>- Phase 2 summary: artifacts/runs/phase2-20260816-123218/phase2-summary.json.</a:t>
            </a:r>
          </a:p>
          <a:p xmlns:a="http://schemas.openxmlformats.org/drawingml/2006/main">
            <a:r>
              <a:t>- Phase 3 index: artifacts/runs/phase3-20260816-123355/evidence-index.json.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Phase 4 does not hide uncertainty. For each of the 27 records, the program stores a decision, the rule identifier and the reason. The eight labelled records matched the known test scenarios. Seven shared records and twelve records without enough context are safely held rather than forced into a slice.</a:t>
            </a:r>
          </a:p>
          <a:p xmlns:a="http://schemas.openxmlformats.org/drawingml/2006/main">
            <a:r>
              <a:t/>
            </a:r>
            <a:endParaRPr/>
          </a:p>
          <a:p xmlns:a="http://schemas.openxmlformats.org/drawingml/2006/main">
            <a:r>
              <a:t>[Sources]</a:t>
            </a:r>
          </a:p>
          <a:p xmlns:a="http://schemas.openxmlformats.org/drawingml/2006/main">
            <a:r>
              <a:t>- Implementation Action Plan: Step 4, transparent slice attribution and rule logic.</a:t>
            </a:r>
          </a:p>
          <a:p xmlns:a="http://schemas.openxmlformats.org/drawingml/2006/main">
            <a:r>
              <a:t>- Phase 4 summary: artifacts/runs/phase4-20260816-123422/phase4-summary.json.</a:t>
            </a:r>
          </a:p>
          <a:p xmlns:a="http://schemas.openxmlformats.org/drawingml/2006/main">
            <a:r>
              <a:t>- Rule configuration: config/phase4/slice-attribution-rules.json.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The public repository contains the C# program, Docker configuration, attribution rules and the scripts used to reproduce the run. Commit 938d1cf is the Phase 4 implementation that I tested locally before pushing it.</a:t>
            </a:r>
          </a:p>
          <a:p xmlns:a="http://schemas.openxmlformats.org/drawingml/2006/main">
            <a:r>
              <a:t/>
            </a:r>
            <a:endParaRPr/>
          </a:p>
          <a:p xmlns:a="http://schemas.openxmlformats.org/drawingml/2006/main">
            <a:r>
              <a:t>[Sources]</a:t>
            </a:r>
          </a:p>
          <a:p xmlns:a="http://schemas.openxmlformats.org/drawingml/2006/main">
            <a:r>
              <a:t>- Public repository: https://github.com/glen-mukota/adaptive-forensic-framework-5g-network-slicing.</a:t>
            </a:r>
          </a:p>
          <a:p xmlns:a="http://schemas.openxmlformats.org/drawingml/2006/main">
            <a:r>
              <a:t>- Pushed commit: 938d1cf, Implement Phase 4 slice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earlier planned steps are now complete. This table is not a future plan: it is a short evidence trail showing the outcome available for each of the final three steps. I will now demonstrate this chain from the running laboratory to the Phase 6 measures.</a:t>
            </a:r>
          </a:p>
          <a:p xmlns:a="http://schemas.openxmlformats.org/drawingml/2006/main">
            <a:r>
              <a:t/>
            </a:r>
            <a:endParaRPr/>
          </a:p>
          <a:p xmlns:a="http://schemas.openxmlformats.org/drawingml/2006/main">
            <a:r>
              <a:t>[Sources]</a:t>
            </a:r>
          </a:p>
          <a:p xmlns:a="http://schemas.openxmlformats.org/drawingml/2006/main">
            <a:r>
              <a:t>- Current Phase 4, 5 and 6 retained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Say: Phase 5 is now complete. The program applies a priority update only after a controlled traffic record has been attributed to a slice. It does not change the source evidence. It then records the custody details, calculates SHA-256 and verifies each source again.</a:t>
            </a:r>
          </a:p>
          <a:p xmlns:a="http://schemas.openxmlformats.org/drawingml/2006/main">
            <a:r>
              <a:t/>
            </a:r>
            <a:endParaRPr/>
          </a:p>
          <a:p xmlns:a="http://schemas.openxmlformats.org/drawingml/2006/main">
            <a:r>
              <a:t>[Sources]</a:t>
            </a:r>
          </a:p>
          <a:p xmlns:a="http://schemas.openxmlformats.org/drawingml/2006/main">
            <a:r>
              <a:t>- Implementation Action Plan: Step 5, adaptive control, integrity and chain-of-custody controls.</a:t>
            </a:r>
          </a:p>
          <a:p xmlns:a="http://schemas.openxmlformats.org/drawingml/2006/main">
            <a:r>
              <a:t>- Phase 5 summary: artifacts/runs/phase5-20260822-170606/phase5-summary.json.</a:t>
            </a:r>
          </a:p>
          <a:p xmlns:a="http://schemas.openxmlformats.org/drawingml/2006/main">
            <a:r>
              <a:t>- Approved rule catalogue: config/phase5/adaptive-collection-rules.json.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Phase 5 is complete and Phase 6 now completes the prototype evaluation. I will use the remaining slides to show the measured result, the current running laboratory and the program that writes the evaluation report.</a:t>
            </a:r>
          </a:p>
          <a:p xmlns:a="http://schemas.openxmlformats.org/drawingml/2006/main">
            <a:r>
              <a:t/>
            </a:r>
            <a:endParaRPr/>
          </a:p>
          <a:p xmlns:a="http://schemas.openxmlformats.org/drawingml/2006/main">
            <a:r>
              <a:t>[Sources]</a:t>
            </a:r>
          </a:p>
          <a:p xmlns:a="http://schemas.openxmlformats.org/drawingml/2006/main">
            <a:r>
              <a:t>- Current Phase 6 summary and metrics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Phase 6 is the evaluation step. I did not simply show that the program runs. I ran five controlled scenarios and checked six measurable outcomes against the retained evidence. All five scenarios and all six measures passed in the current run.</a:t>
            </a:r>
          </a:p>
          <a:p xmlns:a="http://schemas.openxmlformats.org/drawingml/2006/main">
            <a:r>
              <a:t/>
            </a:r>
            <a:endParaRPr/>
          </a:p>
          <a:p xmlns:a="http://schemas.openxmlformats.org/drawingml/2006/main">
            <a:r>
              <a:t>[Sources]</a:t>
            </a:r>
          </a:p>
          <a:p xmlns:a="http://schemas.openxmlformats.org/drawingml/2006/main">
            <a:r>
              <a:t>- artifacts/runs/phase6-20260904-184135/phase6-summary.json</a:t>
            </a:r>
          </a:p>
          <a:p xmlns:a="http://schemas.openxmlformats.org/drawingml/2006/main">
            <a:r>
              <a:t>- artifacts/runs/phase6-20260904-184135/metrics.json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running laboratory that underpins the evaluation. The green healthy statuses show that the required core, virtual base station and virtual device containers are available before I run the evidence pipeline.</a:t>
            </a:r>
          </a:p>
          <a:p xmlns:a="http://schemas.openxmlformats.org/drawingml/2006/main">
            <a:r>
              <a:t/>
            </a:r>
            <a:endParaRPr/>
          </a:p>
          <a:p xmlns:a="http://schemas.openxmlformats.org/drawingml/2006/main">
            <a:r>
              <a:t>[Sources]</a:t>
            </a:r>
          </a:p>
          <a:p xmlns:a="http://schemas.openxmlformats.org/drawingml/2006/main">
            <a:r>
              <a:t>- Current Docker Desktop capture, 4 September 2026.</a:t>
            </a:r>
          </a:p>
          <a:p xmlns:a="http://schemas.openxmlformats.org/drawingml/2006/main">
            <a:r>
              <a:t>- Current docker ps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screen shows the source project in Visual Studio. The program reads the Phase 1 to Phase 5 reports, checks that they link together, runs the five defined Phase 6 scenarios and writes the evaluation evidence.</a:t>
            </a:r>
          </a:p>
          <a:p xmlns:a="http://schemas.openxmlformats.org/drawingml/2006/main">
            <a:r>
              <a:t/>
            </a:r>
            <a:endParaRPr/>
          </a:p>
          <a:p xmlns:a="http://schemas.openxmlformats.org/drawingml/2006/main">
            <a:r>
              <a:t>[Sources]</a:t>
            </a:r>
          </a:p>
          <a:p xmlns:a="http://schemas.openxmlformats.org/drawingml/2006/main">
            <a:r>
              <a:t>- Current Visual Studio capture, 4 September 2026.</a:t>
            </a:r>
          </a:p>
          <a:p xmlns:a="http://schemas.openxmlformats.org/drawingml/2006/main">
            <a:r>
              <a:t>- src/ForensicFramework.LabBootstrap/Program.cs.</a:t>
            </a:r>
          </a:p>
          <a:p xmlns:a="http://schemas.openxmlformats.org/drawingml/2006/main">
            <a:r>
              <a:t>- scripts/Run-Phase6Evaluation.ps1.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These are the final three steps from the implementation plan. Together with the first three steps, they complete the intended proof of concept: a working laboratory, structured evidence, explainable attribution, safe collection adaptation, integrity and custody controls, then controlled evaluation.</a:t>
            </a:r>
          </a:p>
          <a:p xmlns:a="http://schemas.openxmlformats.org/drawingml/2006/main">
            <a:r>
              <a:t/>
            </a:r>
            <a:endParaRPr/>
          </a:p>
          <a:p xmlns:a="http://schemas.openxmlformats.org/drawingml/2006/main">
            <a:r>
              <a:t>[Sources]</a:t>
            </a:r>
          </a:p>
          <a:p xmlns:a="http://schemas.openxmlformats.org/drawingml/2006/main">
            <a:r>
              <a:t>- Implementation Action Plan: Steps 4 to 6.</a:t>
            </a:r>
          </a:p>
          <a:p xmlns:a="http://schemas.openxmlformats.org/drawingml/2006/main">
            <a:r>
              <a:t>- Current Phase 4, 5 and 6 retained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c70950765740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5ce561696e4c01" /><Relationship Type="http://schemas.openxmlformats.org/officeDocument/2006/relationships/slideLayout" Target="/ppt/slideLayouts/slideLayout1.xml" Id="Rc7064db49ad84d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064db49ad84d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a1e3a4165c4099" /><Relationship Type="http://schemas.openxmlformats.org/officeDocument/2006/relationships/notesSlide" Target="/ppt/notesSlides/notesSlide1.xml" Id="R0b650a76976846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41f662fd1c46f8" /><Relationship Type="http://schemas.openxmlformats.org/officeDocument/2006/relationships/notesSlide" Target="/ppt/notesSlides/notesSlide2.xml" Id="R097ae0dee77545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8920b881d747cb" /><Relationship Type="http://schemas.openxmlformats.org/officeDocument/2006/relationships/notesSlide" Target="/ppt/notesSlides/notesSlide3.xml" Id="Rff5459feff0642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695e0fc0224af8" /><Relationship Type="http://schemas.openxmlformats.org/officeDocument/2006/relationships/image" Target="/ppt/media/image.jpeg" Id="R0a21dc15ff37414e" /><Relationship Type="http://schemas.openxmlformats.org/officeDocument/2006/relationships/notesSlide" Target="/ppt/notesSlides/notesSlide4.xml" Id="R2a90e2c908d248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52f0bfb56845c9" /><Relationship Type="http://schemas.openxmlformats.org/officeDocument/2006/relationships/image" Target="/ppt/media/image.png" Id="Rd0aa724620e2436b" /><Relationship Type="http://schemas.openxmlformats.org/officeDocument/2006/relationships/notesSlide" Target="/ppt/notesSlides/notesSlide5.xml" Id="R6866abfc5b324d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59029bd2f4436b" /><Relationship Type="http://schemas.openxmlformats.org/officeDocument/2006/relationships/image" Target="/ppt/media/image2.jpeg" Id="R0233be98ca9341b4" /><Relationship Type="http://schemas.openxmlformats.org/officeDocument/2006/relationships/notesSlide" Target="/ppt/notesSlides/notesSlide6.xml" Id="R759d73a3866d45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8365a1b1f449a6" /><Relationship Type="http://schemas.openxmlformats.org/officeDocument/2006/relationships/notesSlide" Target="/ppt/notesSlides/notesSlide7.xml" Id="R3dbdb05571d845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8ab6717a1d41ca" /><Relationship Type="http://schemas.openxmlformats.org/officeDocument/2006/relationships/notesSlide" Target="/ppt/notesSlides/notesSlide8.xml" Id="R865f47c0c53f41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7ab874d91a4805" /><Relationship Type="http://schemas.openxmlformats.org/officeDocument/2006/relationships/image" Target="/ppt/media/image3.jpeg" Id="R4780f8e632c840cc" /><Relationship Type="http://schemas.openxmlformats.org/officeDocument/2006/relationships/notesSlide" Target="/ppt/notesSlides/notesSlide9.xml" Id="Ree69e8bd8b5744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6ac58f305143f9" /><Relationship Type="http://schemas.openxmlformats.org/officeDocument/2006/relationships/notesSlide" Target="/ppt/notesSlides/notesSlide10.xml" Id="R7cc40cd6620b4c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820c6b3ed14148" /><Relationship Type="http://schemas.openxmlformats.org/officeDocument/2006/relationships/notesSlide" Target="/ppt/notesSlides/notesSlide11.xml" Id="Rb0203109ea6048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e13cde75e04ce8" /><Relationship Type="http://schemas.openxmlformats.org/officeDocument/2006/relationships/notesSlide" Target="/ppt/notesSlides/notesSlide12.xml" Id="Rab1b2f8f72be49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fae14d50144f9a" /><Relationship Type="http://schemas.openxmlformats.org/officeDocument/2006/relationships/notesSlide" Target="/ppt/notesSlides/notesSlide13.xml" Id="R35bd6e2cf0e342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08286be8ce449b" /><Relationship Type="http://schemas.openxmlformats.org/officeDocument/2006/relationships/image" Target="/ppt/media/image.jpeg" Id="Rcb4e410130134de7" /><Relationship Type="http://schemas.openxmlformats.org/officeDocument/2006/relationships/notesSlide" Target="/ppt/notesSlides/notesSlide14.xml" Id="Rfc4cea5933d543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fed70d83b90414b" /><Relationship Type="http://schemas.openxmlformats.org/officeDocument/2006/relationships/image" Target="/ppt/media/image2.jpeg" Id="Rc55660302f014d7e" /><Relationship Type="http://schemas.openxmlformats.org/officeDocument/2006/relationships/notesSlide" Target="/ppt/notesSlides/notesSlide15.xml" Id="R9374c33e1e1344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f5968cd14d340f8" /><Relationship Type="http://schemas.openxmlformats.org/officeDocument/2006/relationships/notesSlide" Target="/ppt/notesSlides/notesSlide16.xml" Id="R4ed287ecbdc9477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E64307B6-3C26-49B6-A3EF-F9C1B2A7F4A3}"/>
              </a:ext>
            </a:extLst>
          </p:cNvPr>
          <p:cNvSpPr>
            <a:spLocks xmlns:a="http://schemas.openxmlformats.org/drawingml/2006/main" noGrp="1"/>
          </p:cNvSpPr>
          <p:nvPr/>
        </p:nvSpPr>
        <p:spPr>
          <a:xfrm xmlns:a="http://schemas.openxmlformats.org/drawingml/2006/main">
            <a:off x="400050" y="4000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E62D0"/>
                </a:solidFill>
              </a:defRPr>
            </a:pPr>
            <a:r>
              <a:rPr sz="1200" b="1" i="0">
                <a:solidFill>
                  <a:srgbClr val="1E62D0"/>
                </a:solidFill>
              </a:rPr>
              <a:t>COS700 SUPERVISOR PROGRESS MEETING</a:t>
            </a:r>
          </a:p>
        </p:txBody>
      </p:sp>
      <p:sp>
        <p:nvSpPr>
          <p:cNvPr id="2" name="Rectangle 1">
            <a:extLst xmlns:a="http://schemas.openxmlformats.org/drawingml/2006/main">
              <a:ext uri="{FF2B5EF4-FFF2-40B4-BE49-F238E27FC236}">
                <a16:creationId xmlns:a16="http://schemas.microsoft.com/office/drawing/2014/main" id="{36BE8625-BE4E-4EFE-AB83-2402ECC260CB}"/>
              </a:ext>
            </a:extLst>
          </p:cNvPr>
          <p:cNvSpPr>
            <a:spLocks xmlns:a="http://schemas.openxmlformats.org/drawingml/2006/main" noGrp="1"/>
          </p:cNvSpPr>
          <p:nvPr/>
        </p:nvSpPr>
        <p:spPr>
          <a:xfrm xmlns:a="http://schemas.openxmlformats.org/drawingml/2006/main">
            <a:off x="400050" y="1714500"/>
            <a:ext cx="838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875" b="1" i="0">
                <a:solidFill>
                  <a:srgbClr val="111827"/>
                </a:solidFill>
              </a:defRPr>
            </a:pPr>
            <a:r>
              <a:rPr sz="4875" b="1" i="0">
                <a:solidFill>
                  <a:srgbClr val="111827"/>
                </a:solidFill>
              </a:rPr>
              <a:t>Implementation</a:t>
            </a:r>
          </a:p>
          <a:p xmlns:a="http://schemas.openxmlformats.org/drawingml/2006/main">
            <a:pPr algn="l">
              <a:buNone/>
              <a:defRPr sz="4875" b="1" i="0">
                <a:solidFill>
                  <a:srgbClr val="111827"/>
                </a:solidFill>
              </a:defRPr>
            </a:pPr>
            <a:r>
              <a:rPr sz="4875" b="1" i="0">
                <a:solidFill>
                  <a:srgbClr val="111827"/>
                </a:solidFill>
              </a:rPr>
              <a:t>progress through Phase 6</a:t>
            </a:r>
          </a:p>
        </p:txBody>
      </p:sp>
      <p:sp>
        <p:nvSpPr>
          <p:cNvPr id="3" name="Rectangle 2">
            <a:extLst xmlns:a="http://schemas.openxmlformats.org/drawingml/2006/main">
              <a:ext uri="{FF2B5EF4-FFF2-40B4-BE49-F238E27FC236}">
                <a16:creationId xmlns:a16="http://schemas.microsoft.com/office/drawing/2014/main" id="{E164E68A-DEC5-409B-A783-E7269F0F0EC7}"/>
              </a:ext>
            </a:extLst>
          </p:cNvPr>
          <p:cNvSpPr>
            <a:spLocks xmlns:a="http://schemas.openxmlformats.org/drawingml/2006/main" noGrp="1"/>
          </p:cNvSpPr>
          <p:nvPr/>
        </p:nvSpPr>
        <p:spPr>
          <a:xfrm xmlns:a="http://schemas.openxmlformats.org/drawingml/2006/main">
            <a:off x="400050" y="4229100"/>
            <a:ext cx="4095750" cy="66675"/>
          </a:xfrm>
          <a:prstGeom xmlns:a="http://schemas.openxmlformats.org/drawingml/2006/main" prst="rect">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9B677A32-1535-47EE-879C-5136F602BA38}"/>
              </a:ext>
            </a:extLst>
          </p:cNvPr>
          <p:cNvSpPr>
            <a:spLocks xmlns:a="http://schemas.openxmlformats.org/drawingml/2006/main" noGrp="1"/>
          </p:cNvSpPr>
          <p:nvPr/>
        </p:nvSpPr>
        <p:spPr>
          <a:xfrm xmlns:a="http://schemas.openxmlformats.org/drawingml/2006/main">
            <a:off x="400050" y="46672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11827"/>
                </a:solidFill>
              </a:defRPr>
            </a:pPr>
            <a:r>
              <a:rPr sz="2100" b="1" i="0">
                <a:solidFill>
                  <a:srgbClr val="111827"/>
                </a:solidFill>
              </a:rPr>
              <a:t>5G Network Slicing Forensic Framework</a:t>
            </a:r>
          </a:p>
        </p:txBody>
      </p:sp>
      <p:sp>
        <p:nvSpPr>
          <p:cNvPr id="5" name="Rectangle 4">
            <a:extLst xmlns:a="http://schemas.openxmlformats.org/drawingml/2006/main">
              <a:ext uri="{FF2B5EF4-FFF2-40B4-BE49-F238E27FC236}">
                <a16:creationId xmlns:a16="http://schemas.microsoft.com/office/drawing/2014/main" id="{55326311-A202-49EE-8CE1-E8CBE28FC4EE}"/>
              </a:ext>
            </a:extLst>
          </p:cNvPr>
          <p:cNvSpPr>
            <a:spLocks xmlns:a="http://schemas.openxmlformats.org/drawingml/2006/main" noGrp="1"/>
          </p:cNvSpPr>
          <p:nvPr/>
        </p:nvSpPr>
        <p:spPr>
          <a:xfrm xmlns:a="http://schemas.openxmlformats.org/drawingml/2006/main">
            <a:off x="400050" y="525780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Glen Mukota  |  4 September 2026</a:t>
            </a:r>
          </a:p>
        </p:txBody>
      </p:sp>
      <p:sp>
        <p:nvSpPr>
          <p:cNvPr id="6" name="Rectangle 5">
            <a:extLst xmlns:a="http://schemas.openxmlformats.org/drawingml/2006/main">
              <a:ext uri="{FF2B5EF4-FFF2-40B4-BE49-F238E27FC236}">
                <a16:creationId xmlns:a16="http://schemas.microsoft.com/office/drawing/2014/main" id="{802B644F-37F1-4A85-82DD-3C0422AB1E9D}"/>
              </a:ext>
            </a:extLst>
          </p:cNvPr>
          <p:cNvSpPr>
            <a:spLocks xmlns:a="http://schemas.openxmlformats.org/drawingml/2006/main" noGrp="1"/>
          </p:cNvSpPr>
          <p:nvPr/>
        </p:nvSpPr>
        <p:spPr>
          <a:xfrm xmlns:a="http://schemas.openxmlformats.org/drawingml/2006/main">
            <a:off x="400050" y="5829300"/>
            <a:ext cx="866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endParaRPr sz="1725" b="0" i="0">
              <a:solidFill>
                <a:srgbClr val="556070"/>
              </a:solidFill>
            </a:endParaRPr>
          </a:p>
        </p:txBody>
      </p:sp>
    </p:spTree>
    <p:extLst>
      <p:ext uri="{BB962C8B-B14F-4D97-AF65-F5344CB8AC3E}">
        <p14:creationId xmlns:p14="http://schemas.microsoft.com/office/powerpoint/2010/main" val="16403801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C0755A81-3DC3-4B0C-929D-8154781359C8}"/>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endParaRPr sz="1125" b="1" i="0">
              <a:solidFill>
                <a:srgbClr val="1E62D0"/>
              </a:solidFill>
            </a:endParaRPr>
          </a:p>
        </p:txBody>
      </p:sp>
      <p:sp>
        <p:nvSpPr>
          <p:cNvPr id="2" name="Rectangle 1">
            <a:extLst xmlns:a="http://schemas.openxmlformats.org/drawingml/2006/main">
              <a:ext uri="{FF2B5EF4-FFF2-40B4-BE49-F238E27FC236}">
                <a16:creationId xmlns:a16="http://schemas.microsoft.com/office/drawing/2014/main" id="{A8FDEBE6-6E73-4853-AD9A-84141AE37FC2}"/>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What I set out to build</a:t>
            </a:r>
          </a:p>
        </p:txBody>
      </p:sp>
      <p:sp>
        <p:nvSpPr>
          <p:cNvPr id="3" name="Rectangle 2">
            <a:extLst xmlns:a="http://schemas.openxmlformats.org/drawingml/2006/main">
              <a:ext uri="{FF2B5EF4-FFF2-40B4-BE49-F238E27FC236}">
                <a16:creationId xmlns:a16="http://schemas.microsoft.com/office/drawing/2014/main" id="{C8E797F2-AEFA-46EF-A3A7-20858C80B222}"/>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3AE62A-ECF9-49F3-855A-3B2F1F779104}"/>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AUGUST 2026  |  02</a:t>
            </a:r>
          </a:p>
        </p:txBody>
      </p:sp>
      <p:sp>
        <p:nvSpPr>
          <p:cNvPr id="5" name="Rectangle 4">
            <a:extLst xmlns:a="http://schemas.openxmlformats.org/drawingml/2006/main">
              <a:ext uri="{FF2B5EF4-FFF2-40B4-BE49-F238E27FC236}">
                <a16:creationId xmlns:a16="http://schemas.microsoft.com/office/drawing/2014/main" id="{E048CBA8-B2A5-4833-B0AD-265AF1B1EF99}"/>
              </a:ext>
            </a:extLst>
          </p:cNvPr>
          <p:cNvSpPr>
            <a:spLocks xmlns:a="http://schemas.openxmlformats.org/drawingml/2006/main" noGrp="1"/>
          </p:cNvSpPr>
          <p:nvPr/>
        </p:nvSpPr>
        <p:spPr>
          <a:xfrm xmlns:a="http://schemas.openxmlformats.org/drawingml/2006/main">
            <a:off x="400050" y="1790700"/>
            <a:ext cx="54292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i="0">
                <a:solidFill>
                  <a:srgbClr val="111827"/>
                </a:solidFill>
              </a:defRPr>
            </a:pPr>
            <a:r>
              <a:rPr sz="2550" b="1" i="0">
                <a:solidFill>
                  <a:srgbClr val="111827"/>
                </a:solidFill>
              </a:rPr>
              <a:t>A practical way to collect and organise reliable records from a 5G test network.</a:t>
            </a:r>
          </a:p>
        </p:txBody>
      </p:sp>
      <p:sp>
        <p:nvSpPr>
          <p:cNvPr id="6" name="Rectangle 5">
            <a:extLst xmlns:a="http://schemas.openxmlformats.org/drawingml/2006/main">
              <a:ext uri="{FF2B5EF4-FFF2-40B4-BE49-F238E27FC236}">
                <a16:creationId xmlns:a16="http://schemas.microsoft.com/office/drawing/2014/main" id="{4AB7AE08-A57F-4354-BC51-BDDE1BEE9DA3}"/>
              </a:ext>
            </a:extLst>
          </p:cNvPr>
          <p:cNvSpPr>
            <a:spLocks xmlns:a="http://schemas.openxmlformats.org/drawingml/2006/main" noGrp="1"/>
          </p:cNvSpPr>
          <p:nvPr/>
        </p:nvSpPr>
        <p:spPr>
          <a:xfrm xmlns:a="http://schemas.openxmlformats.org/drawingml/2006/main">
            <a:off x="400050" y="3429000"/>
            <a:ext cx="533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56070"/>
                </a:solidFill>
              </a:defRPr>
            </a:pPr>
            <a:r>
              <a:rPr sz="1875" b="0" i="0">
                <a:solidFill>
                  <a:srgbClr val="556070"/>
                </a:solidFill>
              </a:rPr>
              <a:t>The aim is to make it easier to understand what happened in a particular network slice after a test.</a:t>
            </a:r>
          </a:p>
        </p:txBody>
      </p:sp>
      <p:sp>
        <p:nvSpPr>
          <p:cNvPr id="7" name="Rectangle: Rounded Corners 6">
            <a:extLst xmlns:a="http://schemas.openxmlformats.org/drawingml/2006/main">
              <a:ext uri="{FF2B5EF4-FFF2-40B4-BE49-F238E27FC236}">
                <a16:creationId xmlns:a16="http://schemas.microsoft.com/office/drawing/2014/main" id="{554383B5-4B6F-4278-898D-C1F213FD11AD}"/>
              </a:ext>
            </a:extLst>
          </p:cNvPr>
          <p:cNvSpPr>
            <a:spLocks xmlns:a="http://schemas.openxmlformats.org/drawingml/2006/main" noGrp="1"/>
          </p:cNvSpPr>
          <p:nvPr/>
        </p:nvSpPr>
        <p:spPr>
          <a:xfrm xmlns:a="http://schemas.openxmlformats.org/drawingml/2006/main">
            <a:off x="6248400" y="1762125"/>
            <a:ext cx="5543550" cy="3486150"/>
          </a:xfrm>
          <a:prstGeom xmlns:a="http://schemas.openxmlformats.org/drawingml/2006/main" prst="roundRect">
            <a:avLst>
              <a:gd name="adj" fmla="val 327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C69D8F6F-C08B-45A5-9C0B-55380FB905A7}"/>
              </a:ext>
            </a:extLst>
          </p:cNvPr>
          <p:cNvSpPr>
            <a:spLocks xmlns:a="http://schemas.openxmlformats.org/drawingml/2006/main" noGrp="1"/>
          </p:cNvSpPr>
          <p:nvPr/>
        </p:nvSpPr>
        <p:spPr>
          <a:xfrm xmlns:a="http://schemas.openxmlformats.org/drawingml/2006/main">
            <a:off x="6553200" y="20955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62D0"/>
                </a:solidFill>
              </a:defRPr>
            </a:pPr>
            <a:r>
              <a:rPr sz="1875" b="1" i="0">
                <a:solidFill>
                  <a:srgbClr val="1E62D0"/>
                </a:solidFill>
              </a:rPr>
              <a:t>Three simple building blocks</a:t>
            </a:r>
          </a:p>
        </p:txBody>
      </p:sp>
      <p:sp>
        <p:nvSpPr>
          <p:cNvPr id="9" name="Rectangle 8">
            <a:extLst xmlns:a="http://schemas.openxmlformats.org/drawingml/2006/main">
              <a:ext uri="{FF2B5EF4-FFF2-40B4-BE49-F238E27FC236}">
                <a16:creationId xmlns:a16="http://schemas.microsoft.com/office/drawing/2014/main" id="{54BCCC60-95A7-41A1-BA34-5A477FB3FB12}"/>
              </a:ext>
            </a:extLst>
          </p:cNvPr>
          <p:cNvSpPr>
            <a:spLocks xmlns:a="http://schemas.openxmlformats.org/drawingml/2006/main" noGrp="1"/>
          </p:cNvSpPr>
          <p:nvPr/>
        </p:nvSpPr>
        <p:spPr>
          <a:xfrm xmlns:a="http://schemas.openxmlformats.org/drawingml/2006/main">
            <a:off x="6553200" y="27051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Docker</a:t>
            </a:r>
          </a:p>
        </p:txBody>
      </p:sp>
      <p:sp>
        <p:nvSpPr>
          <p:cNvPr id="10" name="Rectangle 9">
            <a:extLst xmlns:a="http://schemas.openxmlformats.org/drawingml/2006/main">
              <a:ext uri="{FF2B5EF4-FFF2-40B4-BE49-F238E27FC236}">
                <a16:creationId xmlns:a16="http://schemas.microsoft.com/office/drawing/2014/main" id="{841466A3-47F9-4787-A4D7-1DCE96B0A80D}"/>
              </a:ext>
            </a:extLst>
          </p:cNvPr>
          <p:cNvSpPr>
            <a:spLocks xmlns:a="http://schemas.openxmlformats.org/drawingml/2006/main" noGrp="1"/>
          </p:cNvSpPr>
          <p:nvPr/>
        </p:nvSpPr>
        <p:spPr>
          <a:xfrm xmlns:a="http://schemas.openxmlformats.org/drawingml/2006/main">
            <a:off x="8191500" y="2724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runs the safe 5G test network</a:t>
            </a:r>
          </a:p>
        </p:txBody>
      </p:sp>
      <p:sp>
        <p:nvSpPr>
          <p:cNvPr id="11" name="Rectangle 10">
            <a:extLst xmlns:a="http://schemas.openxmlformats.org/drawingml/2006/main">
              <a:ext uri="{FF2B5EF4-FFF2-40B4-BE49-F238E27FC236}">
                <a16:creationId xmlns:a16="http://schemas.microsoft.com/office/drawing/2014/main" id="{B44CE384-0AFA-45BF-BD50-55DEC4A12CFA}"/>
              </a:ext>
            </a:extLst>
          </p:cNvPr>
          <p:cNvSpPr>
            <a:spLocks xmlns:a="http://schemas.openxmlformats.org/drawingml/2006/main" noGrp="1"/>
          </p:cNvSpPr>
          <p:nvPr/>
        </p:nvSpPr>
        <p:spPr>
          <a:xfrm xmlns:a="http://schemas.openxmlformats.org/drawingml/2006/main">
            <a:off x="6553200" y="33813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C#</a:t>
            </a:r>
          </a:p>
        </p:txBody>
      </p:sp>
      <p:sp>
        <p:nvSpPr>
          <p:cNvPr id="12" name="Rectangle 11">
            <a:extLst xmlns:a="http://schemas.openxmlformats.org/drawingml/2006/main">
              <a:ext uri="{FF2B5EF4-FFF2-40B4-BE49-F238E27FC236}">
                <a16:creationId xmlns:a16="http://schemas.microsoft.com/office/drawing/2014/main" id="{F67C7058-BC2E-42C9-ACCB-9F1B29EF2013}"/>
              </a:ext>
            </a:extLst>
          </p:cNvPr>
          <p:cNvSpPr>
            <a:spLocks xmlns:a="http://schemas.openxmlformats.org/drawingml/2006/main" noGrp="1"/>
          </p:cNvSpPr>
          <p:nvPr/>
        </p:nvSpPr>
        <p:spPr>
          <a:xfrm xmlns:a="http://schemas.openxmlformats.org/drawingml/2006/main">
            <a:off x="8191500" y="34004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collects and organises the records</a:t>
            </a:r>
          </a:p>
        </p:txBody>
      </p:sp>
      <p:sp>
        <p:nvSpPr>
          <p:cNvPr id="13" name="Rectangle 12">
            <a:extLst xmlns:a="http://schemas.openxmlformats.org/drawingml/2006/main">
              <a:ext uri="{FF2B5EF4-FFF2-40B4-BE49-F238E27FC236}">
                <a16:creationId xmlns:a16="http://schemas.microsoft.com/office/drawing/2014/main" id="{63A6215E-0021-4251-ACAA-B1F606760C97}"/>
              </a:ext>
            </a:extLst>
          </p:cNvPr>
          <p:cNvSpPr>
            <a:spLocks xmlns:a="http://schemas.openxmlformats.org/drawingml/2006/main" noGrp="1"/>
          </p:cNvSpPr>
          <p:nvPr/>
        </p:nvSpPr>
        <p:spPr>
          <a:xfrm xmlns:a="http://schemas.openxmlformats.org/drawingml/2006/main">
            <a:off x="6553200" y="40576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GitHub</a:t>
            </a:r>
          </a:p>
        </p:txBody>
      </p:sp>
      <p:sp>
        <p:nvSpPr>
          <p:cNvPr id="14" name="Rectangle 13">
            <a:extLst xmlns:a="http://schemas.openxmlformats.org/drawingml/2006/main">
              <a:ext uri="{FF2B5EF4-FFF2-40B4-BE49-F238E27FC236}">
                <a16:creationId xmlns:a16="http://schemas.microsoft.com/office/drawing/2014/main" id="{810AA701-B146-4C22-BB2D-7955DF7900FC}"/>
              </a:ext>
            </a:extLst>
          </p:cNvPr>
          <p:cNvSpPr>
            <a:spLocks xmlns:a="http://schemas.openxmlformats.org/drawingml/2006/main" noGrp="1"/>
          </p:cNvSpPr>
          <p:nvPr/>
        </p:nvSpPr>
        <p:spPr>
          <a:xfrm xmlns:a="http://schemas.openxmlformats.org/drawingml/2006/main">
            <a:off x="8191500" y="4076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keeps the work backed up and shareable</a:t>
            </a:r>
          </a:p>
        </p:txBody>
      </p:sp>
      <p:sp>
        <p:nvSpPr>
          <p:cNvPr id="15" name="Rectangle 14">
            <a:extLst xmlns:a="http://schemas.openxmlformats.org/drawingml/2006/main">
              <a:ext uri="{FF2B5EF4-FFF2-40B4-BE49-F238E27FC236}">
                <a16:creationId xmlns:a16="http://schemas.microsoft.com/office/drawing/2014/main" id="{7A185B8D-6C7D-40D1-924F-AD01731AFFE6}"/>
              </a:ext>
            </a:extLst>
          </p:cNvPr>
          <p:cNvSpPr>
            <a:spLocks xmlns:a="http://schemas.openxmlformats.org/drawingml/2006/main" noGrp="1"/>
          </p:cNvSpPr>
          <p:nvPr/>
        </p:nvSpPr>
        <p:spPr>
          <a:xfrm xmlns:a="http://schemas.openxmlformats.org/drawingml/2006/main">
            <a:off x="400050" y="54102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1">
                <a:solidFill>
                  <a:srgbClr val="111827"/>
                </a:solidFill>
              </a:defRPr>
            </a:pPr>
            <a:r>
              <a:rPr sz="1725" b="0" i="1">
                <a:solidFill>
                  <a:srgbClr val="111827"/>
                </a:solidFill>
              </a:rPr>
              <a:t>A network slice is simply a separate logical lane for a type of network activity.</a:t>
            </a:r>
          </a:p>
        </p:txBody>
      </p:sp>
    </p:spTree>
    <p:extLst>
      <p:ext uri="{BB962C8B-B14F-4D97-AF65-F5344CB8AC3E}">
        <p14:creationId xmlns:p14="http://schemas.microsoft.com/office/powerpoint/2010/main" val="20650601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94CBAD6B-DAAB-412F-8321-9F69087B22A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IMPLEMENTATION PATH</a:t>
            </a:r>
          </a:p>
        </p:txBody>
      </p:sp>
      <p:sp>
        <p:nvSpPr>
          <p:cNvPr id="2" name="Rectangle 1">
            <a:extLst xmlns:a="http://schemas.openxmlformats.org/drawingml/2006/main">
              <a:ext uri="{FF2B5EF4-FFF2-40B4-BE49-F238E27FC236}">
                <a16:creationId xmlns:a16="http://schemas.microsoft.com/office/drawing/2014/main" id="{7520C832-1D35-4A25-8BFB-0D1C0A6A294B}"/>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first three planned steps are complete</a:t>
            </a:r>
          </a:p>
        </p:txBody>
      </p:sp>
      <p:sp>
        <p:nvSpPr>
          <p:cNvPr id="3" name="Rectangle 2">
            <a:extLst xmlns:a="http://schemas.openxmlformats.org/drawingml/2006/main">
              <a:ext uri="{FF2B5EF4-FFF2-40B4-BE49-F238E27FC236}">
                <a16:creationId xmlns:a16="http://schemas.microsoft.com/office/drawing/2014/main" id="{BDFF7E09-8A6D-4FE0-A55B-CDC9EF13479E}"/>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305EF95C-9829-4E4C-804C-6290ACCF34C3}"/>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AUGUST 2026  |  03</a:t>
            </a:r>
          </a:p>
        </p:txBody>
      </p:sp>
      <p:sp>
        <p:nvSpPr>
          <p:cNvPr id="5" name="Rectangle 4">
            <a:extLst xmlns:a="http://schemas.openxmlformats.org/drawingml/2006/main">
              <a:ext uri="{FF2B5EF4-FFF2-40B4-BE49-F238E27FC236}">
                <a16:creationId xmlns:a16="http://schemas.microsoft.com/office/drawing/2014/main" id="{848C6AE5-E49F-4FC1-89D8-0455A89E770A}"/>
              </a:ext>
            </a:extLst>
          </p:cNvPr>
          <p:cNvSpPr>
            <a:spLocks xmlns:a="http://schemas.openxmlformats.org/drawingml/2006/main" noGrp="1"/>
          </p:cNvSpPr>
          <p:nvPr/>
        </p:nvSpPr>
        <p:spPr>
          <a:xfrm xmlns:a="http://schemas.openxmlformats.org/drawingml/2006/main">
            <a:off x="400050" y="152400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Each completed step gives the next one something solid to build on.</a:t>
            </a:r>
          </a:p>
        </p:txBody>
      </p:sp>
      <p:sp>
        <p:nvSpPr>
          <p:cNvPr id="6" name="Rectangle 5">
            <a:extLst xmlns:a="http://schemas.openxmlformats.org/drawingml/2006/main">
              <a:ext uri="{FF2B5EF4-FFF2-40B4-BE49-F238E27FC236}">
                <a16:creationId xmlns:a16="http://schemas.microsoft.com/office/drawing/2014/main" id="{FAFC58AF-D44E-4494-B720-3AB43449A44E}"/>
              </a:ext>
            </a:extLst>
          </p:cNvPr>
          <p:cNvSpPr>
            <a:spLocks xmlns:a="http://schemas.openxmlformats.org/drawingml/2006/main" noGrp="1"/>
          </p:cNvSpPr>
          <p:nvPr/>
        </p:nvSpPr>
        <p:spPr>
          <a:xfrm xmlns:a="http://schemas.openxmlformats.org/drawingml/2006/main">
            <a:off x="857250" y="3295650"/>
            <a:ext cx="10458450" cy="1905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934F3F4F-1A15-4F4F-B98A-3B59DE2893D2}"/>
              </a:ext>
            </a:extLst>
          </p:cNvPr>
          <p:cNvSpPr>
            <a:spLocks xmlns:a="http://schemas.openxmlformats.org/drawingml/2006/main" noGrp="1"/>
          </p:cNvSpPr>
          <p:nvPr/>
        </p:nvSpPr>
        <p:spPr>
          <a:xfrm xmlns:a="http://schemas.openxmlformats.org/drawingml/2006/main">
            <a:off x="8763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F1D08456-764B-4770-BC60-854AE8962175}"/>
              </a:ext>
            </a:extLst>
          </p:cNvPr>
          <p:cNvSpPr>
            <a:spLocks xmlns:a="http://schemas.openxmlformats.org/drawingml/2006/main" noGrp="1"/>
          </p:cNvSpPr>
          <p:nvPr/>
        </p:nvSpPr>
        <p:spPr>
          <a:xfrm xmlns:a="http://schemas.openxmlformats.org/drawingml/2006/main">
            <a:off x="8763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1</a:t>
            </a:r>
          </a:p>
        </p:txBody>
      </p:sp>
      <p:sp>
        <p:nvSpPr>
          <p:cNvPr id="9" name="Rectangle 8">
            <a:extLst xmlns:a="http://schemas.openxmlformats.org/drawingml/2006/main">
              <a:ext uri="{FF2B5EF4-FFF2-40B4-BE49-F238E27FC236}">
                <a16:creationId xmlns:a16="http://schemas.microsoft.com/office/drawing/2014/main" id="{9FDD871E-2155-47B4-9387-6F5503366B56}"/>
              </a:ext>
            </a:extLst>
          </p:cNvPr>
          <p:cNvSpPr>
            <a:spLocks xmlns:a="http://schemas.openxmlformats.org/drawingml/2006/main" noGrp="1"/>
          </p:cNvSpPr>
          <p:nvPr/>
        </p:nvSpPr>
        <p:spPr>
          <a:xfrm xmlns:a="http://schemas.openxmlformats.org/drawingml/2006/main">
            <a:off x="8763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Build the test lab</a:t>
            </a:r>
          </a:p>
        </p:txBody>
      </p:sp>
      <p:sp>
        <p:nvSpPr>
          <p:cNvPr id="10" name="Rectangle 9">
            <a:extLst xmlns:a="http://schemas.openxmlformats.org/drawingml/2006/main">
              <a:ext uri="{FF2B5EF4-FFF2-40B4-BE49-F238E27FC236}">
                <a16:creationId xmlns:a16="http://schemas.microsoft.com/office/drawing/2014/main" id="{4401141E-FE2D-45EF-B3A1-4B84D1277FDC}"/>
              </a:ext>
            </a:extLst>
          </p:cNvPr>
          <p:cNvSpPr>
            <a:spLocks xmlns:a="http://schemas.openxmlformats.org/drawingml/2006/main" noGrp="1"/>
          </p:cNvSpPr>
          <p:nvPr/>
        </p:nvSpPr>
        <p:spPr>
          <a:xfrm xmlns:a="http://schemas.openxmlformats.org/drawingml/2006/main">
            <a:off x="8763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Create the safe 5G core network and capture a starting record.</a:t>
            </a:r>
          </a:p>
        </p:txBody>
      </p:sp>
      <p:sp>
        <p:nvSpPr>
          <p:cNvPr id="11" name="Rectangle: Rounded Corners 10">
            <a:extLst xmlns:a="http://schemas.openxmlformats.org/drawingml/2006/main">
              <a:ext uri="{FF2B5EF4-FFF2-40B4-BE49-F238E27FC236}">
                <a16:creationId xmlns:a16="http://schemas.microsoft.com/office/drawing/2014/main" id="{036597CA-D27F-45A4-BD5C-C8A015927BE0}"/>
              </a:ext>
            </a:extLst>
          </p:cNvPr>
          <p:cNvSpPr>
            <a:spLocks xmlns:a="http://schemas.openxmlformats.org/drawingml/2006/main" noGrp="1"/>
          </p:cNvSpPr>
          <p:nvPr/>
        </p:nvSpPr>
        <p:spPr>
          <a:xfrm xmlns:a="http://schemas.openxmlformats.org/drawingml/2006/main">
            <a:off x="8763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BD3C4AEA-2920-4036-9E6E-7423F6F154C0}"/>
              </a:ext>
            </a:extLst>
          </p:cNvPr>
          <p:cNvSpPr>
            <a:spLocks xmlns:a="http://schemas.openxmlformats.org/drawingml/2006/main" noGrp="1"/>
          </p:cNvSpPr>
          <p:nvPr/>
        </p:nvSpPr>
        <p:spPr>
          <a:xfrm xmlns:a="http://schemas.openxmlformats.org/drawingml/2006/main">
            <a:off x="9906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13" name="Oval 12">
            <a:extLst xmlns:a="http://schemas.openxmlformats.org/drawingml/2006/main">
              <a:ext uri="{FF2B5EF4-FFF2-40B4-BE49-F238E27FC236}">
                <a16:creationId xmlns:a16="http://schemas.microsoft.com/office/drawing/2014/main" id="{32B6A1A2-1D23-4119-B147-36EFA5823651}"/>
              </a:ext>
            </a:extLst>
          </p:cNvPr>
          <p:cNvSpPr>
            <a:spLocks xmlns:a="http://schemas.openxmlformats.org/drawingml/2006/main" noGrp="1"/>
          </p:cNvSpPr>
          <p:nvPr/>
        </p:nvSpPr>
        <p:spPr>
          <a:xfrm xmlns:a="http://schemas.openxmlformats.org/drawingml/2006/main">
            <a:off x="43434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0A98F61E-F044-4F79-AA01-69764E6AA36E}"/>
              </a:ext>
            </a:extLst>
          </p:cNvPr>
          <p:cNvSpPr>
            <a:spLocks xmlns:a="http://schemas.openxmlformats.org/drawingml/2006/main" noGrp="1"/>
          </p:cNvSpPr>
          <p:nvPr/>
        </p:nvSpPr>
        <p:spPr>
          <a:xfrm xmlns:a="http://schemas.openxmlformats.org/drawingml/2006/main">
            <a:off x="43434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2</a:t>
            </a:r>
          </a:p>
        </p:txBody>
      </p:sp>
      <p:sp>
        <p:nvSpPr>
          <p:cNvPr id="15" name="Rectangle 14">
            <a:extLst xmlns:a="http://schemas.openxmlformats.org/drawingml/2006/main">
              <a:ext uri="{FF2B5EF4-FFF2-40B4-BE49-F238E27FC236}">
                <a16:creationId xmlns:a16="http://schemas.microsoft.com/office/drawing/2014/main" id="{822F5938-F071-4161-B975-02E5CE714D41}"/>
              </a:ext>
            </a:extLst>
          </p:cNvPr>
          <p:cNvSpPr>
            <a:spLocks xmlns:a="http://schemas.openxmlformats.org/drawingml/2006/main" noGrp="1"/>
          </p:cNvSpPr>
          <p:nvPr/>
        </p:nvSpPr>
        <p:spPr>
          <a:xfrm xmlns:a="http://schemas.openxmlformats.org/drawingml/2006/main">
            <a:off x="43434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Add virtual devices</a:t>
            </a:r>
          </a:p>
        </p:txBody>
      </p:sp>
      <p:sp>
        <p:nvSpPr>
          <p:cNvPr id="16" name="Rectangle 15">
            <a:extLst xmlns:a="http://schemas.openxmlformats.org/drawingml/2006/main">
              <a:ext uri="{FF2B5EF4-FFF2-40B4-BE49-F238E27FC236}">
                <a16:creationId xmlns:a16="http://schemas.microsoft.com/office/drawing/2014/main" id="{20E4E05B-CBA4-4128-AC25-17457B6738DE}"/>
              </a:ext>
            </a:extLst>
          </p:cNvPr>
          <p:cNvSpPr>
            <a:spLocks xmlns:a="http://schemas.openxmlformats.org/drawingml/2006/main" noGrp="1"/>
          </p:cNvSpPr>
          <p:nvPr/>
        </p:nvSpPr>
        <p:spPr>
          <a:xfrm xmlns:a="http://schemas.openxmlformats.org/drawingml/2006/main">
            <a:off x="43434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Run a virtual base station, virtual phones and controlled traffic.</a:t>
            </a:r>
          </a:p>
        </p:txBody>
      </p:sp>
      <p:sp>
        <p:nvSpPr>
          <p:cNvPr id="17" name="Rectangle: Rounded Corners 16">
            <a:extLst xmlns:a="http://schemas.openxmlformats.org/drawingml/2006/main">
              <a:ext uri="{FF2B5EF4-FFF2-40B4-BE49-F238E27FC236}">
                <a16:creationId xmlns:a16="http://schemas.microsoft.com/office/drawing/2014/main" id="{09A2C90D-0583-4782-BA29-6A072F0DC17B}"/>
              </a:ext>
            </a:extLst>
          </p:cNvPr>
          <p:cNvSpPr>
            <a:spLocks xmlns:a="http://schemas.openxmlformats.org/drawingml/2006/main" noGrp="1"/>
          </p:cNvSpPr>
          <p:nvPr/>
        </p:nvSpPr>
        <p:spPr>
          <a:xfrm xmlns:a="http://schemas.openxmlformats.org/drawingml/2006/main">
            <a:off x="43434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D1C71E3-5D01-4C56-8FB9-5B809597B876}"/>
              </a:ext>
            </a:extLst>
          </p:cNvPr>
          <p:cNvSpPr>
            <a:spLocks xmlns:a="http://schemas.openxmlformats.org/drawingml/2006/main" noGrp="1"/>
          </p:cNvSpPr>
          <p:nvPr/>
        </p:nvSpPr>
        <p:spPr>
          <a:xfrm xmlns:a="http://schemas.openxmlformats.org/drawingml/2006/main">
            <a:off x="44577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19" name="Oval 18">
            <a:extLst xmlns:a="http://schemas.openxmlformats.org/drawingml/2006/main">
              <a:ext uri="{FF2B5EF4-FFF2-40B4-BE49-F238E27FC236}">
                <a16:creationId xmlns:a16="http://schemas.microsoft.com/office/drawing/2014/main" id="{5BDFD525-6EF4-400B-9DC7-8C61AECAAA3D}"/>
              </a:ext>
            </a:extLst>
          </p:cNvPr>
          <p:cNvSpPr>
            <a:spLocks xmlns:a="http://schemas.openxmlformats.org/drawingml/2006/main" noGrp="1"/>
          </p:cNvSpPr>
          <p:nvPr/>
        </p:nvSpPr>
        <p:spPr>
          <a:xfrm xmlns:a="http://schemas.openxmlformats.org/drawingml/2006/main">
            <a:off x="78105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AF1F9C33-919B-4DD4-A806-3B3773CC4117}"/>
              </a:ext>
            </a:extLst>
          </p:cNvPr>
          <p:cNvSpPr>
            <a:spLocks xmlns:a="http://schemas.openxmlformats.org/drawingml/2006/main" noGrp="1"/>
          </p:cNvSpPr>
          <p:nvPr/>
        </p:nvSpPr>
        <p:spPr>
          <a:xfrm xmlns:a="http://schemas.openxmlformats.org/drawingml/2006/main">
            <a:off x="78105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3</a:t>
            </a:r>
          </a:p>
        </p:txBody>
      </p:sp>
      <p:sp>
        <p:nvSpPr>
          <p:cNvPr id="21" name="Rectangle 20">
            <a:extLst xmlns:a="http://schemas.openxmlformats.org/drawingml/2006/main">
              <a:ext uri="{FF2B5EF4-FFF2-40B4-BE49-F238E27FC236}">
                <a16:creationId xmlns:a16="http://schemas.microsoft.com/office/drawing/2014/main" id="{78A10911-82C2-4C4E-B2AC-C3236D25544C}"/>
              </a:ext>
            </a:extLst>
          </p:cNvPr>
          <p:cNvSpPr>
            <a:spLocks xmlns:a="http://schemas.openxmlformats.org/drawingml/2006/main" noGrp="1"/>
          </p:cNvSpPr>
          <p:nvPr/>
        </p:nvSpPr>
        <p:spPr>
          <a:xfrm xmlns:a="http://schemas.openxmlformats.org/drawingml/2006/main">
            <a:off x="78105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Organise the records</a:t>
            </a:r>
          </a:p>
        </p:txBody>
      </p:sp>
      <p:sp>
        <p:nvSpPr>
          <p:cNvPr id="22" name="Rectangle 21">
            <a:extLst xmlns:a="http://schemas.openxmlformats.org/drawingml/2006/main">
              <a:ext uri="{FF2B5EF4-FFF2-40B4-BE49-F238E27FC236}">
                <a16:creationId xmlns:a16="http://schemas.microsoft.com/office/drawing/2014/main" id="{FFE6E3FF-8D7A-4722-87DA-26B71FE18237}"/>
              </a:ext>
            </a:extLst>
          </p:cNvPr>
          <p:cNvSpPr>
            <a:spLocks xmlns:a="http://schemas.openxmlformats.org/drawingml/2006/main" noGrp="1"/>
          </p:cNvSpPr>
          <p:nvPr/>
        </p:nvSpPr>
        <p:spPr>
          <a:xfrm xmlns:a="http://schemas.openxmlformats.org/drawingml/2006/main">
            <a:off x="78105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Use C# to place selected records into one usable format.</a:t>
            </a:r>
          </a:p>
        </p:txBody>
      </p:sp>
      <p:sp>
        <p:nvSpPr>
          <p:cNvPr id="23" name="Rectangle: Rounded Corners 22">
            <a:extLst xmlns:a="http://schemas.openxmlformats.org/drawingml/2006/main">
              <a:ext uri="{FF2B5EF4-FFF2-40B4-BE49-F238E27FC236}">
                <a16:creationId xmlns:a16="http://schemas.microsoft.com/office/drawing/2014/main" id="{324EC9D9-D9BC-4162-A1DA-C02D86D45429}"/>
              </a:ext>
            </a:extLst>
          </p:cNvPr>
          <p:cNvSpPr>
            <a:spLocks xmlns:a="http://schemas.openxmlformats.org/drawingml/2006/main" noGrp="1"/>
          </p:cNvSpPr>
          <p:nvPr/>
        </p:nvSpPr>
        <p:spPr>
          <a:xfrm xmlns:a="http://schemas.openxmlformats.org/drawingml/2006/main">
            <a:off x="78105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1D78163A-92B6-421E-94EF-17B7D5F33A8C}"/>
              </a:ext>
            </a:extLst>
          </p:cNvPr>
          <p:cNvSpPr>
            <a:spLocks xmlns:a="http://schemas.openxmlformats.org/drawingml/2006/main" noGrp="1"/>
          </p:cNvSpPr>
          <p:nvPr/>
        </p:nvSpPr>
        <p:spPr>
          <a:xfrm xmlns:a="http://schemas.openxmlformats.org/drawingml/2006/main">
            <a:off x="79248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Tree>
    <p:extLst>
      <p:ext uri="{BB962C8B-B14F-4D97-AF65-F5344CB8AC3E}">
        <p14:creationId xmlns:p14="http://schemas.microsoft.com/office/powerpoint/2010/main" val="13946141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55A5DA34-C420-49E9-A8D6-D5FE5E224B0E}"/>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COMPLETED DEVELOPMENT</a:t>
            </a:r>
          </a:p>
        </p:txBody>
      </p:sp>
      <p:sp>
        <p:nvSpPr>
          <p:cNvPr id="2" name="Rectangle 1">
            <a:extLst xmlns:a="http://schemas.openxmlformats.org/drawingml/2006/main">
              <a:ext uri="{FF2B5EF4-FFF2-40B4-BE49-F238E27FC236}">
                <a16:creationId xmlns:a16="http://schemas.microsoft.com/office/drawing/2014/main" id="{0E27AA63-BD07-46C1-BE21-63EB556A97D6}"/>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 1: I built the 5G test environment</a:t>
            </a:r>
          </a:p>
        </p:txBody>
      </p:sp>
      <p:sp>
        <p:nvSpPr>
          <p:cNvPr id="3" name="Rectangle 2">
            <a:extLst xmlns:a="http://schemas.openxmlformats.org/drawingml/2006/main">
              <a:ext uri="{FF2B5EF4-FFF2-40B4-BE49-F238E27FC236}">
                <a16:creationId xmlns:a16="http://schemas.microsoft.com/office/drawing/2014/main" id="{6C5D6579-5BB8-4728-A410-81FE72EDF754}"/>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63289BDA-C2D1-42E7-A732-82219BCE344D}"/>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AUGUST 2026  |  04</a:t>
            </a:r>
          </a:p>
        </p:txBody>
      </p:sp>
      <p:sp>
        <p:nvSpPr>
          <p:cNvPr id="5" name="Rectangle: Rounded Corners 4">
            <a:extLst xmlns:a="http://schemas.openxmlformats.org/drawingml/2006/main">
              <a:ext uri="{FF2B5EF4-FFF2-40B4-BE49-F238E27FC236}">
                <a16:creationId xmlns:a16="http://schemas.microsoft.com/office/drawing/2014/main" id="{71E6C9CD-7201-47E4-8C0A-6A868688BC76}"/>
              </a:ext>
            </a:extLst>
          </p:cNvPr>
          <p:cNvSpPr>
            <a:spLocks xmlns:a="http://schemas.openxmlformats.org/drawingml/2006/main" noGrp="1"/>
          </p:cNvSpPr>
          <p:nvPr/>
        </p:nvSpPr>
        <p:spPr>
          <a:xfrm xmlns:a="http://schemas.openxmlformats.org/drawingml/2006/main">
            <a:off x="400050" y="1562100"/>
            <a:ext cx="152400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A41FEFA4-FC06-4DEF-A5AD-4BE83AB6C195}"/>
              </a:ext>
            </a:extLst>
          </p:cNvPr>
          <p:cNvSpPr>
            <a:spLocks xmlns:a="http://schemas.openxmlformats.org/drawingml/2006/main" noGrp="1"/>
          </p:cNvSpPr>
          <p:nvPr/>
        </p:nvSpPr>
        <p:spPr>
          <a:xfrm xmlns:a="http://schemas.openxmlformats.org/drawingml/2006/main">
            <a:off x="514350" y="16287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7" name="Rectangle 6">
            <a:extLst xmlns:a="http://schemas.openxmlformats.org/drawingml/2006/main">
              <a:ext uri="{FF2B5EF4-FFF2-40B4-BE49-F238E27FC236}">
                <a16:creationId xmlns:a16="http://schemas.microsoft.com/office/drawing/2014/main" id="{A6E7A077-5FAD-432F-AE55-49C207C0D2C4}"/>
              </a:ext>
            </a:extLst>
          </p:cNvPr>
          <p:cNvSpPr>
            <a:spLocks xmlns:a="http://schemas.openxmlformats.org/drawingml/2006/main" noGrp="1"/>
          </p:cNvSpPr>
          <p:nvPr/>
        </p:nvSpPr>
        <p:spPr>
          <a:xfrm xmlns:a="http://schemas.openxmlformats.org/drawingml/2006/main">
            <a:off x="400050" y="2133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What I did</a:t>
            </a:r>
          </a:p>
        </p:txBody>
      </p:sp>
      <p:sp>
        <p:nvSpPr>
          <p:cNvPr id="8" name="Oval 7">
            <a:extLst xmlns:a="http://schemas.openxmlformats.org/drawingml/2006/main">
              <a:ext uri="{FF2B5EF4-FFF2-40B4-BE49-F238E27FC236}">
                <a16:creationId xmlns:a16="http://schemas.microsoft.com/office/drawing/2014/main" id="{466E0E89-9993-4342-8EE6-3E89BC026C25}"/>
              </a:ext>
            </a:extLst>
          </p:cNvPr>
          <p:cNvSpPr>
            <a:spLocks xmlns:a="http://schemas.openxmlformats.org/drawingml/2006/main" noGrp="1"/>
          </p:cNvSpPr>
          <p:nvPr/>
        </p:nvSpPr>
        <p:spPr>
          <a:xfrm xmlns:a="http://schemas.openxmlformats.org/drawingml/2006/main">
            <a:off x="400050" y="27717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BEA36EFB-F764-4AB5-BCAF-8D612568DF00}"/>
              </a:ext>
            </a:extLst>
          </p:cNvPr>
          <p:cNvSpPr>
            <a:spLocks xmlns:a="http://schemas.openxmlformats.org/drawingml/2006/main" noGrp="1"/>
          </p:cNvSpPr>
          <p:nvPr/>
        </p:nvSpPr>
        <p:spPr>
          <a:xfrm xmlns:a="http://schemas.openxmlformats.org/drawingml/2006/main">
            <a:off x="647700" y="26860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Set up the core 5G network in Docker.</a:t>
            </a:r>
          </a:p>
        </p:txBody>
      </p:sp>
      <p:sp>
        <p:nvSpPr>
          <p:cNvPr id="10" name="Oval 9">
            <a:extLst xmlns:a="http://schemas.openxmlformats.org/drawingml/2006/main">
              <a:ext uri="{FF2B5EF4-FFF2-40B4-BE49-F238E27FC236}">
                <a16:creationId xmlns:a16="http://schemas.microsoft.com/office/drawing/2014/main" id="{52D4D63B-8258-449A-AE5C-7F3200BA652B}"/>
              </a:ext>
            </a:extLst>
          </p:cNvPr>
          <p:cNvSpPr>
            <a:spLocks xmlns:a="http://schemas.openxmlformats.org/drawingml/2006/main" noGrp="1"/>
          </p:cNvSpPr>
          <p:nvPr/>
        </p:nvSpPr>
        <p:spPr>
          <a:xfrm xmlns:a="http://schemas.openxmlformats.org/drawingml/2006/main">
            <a:off x="400050" y="34385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2E327876-F121-426E-9133-2F0DFE8DA563}"/>
              </a:ext>
            </a:extLst>
          </p:cNvPr>
          <p:cNvSpPr>
            <a:spLocks xmlns:a="http://schemas.openxmlformats.org/drawingml/2006/main" noGrp="1"/>
          </p:cNvSpPr>
          <p:nvPr/>
        </p:nvSpPr>
        <p:spPr>
          <a:xfrm xmlns:a="http://schemas.openxmlformats.org/drawingml/2006/main">
            <a:off x="647700" y="335280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Checked that each core service starts correctly.</a:t>
            </a:r>
          </a:p>
        </p:txBody>
      </p:sp>
      <p:sp>
        <p:nvSpPr>
          <p:cNvPr id="12" name="Oval 11">
            <a:extLst xmlns:a="http://schemas.openxmlformats.org/drawingml/2006/main">
              <a:ext uri="{FF2B5EF4-FFF2-40B4-BE49-F238E27FC236}">
                <a16:creationId xmlns:a16="http://schemas.microsoft.com/office/drawing/2014/main" id="{D1B5487E-30CB-412D-BA03-01BFF0590EDB}"/>
              </a:ext>
            </a:extLst>
          </p:cNvPr>
          <p:cNvSpPr>
            <a:spLocks xmlns:a="http://schemas.openxmlformats.org/drawingml/2006/main" noGrp="1"/>
          </p:cNvSpPr>
          <p:nvPr/>
        </p:nvSpPr>
        <p:spPr>
          <a:xfrm xmlns:a="http://schemas.openxmlformats.org/drawingml/2006/main">
            <a:off x="400050" y="41052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1A628F30-08B2-4C7D-9D8E-E5DF94B2A117}"/>
              </a:ext>
            </a:extLst>
          </p:cNvPr>
          <p:cNvSpPr>
            <a:spLocks xmlns:a="http://schemas.openxmlformats.org/drawingml/2006/main" noGrp="1"/>
          </p:cNvSpPr>
          <p:nvPr/>
        </p:nvSpPr>
        <p:spPr>
          <a:xfrm xmlns:a="http://schemas.openxmlformats.org/drawingml/2006/main">
            <a:off x="647700" y="40195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Saved a baseline record of the healthy lab.</a:t>
            </a:r>
          </a:p>
        </p:txBody>
      </p:sp>
      <p:sp>
        <p:nvSpPr>
          <p:cNvPr id="14" name="Rectangle 13">
            <a:extLst xmlns:a="http://schemas.openxmlformats.org/drawingml/2006/main">
              <a:ext uri="{FF2B5EF4-FFF2-40B4-BE49-F238E27FC236}">
                <a16:creationId xmlns:a16="http://schemas.microsoft.com/office/drawing/2014/main" id="{CFFEA85E-D9F1-44A1-B35E-720016D4257C}"/>
              </a:ext>
            </a:extLst>
          </p:cNvPr>
          <p:cNvSpPr>
            <a:spLocks xmlns:a="http://schemas.openxmlformats.org/drawingml/2006/main" noGrp="1"/>
          </p:cNvSpPr>
          <p:nvPr/>
        </p:nvSpPr>
        <p:spPr>
          <a:xfrm xmlns:a="http://schemas.openxmlformats.org/drawingml/2006/main">
            <a:off x="400050" y="4933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62D0"/>
                </a:solidFill>
              </a:defRPr>
            </a:pPr>
            <a:r>
              <a:rPr sz="1875" b="1" i="0">
                <a:solidFill>
                  <a:srgbClr val="1E62D0"/>
                </a:solidFill>
              </a:rPr>
              <a:t>Why it matters</a:t>
            </a:r>
          </a:p>
        </p:txBody>
      </p:sp>
      <p:sp>
        <p:nvSpPr>
          <p:cNvPr id="15" name="Rectangle 14">
            <a:extLst xmlns:a="http://schemas.openxmlformats.org/drawingml/2006/main">
              <a:ext uri="{FF2B5EF4-FFF2-40B4-BE49-F238E27FC236}">
                <a16:creationId xmlns:a16="http://schemas.microsoft.com/office/drawing/2014/main" id="{21B2D4F7-FA7A-4CF3-BE08-50698B6DEEB5}"/>
              </a:ext>
            </a:extLst>
          </p:cNvPr>
          <p:cNvSpPr>
            <a:spLocks xmlns:a="http://schemas.openxmlformats.org/drawingml/2006/main" noGrp="1"/>
          </p:cNvSpPr>
          <p:nvPr/>
        </p:nvSpPr>
        <p:spPr>
          <a:xfrm xmlns:a="http://schemas.openxmlformats.org/drawingml/2006/main">
            <a:off x="400050" y="5305425"/>
            <a:ext cx="5162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I now have a safe, repeatable test environment instead of relying on a real mobile network.</a:t>
            </a:r>
          </a:p>
        </p:txBody>
      </p:sp>
      <p:sp>
        <p:nvSpPr>
          <p:cNvPr id="16" name="Rectangle: Rounded Corners 15">
            <a:extLst xmlns:a="http://schemas.openxmlformats.org/drawingml/2006/main">
              <a:ext uri="{FF2B5EF4-FFF2-40B4-BE49-F238E27FC236}">
                <a16:creationId xmlns:a16="http://schemas.microsoft.com/office/drawing/2014/main" id="{12BE1093-9EF3-401A-BAFC-D00776662E00}"/>
              </a:ext>
            </a:extLst>
          </p:cNvPr>
          <p:cNvSpPr>
            <a:spLocks xmlns:a="http://schemas.openxmlformats.org/drawingml/2006/main" noGrp="1"/>
          </p:cNvSpPr>
          <p:nvPr/>
        </p:nvSpPr>
        <p:spPr>
          <a:xfrm xmlns:a="http://schemas.openxmlformats.org/drawingml/2006/main">
            <a:off x="6191250" y="1571625"/>
            <a:ext cx="5600700" cy="3762375"/>
          </a:xfrm>
          <a:prstGeom xmlns:a="http://schemas.openxmlformats.org/drawingml/2006/main" prst="roundRect">
            <a:avLst>
              <a:gd name="adj" fmla="val 3038"/>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37" name="Picture 34"/>
          <p:cNvPicPr>
            <a:picLocks xmlns:a="http://schemas.openxmlformats.org/drawingml/2006/main" noChangeAspect="1"/>
          </p:cNvPicPr>
          <p:nvPr/>
        </p:nvPicPr>
        <p:blipFill>
          <a:blip xmlns:r="http://schemas.openxmlformats.org/officeDocument/2006/relationships" xmlns:a="http://schemas.openxmlformats.org/drawingml/2006/main" r:embed="R0a21dc15ff37414e"/>
          <a:stretch xmlns:a="http://schemas.openxmlformats.org/drawingml/2006/main"/>
        </p:blipFill>
        <p:spPr>
          <a:xfrm xmlns:a="http://schemas.openxmlformats.org/drawingml/2006/main">
            <a:off x="6267450" y="2010116"/>
            <a:ext cx="5448300" cy="2885393"/>
          </a:xfrm>
          <a:prstGeom xmlns:a="http://schemas.openxmlformats.org/drawingml/2006/main" prst="roundRect">
            <a:avLst>
              <a:gd name="adj" fmla="val 3166"/>
            </a:avLst>
          </a:prstGeom>
        </p:spPr>
      </p:pic>
      <p:sp>
        <p:nvSpPr>
          <p:cNvPr id="18" name="Rectangle 17">
            <a:extLst xmlns:a="http://schemas.openxmlformats.org/drawingml/2006/main">
              <a:ext uri="{FF2B5EF4-FFF2-40B4-BE49-F238E27FC236}">
                <a16:creationId xmlns:a16="http://schemas.microsoft.com/office/drawing/2014/main" id="{89D765B5-4DD8-4FC5-B79F-392E395B4A25}"/>
              </a:ext>
            </a:extLst>
          </p:cNvPr>
          <p:cNvSpPr>
            <a:spLocks xmlns:a="http://schemas.openxmlformats.org/drawingml/2006/main" noGrp="1"/>
          </p:cNvSpPr>
          <p:nvPr/>
        </p:nvSpPr>
        <p:spPr>
          <a:xfrm xmlns:a="http://schemas.openxmlformats.org/drawingml/2006/main">
            <a:off x="6191250" y="55245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56070"/>
                </a:solidFill>
              </a:defRPr>
            </a:pPr>
            <a:r>
              <a:rPr sz="1350" b="0" i="0">
                <a:solidFill>
                  <a:srgbClr val="556070"/>
                </a:solidFill>
              </a:rPr>
              <a:t>Docker Desktop: the core 5G services are running (captured 4 August 2026).</a:t>
            </a:r>
          </a:p>
        </p:txBody>
      </p:sp>
    </p:spTree>
    <p:extLst>
      <p:ext uri="{BB962C8B-B14F-4D97-AF65-F5344CB8AC3E}">
        <p14:creationId xmlns:p14="http://schemas.microsoft.com/office/powerpoint/2010/main" val="16763375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94079716-3803-4B49-BCF6-E2EDFFCC92FD}"/>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COMPLETED DEVELOPMENT</a:t>
            </a:r>
          </a:p>
        </p:txBody>
      </p:sp>
      <p:sp>
        <p:nvSpPr>
          <p:cNvPr id="2" name="Rectangle 1">
            <a:extLst xmlns:a="http://schemas.openxmlformats.org/drawingml/2006/main">
              <a:ext uri="{FF2B5EF4-FFF2-40B4-BE49-F238E27FC236}">
                <a16:creationId xmlns:a16="http://schemas.microsoft.com/office/drawing/2014/main" id="{3DF600B9-0136-45E9-BB23-1AA919CA96A9}"/>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 2: I added virtual devices and controlled traffic</a:t>
            </a:r>
          </a:p>
        </p:txBody>
      </p:sp>
      <p:sp>
        <p:nvSpPr>
          <p:cNvPr id="3" name="Rectangle 2">
            <a:extLst xmlns:a="http://schemas.openxmlformats.org/drawingml/2006/main">
              <a:ext uri="{FF2B5EF4-FFF2-40B4-BE49-F238E27FC236}">
                <a16:creationId xmlns:a16="http://schemas.microsoft.com/office/drawing/2014/main" id="{DBFEA813-DF52-4163-92AF-78F15AA96505}"/>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F3BA9453-13F1-46AC-86E8-3E951E636DDE}"/>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AUGUST 2026  |  05</a:t>
            </a:r>
          </a:p>
        </p:txBody>
      </p:sp>
      <p:sp>
        <p:nvSpPr>
          <p:cNvPr id="5" name="Rectangle: Rounded Corners 4">
            <a:extLst xmlns:a="http://schemas.openxmlformats.org/drawingml/2006/main">
              <a:ext uri="{FF2B5EF4-FFF2-40B4-BE49-F238E27FC236}">
                <a16:creationId xmlns:a16="http://schemas.microsoft.com/office/drawing/2014/main" id="{9ADDD525-EB49-4DEC-9E00-8571590040ED}"/>
              </a:ext>
            </a:extLst>
          </p:cNvPr>
          <p:cNvSpPr>
            <a:spLocks xmlns:a="http://schemas.openxmlformats.org/drawingml/2006/main" noGrp="1"/>
          </p:cNvSpPr>
          <p:nvPr/>
        </p:nvSpPr>
        <p:spPr>
          <a:xfrm xmlns:a="http://schemas.openxmlformats.org/drawingml/2006/main">
            <a:off x="400050" y="1619250"/>
            <a:ext cx="5905500" cy="3429000"/>
          </a:xfrm>
          <a:prstGeom xmlns:a="http://schemas.openxmlformats.org/drawingml/2006/main" prst="roundRect">
            <a:avLst>
              <a:gd name="adj" fmla="val 3333"/>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26" name="Picture 23"/>
          <p:cNvPicPr>
            <a:picLocks xmlns:a="http://schemas.openxmlformats.org/drawingml/2006/main" noChangeAspect="1"/>
          </p:cNvPicPr>
          <p:nvPr/>
        </p:nvPicPr>
        <p:blipFill>
          <a:blip xmlns:r="http://schemas.openxmlformats.org/officeDocument/2006/relationships" xmlns:a="http://schemas.openxmlformats.org/drawingml/2006/main" r:embed="Rd0aa724620e2436b"/>
          <a:stretch xmlns:a="http://schemas.openxmlformats.org/drawingml/2006/main"/>
        </p:blipFill>
        <p:spPr>
          <a:xfrm xmlns:a="http://schemas.openxmlformats.org/drawingml/2006/main">
            <a:off x="476250" y="1772533"/>
            <a:ext cx="5753100" cy="3122434"/>
          </a:xfrm>
          <a:prstGeom xmlns:a="http://schemas.openxmlformats.org/drawingml/2006/main" prst="roundRect">
            <a:avLst>
              <a:gd name="adj" fmla="val 3488"/>
            </a:avLst>
          </a:prstGeom>
        </p:spPr>
      </p:pic>
      <p:sp>
        <p:nvSpPr>
          <p:cNvPr id="7" name="Rectangle 6">
            <a:extLst xmlns:a="http://schemas.openxmlformats.org/drawingml/2006/main">
              <a:ext uri="{FF2B5EF4-FFF2-40B4-BE49-F238E27FC236}">
                <a16:creationId xmlns:a16="http://schemas.microsoft.com/office/drawing/2014/main" id="{8F535931-5D61-4143-94AB-196696AEEDF4}"/>
              </a:ext>
            </a:extLst>
          </p:cNvPr>
          <p:cNvSpPr>
            <a:spLocks xmlns:a="http://schemas.openxmlformats.org/drawingml/2006/main" noGrp="1"/>
          </p:cNvSpPr>
          <p:nvPr/>
        </p:nvSpPr>
        <p:spPr>
          <a:xfrm xmlns:a="http://schemas.openxmlformats.org/drawingml/2006/main">
            <a:off x="400050" y="525780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56070"/>
                </a:solidFill>
              </a:defRPr>
            </a:pPr>
            <a:r>
              <a:rPr sz="1350" b="0" i="0">
                <a:solidFill>
                  <a:srgbClr val="556070"/>
                </a:solidFill>
              </a:rPr>
              <a:t>Docker Desktop: one virtual base station and two virtual test devices are running.</a:t>
            </a:r>
          </a:p>
        </p:txBody>
      </p:sp>
      <p:sp>
        <p:nvSpPr>
          <p:cNvPr id="8" name="Rectangle: Rounded Corners 7">
            <a:extLst xmlns:a="http://schemas.openxmlformats.org/drawingml/2006/main">
              <a:ext uri="{FF2B5EF4-FFF2-40B4-BE49-F238E27FC236}">
                <a16:creationId xmlns:a16="http://schemas.microsoft.com/office/drawing/2014/main" id="{943810B4-2744-4416-8D07-A3EE39421149}"/>
              </a:ext>
            </a:extLst>
          </p:cNvPr>
          <p:cNvSpPr>
            <a:spLocks xmlns:a="http://schemas.openxmlformats.org/drawingml/2006/main" noGrp="1"/>
          </p:cNvSpPr>
          <p:nvPr/>
        </p:nvSpPr>
        <p:spPr>
          <a:xfrm xmlns:a="http://schemas.openxmlformats.org/drawingml/2006/main">
            <a:off x="6724650" y="1619250"/>
            <a:ext cx="152400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FDEB8C8A-769E-4572-95AF-A440D70A8E10}"/>
              </a:ext>
            </a:extLst>
          </p:cNvPr>
          <p:cNvSpPr>
            <a:spLocks xmlns:a="http://schemas.openxmlformats.org/drawingml/2006/main" noGrp="1"/>
          </p:cNvSpPr>
          <p:nvPr/>
        </p:nvSpPr>
        <p:spPr>
          <a:xfrm xmlns:a="http://schemas.openxmlformats.org/drawingml/2006/main">
            <a:off x="6838950" y="168592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10" name="Rectangle 9">
            <a:extLst xmlns:a="http://schemas.openxmlformats.org/drawingml/2006/main">
              <a:ext uri="{FF2B5EF4-FFF2-40B4-BE49-F238E27FC236}">
                <a16:creationId xmlns:a16="http://schemas.microsoft.com/office/drawing/2014/main" id="{B556D5C7-0452-4284-93E7-295D8FEA123D}"/>
              </a:ext>
            </a:extLst>
          </p:cNvPr>
          <p:cNvSpPr>
            <a:spLocks xmlns:a="http://schemas.openxmlformats.org/drawingml/2006/main" noGrp="1"/>
          </p:cNvSpPr>
          <p:nvPr/>
        </p:nvSpPr>
        <p:spPr>
          <a:xfrm xmlns:a="http://schemas.openxmlformats.org/drawingml/2006/main">
            <a:off x="6724650" y="21526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What I did</a:t>
            </a:r>
          </a:p>
        </p:txBody>
      </p:sp>
      <p:sp>
        <p:nvSpPr>
          <p:cNvPr id="11" name="Oval 10">
            <a:extLst xmlns:a="http://schemas.openxmlformats.org/drawingml/2006/main">
              <a:ext uri="{FF2B5EF4-FFF2-40B4-BE49-F238E27FC236}">
                <a16:creationId xmlns:a16="http://schemas.microsoft.com/office/drawing/2014/main" id="{D78B98F6-795A-4E69-9764-05184F1984B5}"/>
              </a:ext>
            </a:extLst>
          </p:cNvPr>
          <p:cNvSpPr>
            <a:spLocks xmlns:a="http://schemas.openxmlformats.org/drawingml/2006/main" noGrp="1"/>
          </p:cNvSpPr>
          <p:nvPr/>
        </p:nvSpPr>
        <p:spPr>
          <a:xfrm xmlns:a="http://schemas.openxmlformats.org/drawingml/2006/main">
            <a:off x="6724650" y="27908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5ACB0A56-CE93-4005-8D30-31C420B81504}"/>
              </a:ext>
            </a:extLst>
          </p:cNvPr>
          <p:cNvSpPr>
            <a:spLocks xmlns:a="http://schemas.openxmlformats.org/drawingml/2006/main" noGrp="1"/>
          </p:cNvSpPr>
          <p:nvPr/>
        </p:nvSpPr>
        <p:spPr>
          <a:xfrm xmlns:a="http://schemas.openxmlformats.org/drawingml/2006/main">
            <a:off x="6972300" y="2705100"/>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Added one virtual base station.</a:t>
            </a:r>
          </a:p>
        </p:txBody>
      </p:sp>
      <p:sp>
        <p:nvSpPr>
          <p:cNvPr id="13" name="Oval 12">
            <a:extLst xmlns:a="http://schemas.openxmlformats.org/drawingml/2006/main">
              <a:ext uri="{FF2B5EF4-FFF2-40B4-BE49-F238E27FC236}">
                <a16:creationId xmlns:a16="http://schemas.microsoft.com/office/drawing/2014/main" id="{2630AD40-BC40-452D-8031-17FD027D712C}"/>
              </a:ext>
            </a:extLst>
          </p:cNvPr>
          <p:cNvSpPr>
            <a:spLocks xmlns:a="http://schemas.openxmlformats.org/drawingml/2006/main" noGrp="1"/>
          </p:cNvSpPr>
          <p:nvPr/>
        </p:nvSpPr>
        <p:spPr>
          <a:xfrm xmlns:a="http://schemas.openxmlformats.org/drawingml/2006/main">
            <a:off x="6724650" y="34385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4D624DDF-F6A5-49E4-9EB8-CA413911578C}"/>
              </a:ext>
            </a:extLst>
          </p:cNvPr>
          <p:cNvSpPr>
            <a:spLocks xmlns:a="http://schemas.openxmlformats.org/drawingml/2006/main" noGrp="1"/>
          </p:cNvSpPr>
          <p:nvPr/>
        </p:nvSpPr>
        <p:spPr>
          <a:xfrm xmlns:a="http://schemas.openxmlformats.org/drawingml/2006/main">
            <a:off x="6972300" y="3352800"/>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Added two virtual test devices.</a:t>
            </a:r>
          </a:p>
        </p:txBody>
      </p:sp>
      <p:sp>
        <p:nvSpPr>
          <p:cNvPr id="15" name="Oval 14">
            <a:extLst xmlns:a="http://schemas.openxmlformats.org/drawingml/2006/main">
              <a:ext uri="{FF2B5EF4-FFF2-40B4-BE49-F238E27FC236}">
                <a16:creationId xmlns:a16="http://schemas.microsoft.com/office/drawing/2014/main" id="{07AC91BF-421A-41C1-8DF7-94A48CFBC55E}"/>
              </a:ext>
            </a:extLst>
          </p:cNvPr>
          <p:cNvSpPr>
            <a:spLocks xmlns:a="http://schemas.openxmlformats.org/drawingml/2006/main" noGrp="1"/>
          </p:cNvSpPr>
          <p:nvPr/>
        </p:nvSpPr>
        <p:spPr>
          <a:xfrm xmlns:a="http://schemas.openxmlformats.org/drawingml/2006/main">
            <a:off x="6724650" y="40862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6ABD6E9A-AC05-499A-A67F-1CF8C3ADC68C}"/>
              </a:ext>
            </a:extLst>
          </p:cNvPr>
          <p:cNvSpPr>
            <a:spLocks xmlns:a="http://schemas.openxmlformats.org/drawingml/2006/main" noGrp="1"/>
          </p:cNvSpPr>
          <p:nvPr/>
        </p:nvSpPr>
        <p:spPr>
          <a:xfrm xmlns:a="http://schemas.openxmlformats.org/drawingml/2006/main">
            <a:off x="6972300" y="4000500"/>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Ran two controlled traffic scenarios.</a:t>
            </a:r>
          </a:p>
        </p:txBody>
      </p:sp>
      <p:sp>
        <p:nvSpPr>
          <p:cNvPr id="17" name="Rectangle 16">
            <a:extLst xmlns:a="http://schemas.openxmlformats.org/drawingml/2006/main">
              <a:ext uri="{FF2B5EF4-FFF2-40B4-BE49-F238E27FC236}">
                <a16:creationId xmlns:a16="http://schemas.microsoft.com/office/drawing/2014/main" id="{A735EF61-0621-4122-BE42-FFE341DDCA29}"/>
              </a:ext>
            </a:extLst>
          </p:cNvPr>
          <p:cNvSpPr>
            <a:spLocks xmlns:a="http://schemas.openxmlformats.org/drawingml/2006/main" noGrp="1"/>
          </p:cNvSpPr>
          <p:nvPr/>
        </p:nvSpPr>
        <p:spPr>
          <a:xfrm xmlns:a="http://schemas.openxmlformats.org/drawingml/2006/main">
            <a:off x="6724650" y="48672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62D0"/>
                </a:solidFill>
              </a:defRPr>
            </a:pPr>
            <a:r>
              <a:rPr sz="1875" b="1" i="0">
                <a:solidFill>
                  <a:srgbClr val="1E62D0"/>
                </a:solidFill>
              </a:rPr>
              <a:t>Result</a:t>
            </a:r>
          </a:p>
        </p:txBody>
      </p:sp>
      <p:sp>
        <p:nvSpPr>
          <p:cNvPr id="18" name="Rectangle 17">
            <a:extLst xmlns:a="http://schemas.openxmlformats.org/drawingml/2006/main">
              <a:ext uri="{FF2B5EF4-FFF2-40B4-BE49-F238E27FC236}">
                <a16:creationId xmlns:a16="http://schemas.microsoft.com/office/drawing/2014/main" id="{5F04430F-4847-4D66-BF77-B7BBD1A1B182}"/>
              </a:ext>
            </a:extLst>
          </p:cNvPr>
          <p:cNvSpPr>
            <a:spLocks xmlns:a="http://schemas.openxmlformats.org/drawingml/2006/main" noGrp="1"/>
          </p:cNvSpPr>
          <p:nvPr/>
        </p:nvSpPr>
        <p:spPr>
          <a:xfrm xmlns:a="http://schemas.openxmlformats.org/drawingml/2006/main">
            <a:off x="6724650" y="5238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Both traffic scenarios completed and created records for the next step.</a:t>
            </a:r>
          </a:p>
        </p:txBody>
      </p:sp>
    </p:spTree>
    <p:extLst>
      <p:ext uri="{BB962C8B-B14F-4D97-AF65-F5344CB8AC3E}">
        <p14:creationId xmlns:p14="http://schemas.microsoft.com/office/powerpoint/2010/main" val="5689124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A7608A95-C851-4988-A2A4-6E102600DA72}"/>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COMPLETED DEVELOPMENT</a:t>
            </a:r>
          </a:p>
        </p:txBody>
      </p:sp>
      <p:sp>
        <p:nvSpPr>
          <p:cNvPr id="2" name="Rectangle 1">
            <a:extLst xmlns:a="http://schemas.openxmlformats.org/drawingml/2006/main">
              <a:ext uri="{FF2B5EF4-FFF2-40B4-BE49-F238E27FC236}">
                <a16:creationId xmlns:a16="http://schemas.microsoft.com/office/drawing/2014/main" id="{80BED32D-CD00-40A0-B011-893AF4C0AC88}"/>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 3: My C# program organises the records</a:t>
            </a:r>
          </a:p>
        </p:txBody>
      </p:sp>
      <p:sp>
        <p:nvSpPr>
          <p:cNvPr id="3" name="Rectangle 2">
            <a:extLst xmlns:a="http://schemas.openxmlformats.org/drawingml/2006/main">
              <a:ext uri="{FF2B5EF4-FFF2-40B4-BE49-F238E27FC236}">
                <a16:creationId xmlns:a16="http://schemas.microsoft.com/office/drawing/2014/main" id="{55C69A76-3798-4AC1-B2B9-1CA18CE0818C}"/>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0F46E6-4920-402F-B8E7-5BE77539F646}"/>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AUGUST 2026  |  06</a:t>
            </a:r>
          </a:p>
        </p:txBody>
      </p:sp>
      <p:sp>
        <p:nvSpPr>
          <p:cNvPr id="5" name="Rectangle 4">
            <a:extLst xmlns:a="http://schemas.openxmlformats.org/drawingml/2006/main">
              <a:ext uri="{FF2B5EF4-FFF2-40B4-BE49-F238E27FC236}">
                <a16:creationId xmlns:a16="http://schemas.microsoft.com/office/drawing/2014/main" id="{4074F0AF-8C79-4B63-9259-2B4E5B257137}"/>
              </a:ext>
            </a:extLst>
          </p:cNvPr>
          <p:cNvSpPr>
            <a:spLocks xmlns:a="http://schemas.openxmlformats.org/drawingml/2006/main" noGrp="1"/>
          </p:cNvSpPr>
          <p:nvPr/>
        </p:nvSpPr>
        <p:spPr>
          <a:xfrm xmlns:a="http://schemas.openxmlformats.org/drawingml/2006/main">
            <a:off x="400050" y="15049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56070"/>
                </a:solidFill>
              </a:defRPr>
            </a:pPr>
            <a:r>
              <a:rPr sz="1875" b="0" i="0">
                <a:solidFill>
                  <a:srgbClr val="556070"/>
                </a:solidFill>
              </a:rPr>
              <a:t>The program reads selected test files and creates a common record for each item. It does not change the original files.</a:t>
            </a:r>
          </a:p>
        </p:txBody>
      </p:sp>
      <p:sp>
        <p:nvSpPr>
          <p:cNvPr id="6" name="Rectangle: Rounded Corners 5">
            <a:extLst xmlns:a="http://schemas.openxmlformats.org/drawingml/2006/main">
              <a:ext uri="{FF2B5EF4-FFF2-40B4-BE49-F238E27FC236}">
                <a16:creationId xmlns:a16="http://schemas.microsoft.com/office/drawing/2014/main" id="{801A2984-2B57-4553-BAC6-A718BFB79F6E}"/>
              </a:ext>
            </a:extLst>
          </p:cNvPr>
          <p:cNvSpPr>
            <a:spLocks xmlns:a="http://schemas.openxmlformats.org/drawingml/2006/main" noGrp="1"/>
          </p:cNvSpPr>
          <p:nvPr/>
        </p:nvSpPr>
        <p:spPr>
          <a:xfrm xmlns:a="http://schemas.openxmlformats.org/drawingml/2006/main">
            <a:off x="400050" y="2305050"/>
            <a:ext cx="6838950" cy="3733800"/>
          </a:xfrm>
          <a:prstGeom xmlns:a="http://schemas.openxmlformats.org/drawingml/2006/main" prst="roundRect">
            <a:avLst>
              <a:gd name="adj" fmla="val 3061"/>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Picture 26"/>
          <p:cNvPicPr>
            <a:picLocks xmlns:a="http://schemas.openxmlformats.org/drawingml/2006/main" noChangeAspect="1"/>
          </p:cNvPicPr>
          <p:nvPr/>
        </p:nvPicPr>
        <p:blipFill>
          <a:blip xmlns:r="http://schemas.openxmlformats.org/officeDocument/2006/relationships" xmlns:a="http://schemas.openxmlformats.org/drawingml/2006/main" r:embed="R0233be98ca9341b4"/>
          <a:srcRect xmlns:a="http://schemas.openxmlformats.org/drawingml/2006/main" l="353" t="0" r="353" b="0"/>
          <a:stretch xmlns:a="http://schemas.openxmlformats.org/drawingml/2006/main">
            <a:fillRect l="0" t="0" r="0" b="0"/>
          </a:stretch>
        </p:blipFill>
        <p:spPr>
          <a:xfrm xmlns:a="http://schemas.openxmlformats.org/drawingml/2006/main">
            <a:off x="511514" y="2381250"/>
            <a:ext cx="6616021" cy="3581400"/>
          </a:xfrm>
          <a:prstGeom xmlns:a="http://schemas.openxmlformats.org/drawingml/2006/main" prst="roundRect">
            <a:avLst>
              <a:gd name="adj" fmla="val 3191"/>
            </a:avLst>
          </a:prstGeom>
        </p:spPr>
      </p:pic>
      <p:sp>
        <p:nvSpPr>
          <p:cNvPr id="8" name="Rectangle 7">
            <a:extLst xmlns:a="http://schemas.openxmlformats.org/drawingml/2006/main">
              <a:ext uri="{FF2B5EF4-FFF2-40B4-BE49-F238E27FC236}">
                <a16:creationId xmlns:a16="http://schemas.microsoft.com/office/drawing/2014/main" id="{BE05CA84-732F-46AE-9CA6-B08B28C8887F}"/>
              </a:ext>
            </a:extLst>
          </p:cNvPr>
          <p:cNvSpPr>
            <a:spLocks xmlns:a="http://schemas.openxmlformats.org/drawingml/2006/main" noGrp="1"/>
          </p:cNvSpPr>
          <p:nvPr/>
        </p:nvSpPr>
        <p:spPr>
          <a:xfrm xmlns:a="http://schemas.openxmlformats.org/drawingml/2006/main">
            <a:off x="771525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A simple record includes</a:t>
            </a:r>
          </a:p>
        </p:txBody>
      </p:sp>
      <p:sp>
        <p:nvSpPr>
          <p:cNvPr id="9" name="Oval 8">
            <a:extLst xmlns:a="http://schemas.openxmlformats.org/drawingml/2006/main">
              <a:ext uri="{FF2B5EF4-FFF2-40B4-BE49-F238E27FC236}">
                <a16:creationId xmlns:a16="http://schemas.microsoft.com/office/drawing/2014/main" id="{F57A33BB-AEFF-4063-8FC7-E6EDC3BDA3B2}"/>
              </a:ext>
            </a:extLst>
          </p:cNvPr>
          <p:cNvSpPr>
            <a:spLocks xmlns:a="http://schemas.openxmlformats.org/drawingml/2006/main" noGrp="1"/>
          </p:cNvSpPr>
          <p:nvPr/>
        </p:nvSpPr>
        <p:spPr>
          <a:xfrm xmlns:a="http://schemas.openxmlformats.org/drawingml/2006/main">
            <a:off x="7715250" y="29432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9918A51D-B2BC-4DCE-8F86-32297C6C44EC}"/>
              </a:ext>
            </a:extLst>
          </p:cNvPr>
          <p:cNvSpPr>
            <a:spLocks xmlns:a="http://schemas.openxmlformats.org/drawingml/2006/main" noGrp="1"/>
          </p:cNvSpPr>
          <p:nvPr/>
        </p:nvSpPr>
        <p:spPr>
          <a:xfrm xmlns:a="http://schemas.openxmlformats.org/drawingml/2006/main">
            <a:off x="7962900" y="285750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when the event happened</a:t>
            </a:r>
          </a:p>
        </p:txBody>
      </p:sp>
      <p:sp>
        <p:nvSpPr>
          <p:cNvPr id="11" name="Oval 10">
            <a:extLst xmlns:a="http://schemas.openxmlformats.org/drawingml/2006/main">
              <a:ext uri="{FF2B5EF4-FFF2-40B4-BE49-F238E27FC236}">
                <a16:creationId xmlns:a16="http://schemas.microsoft.com/office/drawing/2014/main" id="{4754A631-8934-4493-ACD7-684941461772}"/>
              </a:ext>
            </a:extLst>
          </p:cNvPr>
          <p:cNvSpPr>
            <a:spLocks xmlns:a="http://schemas.openxmlformats.org/drawingml/2006/main" noGrp="1"/>
          </p:cNvSpPr>
          <p:nvPr/>
        </p:nvSpPr>
        <p:spPr>
          <a:xfrm xmlns:a="http://schemas.openxmlformats.org/drawingml/2006/main">
            <a:off x="7715250" y="346710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D83D7FA7-CB34-47EF-B909-7F5FAA851A11}"/>
              </a:ext>
            </a:extLst>
          </p:cNvPr>
          <p:cNvSpPr>
            <a:spLocks xmlns:a="http://schemas.openxmlformats.org/drawingml/2006/main" noGrp="1"/>
          </p:cNvSpPr>
          <p:nvPr/>
        </p:nvSpPr>
        <p:spPr>
          <a:xfrm xmlns:a="http://schemas.openxmlformats.org/drawingml/2006/main">
            <a:off x="7962900" y="3381375"/>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where it came from</a:t>
            </a:r>
          </a:p>
        </p:txBody>
      </p:sp>
      <p:sp>
        <p:nvSpPr>
          <p:cNvPr id="13" name="Oval 12">
            <a:extLst xmlns:a="http://schemas.openxmlformats.org/drawingml/2006/main">
              <a:ext uri="{FF2B5EF4-FFF2-40B4-BE49-F238E27FC236}">
                <a16:creationId xmlns:a16="http://schemas.microsoft.com/office/drawing/2014/main" id="{6989D667-7DF8-409B-9ABA-4F9DDDD574BD}"/>
              </a:ext>
            </a:extLst>
          </p:cNvPr>
          <p:cNvSpPr>
            <a:spLocks xmlns:a="http://schemas.openxmlformats.org/drawingml/2006/main" noGrp="1"/>
          </p:cNvSpPr>
          <p:nvPr/>
        </p:nvSpPr>
        <p:spPr>
          <a:xfrm xmlns:a="http://schemas.openxmlformats.org/drawingml/2006/main">
            <a:off x="7715250" y="39909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FB16FF66-8CE6-4CA4-9450-48AE936734D1}"/>
              </a:ext>
            </a:extLst>
          </p:cNvPr>
          <p:cNvSpPr>
            <a:spLocks xmlns:a="http://schemas.openxmlformats.org/drawingml/2006/main" noGrp="1"/>
          </p:cNvSpPr>
          <p:nvPr/>
        </p:nvSpPr>
        <p:spPr>
          <a:xfrm xmlns:a="http://schemas.openxmlformats.org/drawingml/2006/main">
            <a:off x="7962900" y="390525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which test scenario it belongs to</a:t>
            </a:r>
          </a:p>
        </p:txBody>
      </p:sp>
      <p:sp>
        <p:nvSpPr>
          <p:cNvPr id="15" name="Oval 14">
            <a:extLst xmlns:a="http://schemas.openxmlformats.org/drawingml/2006/main">
              <a:ext uri="{FF2B5EF4-FFF2-40B4-BE49-F238E27FC236}">
                <a16:creationId xmlns:a16="http://schemas.microsoft.com/office/drawing/2014/main" id="{9B61EC65-726A-42E5-8A14-F88873DDADC8}"/>
              </a:ext>
            </a:extLst>
          </p:cNvPr>
          <p:cNvSpPr>
            <a:spLocks xmlns:a="http://schemas.openxmlformats.org/drawingml/2006/main" noGrp="1"/>
          </p:cNvSpPr>
          <p:nvPr/>
        </p:nvSpPr>
        <p:spPr>
          <a:xfrm xmlns:a="http://schemas.openxmlformats.org/drawingml/2006/main">
            <a:off x="7715250" y="451485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E2FAF044-EC66-4706-B637-C6D60EBB3C5D}"/>
              </a:ext>
            </a:extLst>
          </p:cNvPr>
          <p:cNvSpPr>
            <a:spLocks xmlns:a="http://schemas.openxmlformats.org/drawingml/2006/main" noGrp="1"/>
          </p:cNvSpPr>
          <p:nvPr/>
        </p:nvSpPr>
        <p:spPr>
          <a:xfrm xmlns:a="http://schemas.openxmlformats.org/drawingml/2006/main">
            <a:off x="7962900" y="4429125"/>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an initial slice label</a:t>
            </a:r>
          </a:p>
        </p:txBody>
      </p:sp>
      <p:sp>
        <p:nvSpPr>
          <p:cNvPr id="17" name="Oval 16">
            <a:extLst xmlns:a="http://schemas.openxmlformats.org/drawingml/2006/main">
              <a:ext uri="{FF2B5EF4-FFF2-40B4-BE49-F238E27FC236}">
                <a16:creationId xmlns:a16="http://schemas.microsoft.com/office/drawing/2014/main" id="{968BD3E6-738E-48C7-9E19-224A5B1EC64E}"/>
              </a:ext>
            </a:extLst>
          </p:cNvPr>
          <p:cNvSpPr>
            <a:spLocks xmlns:a="http://schemas.openxmlformats.org/drawingml/2006/main" noGrp="1"/>
          </p:cNvSpPr>
          <p:nvPr/>
        </p:nvSpPr>
        <p:spPr>
          <a:xfrm xmlns:a="http://schemas.openxmlformats.org/drawingml/2006/main">
            <a:off x="7715250" y="50387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2EE3A2A8-7EED-41BA-AFB2-67B275860726}"/>
              </a:ext>
            </a:extLst>
          </p:cNvPr>
          <p:cNvSpPr>
            <a:spLocks xmlns:a="http://schemas.openxmlformats.org/drawingml/2006/main" noGrp="1"/>
          </p:cNvSpPr>
          <p:nvPr/>
        </p:nvSpPr>
        <p:spPr>
          <a:xfrm xmlns:a="http://schemas.openxmlformats.org/drawingml/2006/main">
            <a:off x="7962900" y="495300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 link back to the original file</a:t>
            </a:r>
          </a:p>
        </p:txBody>
      </p:sp>
      <p:sp>
        <p:nvSpPr>
          <p:cNvPr id="19" name="Rectangle: Rounded Corners 18">
            <a:extLst xmlns:a="http://schemas.openxmlformats.org/drawingml/2006/main">
              <a:ext uri="{FF2B5EF4-FFF2-40B4-BE49-F238E27FC236}">
                <a16:creationId xmlns:a16="http://schemas.microsoft.com/office/drawing/2014/main" id="{94EAA160-BA7C-4581-A092-2929D4E7AB97}"/>
              </a:ext>
            </a:extLst>
          </p:cNvPr>
          <p:cNvSpPr>
            <a:spLocks xmlns:a="http://schemas.openxmlformats.org/drawingml/2006/main" noGrp="1"/>
          </p:cNvSpPr>
          <p:nvPr/>
        </p:nvSpPr>
        <p:spPr>
          <a:xfrm xmlns:a="http://schemas.openxmlformats.org/drawingml/2006/main">
            <a:off x="7715250" y="5581650"/>
            <a:ext cx="3600450" cy="4572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A2B81BFC-5F19-4C29-9553-F58BBE71F10A}"/>
              </a:ext>
            </a:extLst>
          </p:cNvPr>
          <p:cNvSpPr>
            <a:spLocks xmlns:a="http://schemas.openxmlformats.org/drawingml/2006/main" noGrp="1"/>
          </p:cNvSpPr>
          <p:nvPr/>
        </p:nvSpPr>
        <p:spPr>
          <a:xfrm xmlns:a="http://schemas.openxmlformats.org/drawingml/2006/main">
            <a:off x="7886700" y="5695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E62D0"/>
                </a:solidFill>
              </a:defRPr>
            </a:pPr>
            <a:r>
              <a:rPr sz="1500" b="1" i="0">
                <a:solidFill>
                  <a:srgbClr val="1E62D0"/>
                </a:solidFill>
              </a:rPr>
              <a:t>27 records from 17 selected inputs</a:t>
            </a:r>
          </a:p>
        </p:txBody>
      </p:sp>
    </p:spTree>
    <p:extLst>
      <p:ext uri="{BB962C8B-B14F-4D97-AF65-F5344CB8AC3E}">
        <p14:creationId xmlns:p14="http://schemas.microsoft.com/office/powerpoint/2010/main" val="5385788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093AC282-58D5-40B7-8E7D-710A25B67C6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FRESH VALIDATION - 16 AUGUST 2026</a:t>
            </a:r>
          </a:p>
        </p:txBody>
      </p:sp>
      <p:sp>
        <p:nvSpPr>
          <p:cNvPr id="2" name="Rectangle 1">
            <a:extLst xmlns:a="http://schemas.openxmlformats.org/drawingml/2006/main">
              <a:ext uri="{FF2B5EF4-FFF2-40B4-BE49-F238E27FC236}">
                <a16:creationId xmlns:a16="http://schemas.microsoft.com/office/drawing/2014/main" id="{2FC15BA6-BC82-4981-99C4-CE80F366B9DE}"/>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Phases 1-3 were rerun before Phase 4</a:t>
            </a:r>
          </a:p>
        </p:txBody>
      </p:sp>
      <p:sp>
        <p:nvSpPr>
          <p:cNvPr id="3" name="Rectangle 2">
            <a:extLst xmlns:a="http://schemas.openxmlformats.org/drawingml/2006/main">
              <a:ext uri="{FF2B5EF4-FFF2-40B4-BE49-F238E27FC236}">
                <a16:creationId xmlns:a16="http://schemas.microsoft.com/office/drawing/2014/main" id="{AE21976C-8499-45AA-98A4-1EE1CB3569F0}"/>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E2EAAD-04A1-4C85-B928-3FDC4F59785E}"/>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16 AUGUST 2026  |  07</a:t>
            </a:r>
          </a:p>
        </p:txBody>
      </p:sp>
      <p:sp>
        <p:nvSpPr>
          <p:cNvPr id="5" name="Rectangle 4">
            <a:extLst xmlns:a="http://schemas.openxmlformats.org/drawingml/2006/main">
              <a:ext uri="{FF2B5EF4-FFF2-40B4-BE49-F238E27FC236}">
                <a16:creationId xmlns:a16="http://schemas.microsoft.com/office/drawing/2014/main" id="{062A7E23-5AF0-44AC-A21E-B9CC4008E3B8}"/>
              </a:ext>
            </a:extLst>
          </p:cNvPr>
          <p:cNvSpPr>
            <a:spLocks xmlns:a="http://schemas.openxmlformats.org/drawingml/2006/main" noGrp="1"/>
          </p:cNvSpPr>
          <p:nvPr/>
        </p:nvSpPr>
        <p:spPr>
          <a:xfrm xmlns:a="http://schemas.openxmlformats.org/drawingml/2006/main">
            <a:off x="400050" y="15430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The laboratory, controlled traffic and C# evidence ingestion all completed before the attribution step.</a:t>
            </a:r>
          </a:p>
        </p:txBody>
      </p:sp>
      <p:sp>
        <p:nvSpPr>
          <p:cNvPr id="6" name="Rectangle: Rounded Corners 5">
            <a:extLst xmlns:a="http://schemas.openxmlformats.org/drawingml/2006/main">
              <a:ext uri="{FF2B5EF4-FFF2-40B4-BE49-F238E27FC236}">
                <a16:creationId xmlns:a16="http://schemas.microsoft.com/office/drawing/2014/main" id="{3E169C23-5DD8-4164-AFE6-7FC645EA7C75}"/>
              </a:ext>
            </a:extLst>
          </p:cNvPr>
          <p:cNvSpPr>
            <a:spLocks xmlns:a="http://schemas.openxmlformats.org/drawingml/2006/main" noGrp="1"/>
          </p:cNvSpPr>
          <p:nvPr/>
        </p:nvSpPr>
        <p:spPr>
          <a:xfrm xmlns:a="http://schemas.openxmlformats.org/drawingml/2006/main">
            <a:off x="400050"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794368B1-6FEC-4354-8646-E97880C06729}"/>
              </a:ext>
            </a:extLst>
          </p:cNvPr>
          <p:cNvSpPr>
            <a:spLocks xmlns:a="http://schemas.openxmlformats.org/drawingml/2006/main" noGrp="1"/>
          </p:cNvSpPr>
          <p:nvPr/>
        </p:nvSpPr>
        <p:spPr>
          <a:xfrm xmlns:a="http://schemas.openxmlformats.org/drawingml/2006/main">
            <a:off x="685800"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13</a:t>
            </a:r>
          </a:p>
        </p:txBody>
      </p:sp>
      <p:sp>
        <p:nvSpPr>
          <p:cNvPr id="8" name="Rectangle 7">
            <a:extLst xmlns:a="http://schemas.openxmlformats.org/drawingml/2006/main">
              <a:ext uri="{FF2B5EF4-FFF2-40B4-BE49-F238E27FC236}">
                <a16:creationId xmlns:a16="http://schemas.microsoft.com/office/drawing/2014/main" id="{EAF1B148-FFE2-427D-8976-FA62BACBF11B}"/>
              </a:ext>
            </a:extLst>
          </p:cNvPr>
          <p:cNvSpPr>
            <a:spLocks xmlns:a="http://schemas.openxmlformats.org/drawingml/2006/main" noGrp="1"/>
          </p:cNvSpPr>
          <p:nvPr/>
        </p:nvSpPr>
        <p:spPr>
          <a:xfrm xmlns:a="http://schemas.openxmlformats.org/drawingml/2006/main">
            <a:off x="685800"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healthy Docker containers</a:t>
            </a:r>
          </a:p>
        </p:txBody>
      </p:sp>
      <p:sp>
        <p:nvSpPr>
          <p:cNvPr id="9" name="Rectangle 8">
            <a:extLst xmlns:a="http://schemas.openxmlformats.org/drawingml/2006/main">
              <a:ext uri="{FF2B5EF4-FFF2-40B4-BE49-F238E27FC236}">
                <a16:creationId xmlns:a16="http://schemas.microsoft.com/office/drawing/2014/main" id="{034DB9BB-1ADB-4AFD-A47C-2D98F0FE8DC7}"/>
              </a:ext>
            </a:extLst>
          </p:cNvPr>
          <p:cNvSpPr>
            <a:spLocks xmlns:a="http://schemas.openxmlformats.org/drawingml/2006/main" noGrp="1"/>
          </p:cNvSpPr>
          <p:nvPr/>
        </p:nvSpPr>
        <p:spPr>
          <a:xfrm xmlns:a="http://schemas.openxmlformats.org/drawingml/2006/main">
            <a:off x="685800"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10 core network containers + 3 virtual-radio containers</a:t>
            </a:r>
          </a:p>
        </p:txBody>
      </p:sp>
      <p:sp>
        <p:nvSpPr>
          <p:cNvPr id="10" name="Rectangle: Rounded Corners 9">
            <a:extLst xmlns:a="http://schemas.openxmlformats.org/drawingml/2006/main">
              <a:ext uri="{FF2B5EF4-FFF2-40B4-BE49-F238E27FC236}">
                <a16:creationId xmlns:a16="http://schemas.microsoft.com/office/drawing/2014/main" id="{95D2F159-90A3-43B4-94DF-E4E13CF06DD8}"/>
              </a:ext>
            </a:extLst>
          </p:cNvPr>
          <p:cNvSpPr>
            <a:spLocks xmlns:a="http://schemas.openxmlformats.org/drawingml/2006/main" noGrp="1"/>
          </p:cNvSpPr>
          <p:nvPr/>
        </p:nvSpPr>
        <p:spPr>
          <a:xfrm xmlns:a="http://schemas.openxmlformats.org/drawingml/2006/main">
            <a:off x="43148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E10F1BDB-673B-4711-A6EC-7469A4302E01}"/>
              </a:ext>
            </a:extLst>
          </p:cNvPr>
          <p:cNvSpPr>
            <a:spLocks xmlns:a="http://schemas.openxmlformats.org/drawingml/2006/main" noGrp="1"/>
          </p:cNvSpPr>
          <p:nvPr/>
        </p:nvSpPr>
        <p:spPr>
          <a:xfrm xmlns:a="http://schemas.openxmlformats.org/drawingml/2006/main">
            <a:off x="46005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a:t>
            </a:r>
          </a:p>
        </p:txBody>
      </p:sp>
      <p:sp>
        <p:nvSpPr>
          <p:cNvPr id="12" name="Rectangle 11">
            <a:extLst xmlns:a="http://schemas.openxmlformats.org/drawingml/2006/main">
              <a:ext uri="{FF2B5EF4-FFF2-40B4-BE49-F238E27FC236}">
                <a16:creationId xmlns:a16="http://schemas.microsoft.com/office/drawing/2014/main" id="{38119460-6E68-4D77-9C69-881C10E9C251}"/>
              </a:ext>
            </a:extLst>
          </p:cNvPr>
          <p:cNvSpPr>
            <a:spLocks xmlns:a="http://schemas.openxmlformats.org/drawingml/2006/main" noGrp="1"/>
          </p:cNvSpPr>
          <p:nvPr/>
        </p:nvSpPr>
        <p:spPr>
          <a:xfrm xmlns:a="http://schemas.openxmlformats.org/drawingml/2006/main">
            <a:off x="46005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traffic scenarios completed</a:t>
            </a:r>
          </a:p>
        </p:txBody>
      </p:sp>
      <p:sp>
        <p:nvSpPr>
          <p:cNvPr id="13" name="Rectangle 12">
            <a:extLst xmlns:a="http://schemas.openxmlformats.org/drawingml/2006/main">
              <a:ext uri="{FF2B5EF4-FFF2-40B4-BE49-F238E27FC236}">
                <a16:creationId xmlns:a16="http://schemas.microsoft.com/office/drawing/2014/main" id="{48199DA3-8AE1-4F9E-8672-EA69D5D81413}"/>
              </a:ext>
            </a:extLst>
          </p:cNvPr>
          <p:cNvSpPr>
            <a:spLocks xmlns:a="http://schemas.openxmlformats.org/drawingml/2006/main" noGrp="1"/>
          </p:cNvSpPr>
          <p:nvPr/>
        </p:nvSpPr>
        <p:spPr>
          <a:xfrm xmlns:a="http://schemas.openxmlformats.org/drawingml/2006/main">
            <a:off x="46005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Two controlled tests produced usable activity records</a:t>
            </a:r>
          </a:p>
        </p:txBody>
      </p:sp>
      <p:sp>
        <p:nvSpPr>
          <p:cNvPr id="14" name="Rectangle: Rounded Corners 13">
            <a:extLst xmlns:a="http://schemas.openxmlformats.org/drawingml/2006/main">
              <a:ext uri="{FF2B5EF4-FFF2-40B4-BE49-F238E27FC236}">
                <a16:creationId xmlns:a16="http://schemas.microsoft.com/office/drawing/2014/main" id="{01498B58-D6C6-41F2-BB9D-92B7BD427385}"/>
              </a:ext>
            </a:extLst>
          </p:cNvPr>
          <p:cNvSpPr>
            <a:spLocks xmlns:a="http://schemas.openxmlformats.org/drawingml/2006/main" noGrp="1"/>
          </p:cNvSpPr>
          <p:nvPr/>
        </p:nvSpPr>
        <p:spPr>
          <a:xfrm xmlns:a="http://schemas.openxmlformats.org/drawingml/2006/main">
            <a:off x="82391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4A0098F9-8167-4529-A006-E0B9FC3492FF}"/>
              </a:ext>
            </a:extLst>
          </p:cNvPr>
          <p:cNvSpPr>
            <a:spLocks xmlns:a="http://schemas.openxmlformats.org/drawingml/2006/main" noGrp="1"/>
          </p:cNvSpPr>
          <p:nvPr/>
        </p:nvSpPr>
        <p:spPr>
          <a:xfrm xmlns:a="http://schemas.openxmlformats.org/drawingml/2006/main">
            <a:off x="85248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27</a:t>
            </a:r>
          </a:p>
        </p:txBody>
      </p:sp>
      <p:sp>
        <p:nvSpPr>
          <p:cNvPr id="16" name="Rectangle 15">
            <a:extLst xmlns:a="http://schemas.openxmlformats.org/drawingml/2006/main">
              <a:ext uri="{FF2B5EF4-FFF2-40B4-BE49-F238E27FC236}">
                <a16:creationId xmlns:a16="http://schemas.microsoft.com/office/drawing/2014/main" id="{BB9E1175-CF47-45C3-B187-A7CCBF4852F9}"/>
              </a:ext>
            </a:extLst>
          </p:cNvPr>
          <p:cNvSpPr>
            <a:spLocks xmlns:a="http://schemas.openxmlformats.org/drawingml/2006/main" noGrp="1"/>
          </p:cNvSpPr>
          <p:nvPr/>
        </p:nvSpPr>
        <p:spPr>
          <a:xfrm xmlns:a="http://schemas.openxmlformats.org/drawingml/2006/main">
            <a:off x="85248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queryable evidence records</a:t>
            </a:r>
          </a:p>
        </p:txBody>
      </p:sp>
      <p:sp>
        <p:nvSpPr>
          <p:cNvPr id="17" name="Rectangle 16">
            <a:extLst xmlns:a="http://schemas.openxmlformats.org/drawingml/2006/main">
              <a:ext uri="{FF2B5EF4-FFF2-40B4-BE49-F238E27FC236}">
                <a16:creationId xmlns:a16="http://schemas.microsoft.com/office/drawing/2014/main" id="{E5E1FF9F-0ED6-414F-9AA3-716D3AFB53FC}"/>
              </a:ext>
            </a:extLst>
          </p:cNvPr>
          <p:cNvSpPr>
            <a:spLocks xmlns:a="http://schemas.openxmlformats.org/drawingml/2006/main" noGrp="1"/>
          </p:cNvSpPr>
          <p:nvPr/>
        </p:nvSpPr>
        <p:spPr>
          <a:xfrm xmlns:a="http://schemas.openxmlformats.org/drawingml/2006/main">
            <a:off x="85248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Created from 17 approved inputs; source files unchanged</a:t>
            </a:r>
          </a:p>
        </p:txBody>
      </p:sp>
      <p:sp>
        <p:nvSpPr>
          <p:cNvPr id="18" name="Rectangle 17">
            <a:extLst xmlns:a="http://schemas.openxmlformats.org/drawingml/2006/main">
              <a:ext uri="{FF2B5EF4-FFF2-40B4-BE49-F238E27FC236}">
                <a16:creationId xmlns:a16="http://schemas.microsoft.com/office/drawing/2014/main" id="{FFAD0E28-F7CE-43F6-AC0B-16E8BE280208}"/>
              </a:ext>
            </a:extLst>
          </p:cNvPr>
          <p:cNvSpPr>
            <a:spLocks xmlns:a="http://schemas.openxmlformats.org/drawingml/2006/main" noGrp="1"/>
          </p:cNvSpPr>
          <p:nvPr/>
        </p:nvSpPr>
        <p:spPr>
          <a:xfrm xmlns:a="http://schemas.openxmlformats.org/drawingml/2006/main">
            <a:off x="400050" y="5857875"/>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11827"/>
                </a:solidFill>
              </a:defRPr>
            </a:pPr>
            <a:r>
              <a:rPr sz="2100" b="1" i="0">
                <a:solidFill>
                  <a:srgbClr val="111827"/>
                </a:solidFill>
              </a:rPr>
              <a:t>Test lab  →  traffic  →  organised evidence</a:t>
            </a:r>
          </a:p>
        </p:txBody>
      </p:sp>
    </p:spTree>
    <p:extLst>
      <p:ext uri="{BB962C8B-B14F-4D97-AF65-F5344CB8AC3E}">
        <p14:creationId xmlns:p14="http://schemas.microsoft.com/office/powerpoint/2010/main" val="1280348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093AC282-58D5-40B7-8E7D-710A25B67C6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PHASE 4 ACCEPTANCE</a:t>
            </a:r>
          </a:p>
        </p:txBody>
      </p:sp>
      <p:sp>
        <p:nvSpPr>
          <p:cNvPr id="2" name="Rectangle 1">
            <a:extLst xmlns:a="http://schemas.openxmlformats.org/drawingml/2006/main">
              <a:ext uri="{FF2B5EF4-FFF2-40B4-BE49-F238E27FC236}">
                <a16:creationId xmlns:a16="http://schemas.microsoft.com/office/drawing/2014/main" id="{2FC15BA6-BC82-4981-99C4-CE80F366B9DE}"/>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Every evidence record now has a traceable decision</a:t>
            </a:r>
          </a:p>
        </p:txBody>
      </p:sp>
      <p:sp>
        <p:nvSpPr>
          <p:cNvPr id="3" name="Rectangle 2">
            <a:extLst xmlns:a="http://schemas.openxmlformats.org/drawingml/2006/main">
              <a:ext uri="{FF2B5EF4-FFF2-40B4-BE49-F238E27FC236}">
                <a16:creationId xmlns:a16="http://schemas.microsoft.com/office/drawing/2014/main" id="{AE21976C-8499-45AA-98A4-1EE1CB3569F0}"/>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E2EAAD-04A1-4C85-B928-3FDC4F59785E}"/>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16 AUGUST 2026  |  08</a:t>
            </a:r>
          </a:p>
        </p:txBody>
      </p:sp>
      <p:sp>
        <p:nvSpPr>
          <p:cNvPr id="5" name="Rectangle 4">
            <a:extLst xmlns:a="http://schemas.openxmlformats.org/drawingml/2006/main">
              <a:ext uri="{FF2B5EF4-FFF2-40B4-BE49-F238E27FC236}">
                <a16:creationId xmlns:a16="http://schemas.microsoft.com/office/drawing/2014/main" id="{062A7E23-5AF0-44AC-A21E-B9CC4008E3B8}"/>
              </a:ext>
            </a:extLst>
          </p:cNvPr>
          <p:cNvSpPr>
            <a:spLocks xmlns:a="http://schemas.openxmlformats.org/drawingml/2006/main" noGrp="1"/>
          </p:cNvSpPr>
          <p:nvPr/>
        </p:nvSpPr>
        <p:spPr>
          <a:xfrm xmlns:a="http://schemas.openxmlformats.org/drawingml/2006/main">
            <a:off x="400050" y="15430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Rules assign a slice only where the context supports it. Shared and missing context is not guessed.</a:t>
            </a:r>
          </a:p>
        </p:txBody>
      </p:sp>
      <p:sp>
        <p:nvSpPr>
          <p:cNvPr id="6" name="Rectangle: Rounded Corners 5">
            <a:extLst xmlns:a="http://schemas.openxmlformats.org/drawingml/2006/main">
              <a:ext uri="{FF2B5EF4-FFF2-40B4-BE49-F238E27FC236}">
                <a16:creationId xmlns:a16="http://schemas.microsoft.com/office/drawing/2014/main" id="{3E169C23-5DD8-4164-AFE6-7FC645EA7C75}"/>
              </a:ext>
            </a:extLst>
          </p:cNvPr>
          <p:cNvSpPr>
            <a:spLocks xmlns:a="http://schemas.openxmlformats.org/drawingml/2006/main" noGrp="1"/>
          </p:cNvSpPr>
          <p:nvPr/>
        </p:nvSpPr>
        <p:spPr>
          <a:xfrm xmlns:a="http://schemas.openxmlformats.org/drawingml/2006/main">
            <a:off x="400050"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794368B1-6FEC-4354-8646-E97880C06729}"/>
              </a:ext>
            </a:extLst>
          </p:cNvPr>
          <p:cNvSpPr>
            <a:spLocks xmlns:a="http://schemas.openxmlformats.org/drawingml/2006/main" noGrp="1"/>
          </p:cNvSpPr>
          <p:nvPr/>
        </p:nvSpPr>
        <p:spPr>
          <a:xfrm xmlns:a="http://schemas.openxmlformats.org/drawingml/2006/main">
            <a:off x="685800"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27</a:t>
            </a:r>
          </a:p>
        </p:txBody>
      </p:sp>
      <p:sp>
        <p:nvSpPr>
          <p:cNvPr id="8" name="Rectangle 7">
            <a:extLst xmlns:a="http://schemas.openxmlformats.org/drawingml/2006/main">
              <a:ext uri="{FF2B5EF4-FFF2-40B4-BE49-F238E27FC236}">
                <a16:creationId xmlns:a16="http://schemas.microsoft.com/office/drawing/2014/main" id="{EAF1B148-FFE2-427D-8976-FA62BACBF11B}"/>
              </a:ext>
            </a:extLst>
          </p:cNvPr>
          <p:cNvSpPr>
            <a:spLocks xmlns:a="http://schemas.openxmlformats.org/drawingml/2006/main" noGrp="1"/>
          </p:cNvSpPr>
          <p:nvPr/>
        </p:nvSpPr>
        <p:spPr>
          <a:xfrm xmlns:a="http://schemas.openxmlformats.org/drawingml/2006/main">
            <a:off x="685800"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record decisions</a:t>
            </a:r>
          </a:p>
        </p:txBody>
      </p:sp>
      <p:sp>
        <p:nvSpPr>
          <p:cNvPr id="9" name="Rectangle 8">
            <a:extLst xmlns:a="http://schemas.openxmlformats.org/drawingml/2006/main">
              <a:ext uri="{FF2B5EF4-FFF2-40B4-BE49-F238E27FC236}">
                <a16:creationId xmlns:a16="http://schemas.microsoft.com/office/drawing/2014/main" id="{034DB9BB-1ADB-4AFD-A47C-2D98F0FE8DC7}"/>
              </a:ext>
            </a:extLst>
          </p:cNvPr>
          <p:cNvSpPr>
            <a:spLocks xmlns:a="http://schemas.openxmlformats.org/drawingml/2006/main" noGrp="1"/>
          </p:cNvSpPr>
          <p:nvPr/>
        </p:nvSpPr>
        <p:spPr>
          <a:xfrm xmlns:a="http://schemas.openxmlformats.org/drawingml/2006/main">
            <a:off x="685800"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A decision is stored for every Phase 3 record.</a:t>
            </a:r>
          </a:p>
        </p:txBody>
      </p:sp>
      <p:sp>
        <p:nvSpPr>
          <p:cNvPr id="10" name="Rectangle: Rounded Corners 9">
            <a:extLst xmlns:a="http://schemas.openxmlformats.org/drawingml/2006/main">
              <a:ext uri="{FF2B5EF4-FFF2-40B4-BE49-F238E27FC236}">
                <a16:creationId xmlns:a16="http://schemas.microsoft.com/office/drawing/2014/main" id="{95D2F159-90A3-43B4-94DF-E4E13CF06DD8}"/>
              </a:ext>
            </a:extLst>
          </p:cNvPr>
          <p:cNvSpPr>
            <a:spLocks xmlns:a="http://schemas.openxmlformats.org/drawingml/2006/main" noGrp="1"/>
          </p:cNvSpPr>
          <p:nvPr/>
        </p:nvSpPr>
        <p:spPr>
          <a:xfrm xmlns:a="http://schemas.openxmlformats.org/drawingml/2006/main">
            <a:off x="43148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E10F1BDB-673B-4711-A6EC-7469A4302E01}"/>
              </a:ext>
            </a:extLst>
          </p:cNvPr>
          <p:cNvSpPr>
            <a:spLocks xmlns:a="http://schemas.openxmlformats.org/drawingml/2006/main" noGrp="1"/>
          </p:cNvSpPr>
          <p:nvPr/>
        </p:nvSpPr>
        <p:spPr>
          <a:xfrm xmlns:a="http://schemas.openxmlformats.org/drawingml/2006/main">
            <a:off x="46005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8/8</a:t>
            </a:r>
          </a:p>
        </p:txBody>
      </p:sp>
      <p:sp>
        <p:nvSpPr>
          <p:cNvPr id="12" name="Rectangle 11">
            <a:extLst xmlns:a="http://schemas.openxmlformats.org/drawingml/2006/main">
              <a:ext uri="{FF2B5EF4-FFF2-40B4-BE49-F238E27FC236}">
                <a16:creationId xmlns:a16="http://schemas.microsoft.com/office/drawing/2014/main" id="{38119460-6E68-4D77-9C69-881C10E9C251}"/>
              </a:ext>
            </a:extLst>
          </p:cNvPr>
          <p:cNvSpPr>
            <a:spLocks xmlns:a="http://schemas.openxmlformats.org/drawingml/2006/main" noGrp="1"/>
          </p:cNvSpPr>
          <p:nvPr/>
        </p:nvSpPr>
        <p:spPr>
          <a:xfrm xmlns:a="http://schemas.openxmlformats.org/drawingml/2006/main">
            <a:off x="46005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labelled records correct</a:t>
            </a:r>
          </a:p>
        </p:txBody>
      </p:sp>
      <p:sp>
        <p:nvSpPr>
          <p:cNvPr id="13" name="Rectangle 12">
            <a:extLst xmlns:a="http://schemas.openxmlformats.org/drawingml/2006/main">
              <a:ext uri="{FF2B5EF4-FFF2-40B4-BE49-F238E27FC236}">
                <a16:creationId xmlns:a16="http://schemas.microsoft.com/office/drawing/2014/main" id="{48199DA3-8AE1-4F9E-8672-EA69D5D81413}"/>
              </a:ext>
            </a:extLst>
          </p:cNvPr>
          <p:cNvSpPr>
            <a:spLocks xmlns:a="http://schemas.openxmlformats.org/drawingml/2006/main" noGrp="1"/>
          </p:cNvSpPr>
          <p:nvPr/>
        </p:nvSpPr>
        <p:spPr>
          <a:xfrm xmlns:a="http://schemas.openxmlformats.org/drawingml/2006/main">
            <a:off x="46005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All known eMBB and mMTC test records matched.</a:t>
            </a:r>
          </a:p>
        </p:txBody>
      </p:sp>
      <p:sp>
        <p:nvSpPr>
          <p:cNvPr id="14" name="Rectangle: Rounded Corners 13">
            <a:extLst xmlns:a="http://schemas.openxmlformats.org/drawingml/2006/main">
              <a:ext uri="{FF2B5EF4-FFF2-40B4-BE49-F238E27FC236}">
                <a16:creationId xmlns:a16="http://schemas.microsoft.com/office/drawing/2014/main" id="{01498B58-D6C6-41F2-BB9D-92B7BD427385}"/>
              </a:ext>
            </a:extLst>
          </p:cNvPr>
          <p:cNvSpPr>
            <a:spLocks xmlns:a="http://schemas.openxmlformats.org/drawingml/2006/main" noGrp="1"/>
          </p:cNvSpPr>
          <p:nvPr/>
        </p:nvSpPr>
        <p:spPr>
          <a:xfrm xmlns:a="http://schemas.openxmlformats.org/drawingml/2006/main">
            <a:off x="82391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4A0098F9-8167-4529-A006-E0B9FC3492FF}"/>
              </a:ext>
            </a:extLst>
          </p:cNvPr>
          <p:cNvSpPr>
            <a:spLocks xmlns:a="http://schemas.openxmlformats.org/drawingml/2006/main" noGrp="1"/>
          </p:cNvSpPr>
          <p:nvPr/>
        </p:nvSpPr>
        <p:spPr>
          <a:xfrm xmlns:a="http://schemas.openxmlformats.org/drawingml/2006/main">
            <a:off x="85248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7 + 12</a:t>
            </a:r>
          </a:p>
        </p:txBody>
      </p:sp>
      <p:sp>
        <p:nvSpPr>
          <p:cNvPr id="16" name="Rectangle 15">
            <a:extLst xmlns:a="http://schemas.openxmlformats.org/drawingml/2006/main">
              <a:ext uri="{FF2B5EF4-FFF2-40B4-BE49-F238E27FC236}">
                <a16:creationId xmlns:a16="http://schemas.microsoft.com/office/drawing/2014/main" id="{BB9E1175-CF47-45C3-B187-A7CCBF4852F9}"/>
              </a:ext>
            </a:extLst>
          </p:cNvPr>
          <p:cNvSpPr>
            <a:spLocks xmlns:a="http://schemas.openxmlformats.org/drawingml/2006/main" noGrp="1"/>
          </p:cNvSpPr>
          <p:nvPr/>
        </p:nvSpPr>
        <p:spPr>
          <a:xfrm xmlns:a="http://schemas.openxmlformats.org/drawingml/2006/main">
            <a:off x="85248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held safely</a:t>
            </a:r>
          </a:p>
        </p:txBody>
      </p:sp>
      <p:sp>
        <p:nvSpPr>
          <p:cNvPr id="17" name="Rectangle 16">
            <a:extLst xmlns:a="http://schemas.openxmlformats.org/drawingml/2006/main">
              <a:ext uri="{FF2B5EF4-FFF2-40B4-BE49-F238E27FC236}">
                <a16:creationId xmlns:a16="http://schemas.microsoft.com/office/drawing/2014/main" id="{E5E1FF9F-0ED6-414F-9AA3-716D3AFB53FC}"/>
              </a:ext>
            </a:extLst>
          </p:cNvPr>
          <p:cNvSpPr>
            <a:spLocks xmlns:a="http://schemas.openxmlformats.org/drawingml/2006/main" noGrp="1"/>
          </p:cNvSpPr>
          <p:nvPr/>
        </p:nvSpPr>
        <p:spPr>
          <a:xfrm xmlns:a="http://schemas.openxmlformats.org/drawingml/2006/main">
            <a:off x="85248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7 ambiguous; 12 left unattributed.</a:t>
            </a:r>
          </a:p>
        </p:txBody>
      </p:sp>
      <p:sp>
        <p:nvSpPr>
          <p:cNvPr id="18" name="Rectangle 17">
            <a:extLst xmlns:a="http://schemas.openxmlformats.org/drawingml/2006/main">
              <a:ext uri="{FF2B5EF4-FFF2-40B4-BE49-F238E27FC236}">
                <a16:creationId xmlns:a16="http://schemas.microsoft.com/office/drawing/2014/main" id="{FFAD0E28-F7CE-43F6-AC0B-16E8BE280208}"/>
              </a:ext>
            </a:extLst>
          </p:cNvPr>
          <p:cNvSpPr>
            <a:spLocks xmlns:a="http://schemas.openxmlformats.org/drawingml/2006/main" noGrp="1"/>
          </p:cNvSpPr>
          <p:nvPr/>
        </p:nvSpPr>
        <p:spPr>
          <a:xfrm xmlns:a="http://schemas.openxmlformats.org/drawingml/2006/main">
            <a:off x="400050" y="5857875"/>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11827"/>
                </a:solidFill>
              </a:defRPr>
            </a:pPr>
            <a:r>
              <a:rPr sz="2100" b="1" i="0">
                <a:solidFill>
                  <a:srgbClr val="111827"/>
                </a:solidFill>
              </a:rPr>
              <a:t>Test lab  →  evidence index  →  rule + rationale</a:t>
            </a:r>
          </a:p>
        </p:txBody>
      </p:sp>
    </p:spTree>
    <p:extLst>
      <p:ext uri="{BB962C8B-B14F-4D97-AF65-F5344CB8AC3E}">
        <p14:creationId xmlns:p14="http://schemas.microsoft.com/office/powerpoint/2010/main" val="1280348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DB76CAE0-D039-4080-8FCF-3B37CEB87D71}"/>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TRACEABILITY AND SHARING</a:t>
            </a:r>
          </a:p>
        </p:txBody>
      </p:sp>
      <p:sp>
        <p:nvSpPr>
          <p:cNvPr id="2" name="Rectangle 1">
            <a:extLst xmlns:a="http://schemas.openxmlformats.org/drawingml/2006/main">
              <a:ext uri="{FF2B5EF4-FFF2-40B4-BE49-F238E27FC236}">
                <a16:creationId xmlns:a16="http://schemas.microsoft.com/office/drawing/2014/main" id="{6AE18982-C516-4C2A-985C-F46DA4239472}"/>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 4 is now saved and visible in GitHub</a:t>
            </a:r>
          </a:p>
        </p:txBody>
      </p:sp>
      <p:sp>
        <p:nvSpPr>
          <p:cNvPr id="3" name="Rectangle 2">
            <a:extLst xmlns:a="http://schemas.openxmlformats.org/drawingml/2006/main">
              <a:ext uri="{FF2B5EF4-FFF2-40B4-BE49-F238E27FC236}">
                <a16:creationId xmlns:a16="http://schemas.microsoft.com/office/drawing/2014/main" id="{C4FDA7EF-14AA-44CF-9D62-9294A0DB9227}"/>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8DE2814A-EFC0-4DCC-A719-2FEF6DC3BEF0}"/>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16 AUGUST 2026  |  09</a:t>
            </a:r>
          </a:p>
        </p:txBody>
      </p:sp>
      <p:sp>
        <p:nvSpPr>
          <p:cNvPr id="5" name="Rectangle: Rounded Corners 4">
            <a:extLst xmlns:a="http://schemas.openxmlformats.org/drawingml/2006/main">
              <a:ext uri="{FF2B5EF4-FFF2-40B4-BE49-F238E27FC236}">
                <a16:creationId xmlns:a16="http://schemas.microsoft.com/office/drawing/2014/main" id="{B9212818-96BE-430E-8F17-E3944808C673}"/>
              </a:ext>
            </a:extLst>
          </p:cNvPr>
          <p:cNvSpPr>
            <a:spLocks xmlns:a="http://schemas.openxmlformats.org/drawingml/2006/main" noGrp="1"/>
          </p:cNvSpPr>
          <p:nvPr/>
        </p:nvSpPr>
        <p:spPr>
          <a:xfrm xmlns:a="http://schemas.openxmlformats.org/drawingml/2006/main">
            <a:off x="400050" y="1581150"/>
            <a:ext cx="7620000" cy="4248150"/>
          </a:xfrm>
          <a:prstGeom xmlns:a="http://schemas.openxmlformats.org/drawingml/2006/main" prst="roundRect">
            <a:avLst>
              <a:gd name="adj" fmla="val 2691"/>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26" name="Picture 23"/>
          <p:cNvPicPr>
            <a:picLocks xmlns:a="http://schemas.openxmlformats.org/drawingml/2006/main" noChangeAspect="1"/>
          </p:cNvPicPr>
          <p:nvPr/>
        </p:nvPicPr>
        <p:blipFill>
          <a:blip xmlns:r="http://schemas.openxmlformats.org/officeDocument/2006/relationships" xmlns:a="http://schemas.openxmlformats.org/drawingml/2006/main" r:embed="R4780f8e632c840cc"/>
          <a:stretch xmlns:a="http://schemas.openxmlformats.org/drawingml/2006/main"/>
        </p:blipFill>
        <p:spPr>
          <a:xfrm xmlns:a="http://schemas.openxmlformats.org/drawingml/2006/main">
            <a:off x="571620" y="1657350"/>
            <a:ext cx="7276859" cy="4095750"/>
          </a:xfrm>
          <a:prstGeom xmlns:a="http://schemas.openxmlformats.org/drawingml/2006/main" prst="roundRect">
            <a:avLst>
              <a:gd name="adj" fmla="val 2791"/>
            </a:avLst>
          </a:prstGeom>
        </p:spPr>
      </p:pic>
      <p:sp>
        <p:nvSpPr>
          <p:cNvPr id="7" name="Rectangle 6">
            <a:extLst xmlns:a="http://schemas.openxmlformats.org/drawingml/2006/main">
              <a:ext uri="{FF2B5EF4-FFF2-40B4-BE49-F238E27FC236}">
                <a16:creationId xmlns:a16="http://schemas.microsoft.com/office/drawing/2014/main" id="{4C3C28CA-21FA-4938-BAF8-D64DED89127B}"/>
              </a:ext>
            </a:extLst>
          </p:cNvPr>
          <p:cNvSpPr>
            <a:spLocks xmlns:a="http://schemas.openxmlformats.org/drawingml/2006/main" noGrp="1"/>
          </p:cNvSpPr>
          <p:nvPr/>
        </p:nvSpPr>
        <p:spPr>
          <a:xfrm xmlns:a="http://schemas.openxmlformats.org/drawingml/2006/main">
            <a:off x="8420100" y="1714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What is in the repository</a:t>
            </a:r>
          </a:p>
        </p:txBody>
      </p:sp>
      <p:sp>
        <p:nvSpPr>
          <p:cNvPr id="8" name="Oval 7">
            <a:extLst xmlns:a="http://schemas.openxmlformats.org/drawingml/2006/main">
              <a:ext uri="{FF2B5EF4-FFF2-40B4-BE49-F238E27FC236}">
                <a16:creationId xmlns:a16="http://schemas.microsoft.com/office/drawing/2014/main" id="{B732B104-BE50-4C8B-A9D4-F2DCF5BE9076}"/>
              </a:ext>
            </a:extLst>
          </p:cNvPr>
          <p:cNvSpPr>
            <a:spLocks xmlns:a="http://schemas.openxmlformats.org/drawingml/2006/main" noGrp="1"/>
          </p:cNvSpPr>
          <p:nvPr/>
        </p:nvSpPr>
        <p:spPr>
          <a:xfrm xmlns:a="http://schemas.openxmlformats.org/drawingml/2006/main">
            <a:off x="8420100" y="232410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FF7E56C7-F6CA-4546-8CBB-CB6854CEB545}"/>
              </a:ext>
            </a:extLst>
          </p:cNvPr>
          <p:cNvSpPr>
            <a:spLocks xmlns:a="http://schemas.openxmlformats.org/drawingml/2006/main" noGrp="1"/>
          </p:cNvSpPr>
          <p:nvPr/>
        </p:nvSpPr>
        <p:spPr>
          <a:xfrm xmlns:a="http://schemas.openxmlformats.org/drawingml/2006/main">
            <a:off x="8667750" y="2238375"/>
            <a:ext cx="2743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111827"/>
                </a:solidFill>
              </a:defRPr>
            </a:pPr>
            <a:r>
              <a:rPr sz="1725" b="0" i="0">
                <a:solidFill>
                  <a:srgbClr val="111827"/>
                </a:solidFill>
              </a:rPr>
              <a:t>the C# project</a:t>
            </a:r>
          </a:p>
        </p:txBody>
      </p:sp>
      <p:sp>
        <p:nvSpPr>
          <p:cNvPr id="10" name="Oval 9">
            <a:extLst xmlns:a="http://schemas.openxmlformats.org/drawingml/2006/main">
              <a:ext uri="{FF2B5EF4-FFF2-40B4-BE49-F238E27FC236}">
                <a16:creationId xmlns:a16="http://schemas.microsoft.com/office/drawing/2014/main" id="{6447790F-6453-43FD-B717-3E9CB3702CAB}"/>
              </a:ext>
            </a:extLst>
          </p:cNvPr>
          <p:cNvSpPr>
            <a:spLocks xmlns:a="http://schemas.openxmlformats.org/drawingml/2006/main" noGrp="1"/>
          </p:cNvSpPr>
          <p:nvPr/>
        </p:nvSpPr>
        <p:spPr>
          <a:xfrm xmlns:a="http://schemas.openxmlformats.org/drawingml/2006/main">
            <a:off x="8420100" y="291465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5E845DB9-19D5-4447-A9E1-474B57895838}"/>
              </a:ext>
            </a:extLst>
          </p:cNvPr>
          <p:cNvSpPr>
            <a:spLocks xmlns:a="http://schemas.openxmlformats.org/drawingml/2006/main" noGrp="1"/>
          </p:cNvSpPr>
          <p:nvPr/>
        </p:nvSpPr>
        <p:spPr>
          <a:xfrm xmlns:a="http://schemas.openxmlformats.org/drawingml/2006/main">
            <a:off x="8667750" y="2828925"/>
            <a:ext cx="2743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111827"/>
                </a:solidFill>
              </a:defRPr>
            </a:pPr>
            <a:r>
              <a:rPr sz="1725" b="0" i="0">
                <a:solidFill>
                  <a:srgbClr val="111827"/>
                </a:solidFill>
              </a:rPr>
              <a:t>Docker configuration</a:t>
            </a:r>
          </a:p>
        </p:txBody>
      </p:sp>
      <p:sp>
        <p:nvSpPr>
          <p:cNvPr id="12" name="Oval 11">
            <a:extLst xmlns:a="http://schemas.openxmlformats.org/drawingml/2006/main">
              <a:ext uri="{FF2B5EF4-FFF2-40B4-BE49-F238E27FC236}">
                <a16:creationId xmlns:a16="http://schemas.microsoft.com/office/drawing/2014/main" id="{19EF8E5E-4FCD-4EBB-8B57-8298E5CEEA88}"/>
              </a:ext>
            </a:extLst>
          </p:cNvPr>
          <p:cNvSpPr>
            <a:spLocks xmlns:a="http://schemas.openxmlformats.org/drawingml/2006/main" noGrp="1"/>
          </p:cNvSpPr>
          <p:nvPr/>
        </p:nvSpPr>
        <p:spPr>
          <a:xfrm xmlns:a="http://schemas.openxmlformats.org/drawingml/2006/main">
            <a:off x="8420100" y="350520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C8C87E73-7342-47B4-90F0-76B1F1D6BB4A}"/>
              </a:ext>
            </a:extLst>
          </p:cNvPr>
          <p:cNvSpPr>
            <a:spLocks xmlns:a="http://schemas.openxmlformats.org/drawingml/2006/main" noGrp="1"/>
          </p:cNvSpPr>
          <p:nvPr/>
        </p:nvSpPr>
        <p:spPr>
          <a:xfrm xmlns:a="http://schemas.openxmlformats.org/drawingml/2006/main">
            <a:off x="8667750" y="3419475"/>
            <a:ext cx="2743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111827"/>
                </a:solidFill>
              </a:defRPr>
            </a:pPr>
            <a:r>
              <a:rPr sz="1725" b="0" i="0">
                <a:solidFill>
                  <a:srgbClr val="111827"/>
                </a:solidFill>
              </a:rPr>
              <a:t>Phase 4 rules and reports</a:t>
            </a:r>
          </a:p>
        </p:txBody>
      </p:sp>
      <p:sp>
        <p:nvSpPr>
          <p:cNvPr id="14" name="Oval 13">
            <a:extLst xmlns:a="http://schemas.openxmlformats.org/drawingml/2006/main">
              <a:ext uri="{FF2B5EF4-FFF2-40B4-BE49-F238E27FC236}">
                <a16:creationId xmlns:a16="http://schemas.microsoft.com/office/drawing/2014/main" id="{936FFB70-4C7B-4DF5-8DC0-3C1F54AAB3FF}"/>
              </a:ext>
            </a:extLst>
          </p:cNvPr>
          <p:cNvSpPr>
            <a:spLocks xmlns:a="http://schemas.openxmlformats.org/drawingml/2006/main" noGrp="1"/>
          </p:cNvSpPr>
          <p:nvPr/>
        </p:nvSpPr>
        <p:spPr>
          <a:xfrm xmlns:a="http://schemas.openxmlformats.org/drawingml/2006/main">
            <a:off x="8420100" y="409575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36698555-D78F-4B1D-B904-AF3A7EB6CD70}"/>
              </a:ext>
            </a:extLst>
          </p:cNvPr>
          <p:cNvSpPr>
            <a:spLocks xmlns:a="http://schemas.openxmlformats.org/drawingml/2006/main" noGrp="1"/>
          </p:cNvSpPr>
          <p:nvPr/>
        </p:nvSpPr>
        <p:spPr>
          <a:xfrm xmlns:a="http://schemas.openxmlformats.org/drawingml/2006/main">
            <a:off x="8667750" y="4010025"/>
            <a:ext cx="2743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111827"/>
                </a:solidFill>
              </a:defRPr>
            </a:pPr>
            <a:r>
              <a:rPr sz="1725" b="0" i="0">
                <a:solidFill>
                  <a:srgbClr val="111827"/>
                </a:solidFill>
              </a:rPr>
              <a:t>simple run instructions</a:t>
            </a:r>
          </a:p>
        </p:txBody>
      </p:sp>
      <p:sp>
        <p:nvSpPr>
          <p:cNvPr id="16" name="Rectangle 15">
            <a:extLst xmlns:a="http://schemas.openxmlformats.org/drawingml/2006/main">
              <a:ext uri="{FF2B5EF4-FFF2-40B4-BE49-F238E27FC236}">
                <a16:creationId xmlns:a16="http://schemas.microsoft.com/office/drawing/2014/main" id="{8BB4E273-D5A3-41F9-843C-86B7B17F86A4}"/>
              </a:ext>
            </a:extLst>
          </p:cNvPr>
          <p:cNvSpPr>
            <a:spLocks xmlns:a="http://schemas.openxmlformats.org/drawingml/2006/main" noGrp="1"/>
          </p:cNvSpPr>
          <p:nvPr/>
        </p:nvSpPr>
        <p:spPr>
          <a:xfrm xmlns:a="http://schemas.openxmlformats.org/drawingml/2006/main">
            <a:off x="8420100" y="4762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62D0"/>
                </a:solidFill>
              </a:defRPr>
            </a:pPr>
            <a:r>
              <a:rPr sz="1875" b="1" i="0">
                <a:solidFill>
                  <a:srgbClr val="1E62D0"/>
                </a:solidFill>
              </a:rPr>
              <a:t>Latest update</a:t>
            </a:r>
          </a:p>
        </p:txBody>
      </p:sp>
      <p:sp>
        <p:nvSpPr>
          <p:cNvPr id="17" name="Rectangle 16">
            <a:extLst xmlns:a="http://schemas.openxmlformats.org/drawingml/2006/main">
              <a:ext uri="{FF2B5EF4-FFF2-40B4-BE49-F238E27FC236}">
                <a16:creationId xmlns:a16="http://schemas.microsoft.com/office/drawing/2014/main" id="{29DDF0E0-C283-4917-A048-469A428A3916}"/>
              </a:ext>
            </a:extLst>
          </p:cNvPr>
          <p:cNvSpPr>
            <a:spLocks xmlns:a="http://schemas.openxmlformats.org/drawingml/2006/main" noGrp="1"/>
          </p:cNvSpPr>
          <p:nvPr/>
        </p:nvSpPr>
        <p:spPr>
          <a:xfrm xmlns:a="http://schemas.openxmlformats.org/drawingml/2006/main">
            <a:off x="8420100" y="514350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56070"/>
                </a:solidFill>
              </a:defRPr>
            </a:pPr>
            <a:r>
              <a:rPr sz="1575" b="0" i="0">
                <a:solidFill>
                  <a:srgbClr val="556070"/>
                </a:solidFill>
              </a:rPr>
              <a:t>Commit 938d1cf on main includes the Phase 4 implementation.</a:t>
            </a:r>
          </a:p>
        </p:txBody>
      </p:sp>
      <p:sp>
        <p:nvSpPr>
          <p:cNvPr id="18" name="Rectangle 17">
            <a:extLst xmlns:a="http://schemas.openxmlformats.org/drawingml/2006/main">
              <a:ext uri="{FF2B5EF4-FFF2-40B4-BE49-F238E27FC236}">
                <a16:creationId xmlns:a16="http://schemas.microsoft.com/office/drawing/2014/main" id="{8521E8B0-1016-4938-B714-35DE83791A32}"/>
              </a:ext>
            </a:extLst>
          </p:cNvPr>
          <p:cNvSpPr>
            <a:spLocks xmlns:a="http://schemas.openxmlformats.org/drawingml/2006/main" noGrp="1"/>
          </p:cNvSpPr>
          <p:nvPr/>
        </p:nvSpPr>
        <p:spPr>
          <a:xfrm xmlns:a="http://schemas.openxmlformats.org/drawingml/2006/main">
            <a:off x="400050" y="6000750"/>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E62D0"/>
                </a:solidFill>
              </a:defRPr>
            </a:pPr>
            <a:r>
              <a:rPr sz="1200" b="0" i="0">
                <a:solidFill>
                  <a:srgbClr val="1E62D0"/>
                </a:solidFill>
              </a:rPr>
              <a:t>github.com/glen-mukota/adaptive-forensic-framework-5g-network-slicing</a:t>
            </a:r>
          </a:p>
        </p:txBody>
      </p:sp>
    </p:spTree>
    <p:extLst>
      <p:ext uri="{BB962C8B-B14F-4D97-AF65-F5344CB8AC3E}">
        <p14:creationId xmlns:p14="http://schemas.microsoft.com/office/powerpoint/2010/main" val="1378745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E253805-AF26-46DE-910C-E97438ED8C83}"/>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COMPLETED IMPLEMENTATION PATH</a:t>
            </a:r>
          </a:p>
        </p:txBody>
      </p:sp>
      <p:sp>
        <p:nvSpPr>
          <p:cNvPr id="2" name="Rectangle 1">
            <a:extLst xmlns:a="http://schemas.openxmlformats.org/drawingml/2006/main">
              <a:ext uri="{FF2B5EF4-FFF2-40B4-BE49-F238E27FC236}">
                <a16:creationId xmlns:a16="http://schemas.microsoft.com/office/drawing/2014/main" id="{5CF8825C-4755-4552-95DB-43DB8027CDCD}"/>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final three planned steps are complete</a:t>
            </a:r>
          </a:p>
        </p:txBody>
      </p:sp>
      <p:sp>
        <p:nvSpPr>
          <p:cNvPr id="3" name="Rectangle 2">
            <a:extLst xmlns:a="http://schemas.openxmlformats.org/drawingml/2006/main">
              <a:ext uri="{FF2B5EF4-FFF2-40B4-BE49-F238E27FC236}">
                <a16:creationId xmlns:a16="http://schemas.microsoft.com/office/drawing/2014/main" id="{D1E06D69-DA64-43AD-BA7F-6F559D4A1E01}"/>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6C489429-138D-421F-AC9A-07FF081F2A3F}"/>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10</a:t>
            </a:r>
          </a:p>
        </p:txBody>
      </p:sp>
      <p:sp>
        <p:nvSpPr>
          <p:cNvPr id="5" name="Rectangle 4">
            <a:extLst xmlns:a="http://schemas.openxmlformats.org/drawingml/2006/main">
              <a:ext uri="{FF2B5EF4-FFF2-40B4-BE49-F238E27FC236}">
                <a16:creationId xmlns:a16="http://schemas.microsoft.com/office/drawing/2014/main" id="{DB1AB030-53C0-4613-ADB1-AFD2C348A31C}"/>
              </a:ext>
            </a:extLst>
          </p:cNvPr>
          <p:cNvSpPr>
            <a:spLocks xmlns:a="http://schemas.openxmlformats.org/drawingml/2006/main" noGrp="1"/>
          </p:cNvSpPr>
          <p:nvPr/>
        </p:nvSpPr>
        <p:spPr>
          <a:xfrm xmlns:a="http://schemas.openxmlformats.org/drawingml/2006/main">
            <a:off x="400050" y="147637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The prototype now connects its live laboratory, retained evidence, approved adaptation and controlled evaluation into one reproducible path.</a:t>
            </a:r>
          </a:p>
        </p:txBody>
      </p:sp>
      <p:graphicFrame>
        <p:nvGraphicFramePr>
          <p:cNvPr id="16" name="Table 13"/>
          <p:cNvGraphicFramePr/>
          <p:nvPr/>
        </p:nvGraphicFramePr>
        <p:xfrm>
          <a:off xmlns:a="http://schemas.openxmlformats.org/drawingml/2006/main" x="400050" y="2238375"/>
          <a:ext xmlns:a="http://schemas.openxmlformats.org/drawingml/2006/main" cx="11391900" cy="3143252"/>
        </p:xfrm>
        <a:graphic xmlns:a="http://schemas.openxmlformats.org/drawingml/2006/main">
          <a:graphicData uri="http://schemas.openxmlformats.org/drawingml/2006/table">
            <a:tbl>
              <a:tblPr firstRow="1" bandRow="1"/>
              <a:tblGrid>
                <a:gridCol w="2476500"/>
                <a:gridCol w="4905375"/>
                <a:gridCol w="4010025"/>
              </a:tblGrid>
              <a:tr h="785813">
                <a:tc>
                  <a:txBody>
                    <a:bodyPr/>
                    <a:lstStyle/>
                    <a:p>
                      <a:r>
                        <a:rPr sz="1650" b="1">
                          <a:solidFill>
                            <a:srgbClr val="FFFFFF"/>
                          </a:solidFill>
                        </a:rPr>
                        <a:t>Phase</a:t>
                      </a:r>
                    </a:p>
                  </a:txBody>
                  <a:tcPr marL="91440" marR="91440" marT="45720" marB="45720">
                    <a:solidFill>
                      <a:srgbClr val="1E62D0"/>
                    </a:solidFill>
                  </a:tcPr>
                </a:tc>
                <a:tc>
                  <a:txBody>
                    <a:bodyPr/>
                    <a:lstStyle/>
                    <a:p>
                      <a:r>
                        <a:rPr sz="1650" b="1">
                          <a:solidFill>
                            <a:srgbClr val="FFFFFF"/>
                          </a:solidFill>
                        </a:rPr>
                        <a:t>Meaning</a:t>
                      </a:r>
                    </a:p>
                  </a:txBody>
                  <a:tcPr marL="91440" marR="91440" marT="45720" marB="45720">
                    <a:solidFill>
                      <a:srgbClr val="1E62D0"/>
                    </a:solidFill>
                  </a:tcPr>
                </a:tc>
                <a:tc>
                  <a:txBody>
                    <a:bodyPr/>
                    <a:lstStyle/>
                    <a:p>
                      <a:r>
                        <a:rPr sz="1650" b="1">
                          <a:solidFill>
                            <a:srgbClr val="FFFFFF"/>
                          </a:solidFill>
                        </a:rPr>
                        <a:t>Evidence available</a:t>
                      </a:r>
                    </a:p>
                  </a:txBody>
                  <a:tcPr marL="91440" marR="91440" marT="45720" marB="45720">
                    <a:solidFill>
                      <a:srgbClr val="1E62D0"/>
                    </a:solidFill>
                  </a:tcPr>
                </a:tc>
              </a:tr>
              <a:tr h="785813">
                <a:tc>
                  <a:txBody>
                    <a:bodyPr/>
                    <a:lstStyle/>
                    <a:p>
                      <a:r>
                        <a:rPr sz="1575">
                          <a:solidFill>
                            <a:srgbClr val="111827"/>
                          </a:solidFill>
                        </a:rPr>
                        <a:t>Phase 4</a:t>
                      </a:r>
                    </a:p>
                  </a:txBody>
                  <a:tcPr marL="91440" marR="91440" marT="45720" marB="45720"/>
                </a:tc>
                <a:tc>
                  <a:txBody>
                    <a:bodyPr/>
                    <a:lstStyle/>
                    <a:p>
                      <a:r>
                        <a:rPr sz="1575">
                          <a:solidFill>
                            <a:srgbClr val="111827"/>
                          </a:solidFill>
                        </a:rPr>
                        <a:t>Explain each slice decision</a:t>
                      </a:r>
                    </a:p>
                  </a:txBody>
                  <a:tcPr marL="91440" marR="91440" marT="45720" marB="45720"/>
                </a:tc>
                <a:tc>
                  <a:txBody>
                    <a:bodyPr/>
                    <a:lstStyle/>
                    <a:p>
                      <a:r>
                        <a:rPr sz="1575">
                          <a:solidFill>
                            <a:srgbClr val="111827"/>
                          </a:solidFill>
                        </a:rPr>
                        <a:t>27 records; 8/8 labelled cases correct</a:t>
                      </a:r>
                    </a:p>
                  </a:txBody>
                  <a:tcPr marL="91440" marR="91440" marT="45720" marB="45720"/>
                </a:tc>
              </a:tr>
              <a:tr h="785813">
                <a:tc>
                  <a:txBody>
                    <a:bodyPr/>
                    <a:lstStyle/>
                    <a:p>
                      <a:r>
                        <a:rPr sz="1575">
                          <a:solidFill>
                            <a:srgbClr val="111827"/>
                          </a:solidFill>
                        </a:rPr>
                        <a:t>Phase 5</a:t>
                      </a:r>
                    </a:p>
                  </a:txBody>
                  <a:tcPr marL="91440" marR="91440" marT="45720" marB="45720"/>
                </a:tc>
                <a:tc>
                  <a:txBody>
                    <a:bodyPr/>
                    <a:lstStyle/>
                    <a:p>
                      <a:r>
                        <a:rPr sz="1575">
                          <a:solidFill>
                            <a:srgbClr val="111827"/>
                          </a:solidFill>
                        </a:rPr>
                        <a:t>Protect and adapt evidence</a:t>
                      </a:r>
                    </a:p>
                  </a:txBody>
                  <a:tcPr marL="91440" marR="91440" marT="45720" marB="45720"/>
                </a:tc>
                <a:tc>
                  <a:txBody>
                    <a:bodyPr/>
                    <a:lstStyle/>
                    <a:p>
                      <a:r>
                        <a:rPr sz="1575">
                          <a:solidFill>
                            <a:srgbClr val="111827"/>
                          </a:solidFill>
                        </a:rPr>
                        <a:t>2 approved updates; 27/27 hashes verified</a:t>
                      </a:r>
                    </a:p>
                  </a:txBody>
                  <a:tcPr marL="91440" marR="91440" marT="45720" marB="45720"/>
                </a:tc>
              </a:tr>
              <a:tr h="785813">
                <a:tc>
                  <a:txBody>
                    <a:bodyPr/>
                    <a:lstStyle/>
                    <a:p>
                      <a:r>
                        <a:rPr sz="1575">
                          <a:solidFill>
                            <a:srgbClr val="111827"/>
                          </a:solidFill>
                        </a:rPr>
                        <a:t>Phase 6</a:t>
                      </a:r>
                    </a:p>
                  </a:txBody>
                  <a:tcPr marL="91440" marR="91440" marT="45720" marB="45720"/>
                </a:tc>
                <a:tc>
                  <a:txBody>
                    <a:bodyPr/>
                    <a:lstStyle/>
                    <a:p>
                      <a:r>
                        <a:rPr sz="1575">
                          <a:solidFill>
                            <a:srgbClr val="111827"/>
                          </a:solidFill>
                        </a:rPr>
                        <a:t>Evaluate known scenarios</a:t>
                      </a:r>
                    </a:p>
                  </a:txBody>
                  <a:tcPr marL="91440" marR="91440" marT="45720" marB="45720"/>
                </a:tc>
                <a:tc>
                  <a:txBody>
                    <a:bodyPr/>
                    <a:lstStyle/>
                    <a:p>
                      <a:r>
                        <a:rPr sz="1575">
                          <a:solidFill>
                            <a:srgbClr val="111827"/>
                          </a:solidFill>
                        </a:rPr>
                        <a:t>5/5 scenarios; 6/6 measures passed</a:t>
                      </a:r>
                    </a:p>
                  </a:txBody>
                  <a:tcPr marL="91440" marR="91440" marT="45720" marB="45720"/>
                </a:tc>
              </a:tr>
            </a:tbl>
          </a:graphicData>
        </a:graphic>
      </p:graphicFrame>
      <p:sp>
        <p:nvSpPr>
          <p:cNvPr id="7" name="Rectangle: Rounded Corners 6">
            <a:extLst xmlns:a="http://schemas.openxmlformats.org/drawingml/2006/main">
              <a:ext uri="{FF2B5EF4-FFF2-40B4-BE49-F238E27FC236}">
                <a16:creationId xmlns:a16="http://schemas.microsoft.com/office/drawing/2014/main" id="{DBE0B6CD-2055-426F-9DB5-FBD1FDB0F472}"/>
              </a:ext>
            </a:extLst>
          </p:cNvPr>
          <p:cNvSpPr>
            <a:spLocks xmlns:a="http://schemas.openxmlformats.org/drawingml/2006/main" noGrp="1"/>
          </p:cNvSpPr>
          <p:nvPr/>
        </p:nvSpPr>
        <p:spPr>
          <a:xfrm xmlns:a="http://schemas.openxmlformats.org/drawingml/2006/main">
            <a:off x="400050" y="5676900"/>
            <a:ext cx="11391900" cy="400050"/>
          </a:xfrm>
          <a:prstGeom xmlns:a="http://schemas.openxmlformats.org/drawingml/2006/main" prst="roundRect">
            <a:avLst>
              <a:gd name="adj" fmla="val 19048"/>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A07F7DFD-AF08-4A84-BFCD-F9ED814B9988}"/>
              </a:ext>
            </a:extLst>
          </p:cNvPr>
          <p:cNvSpPr>
            <a:spLocks xmlns:a="http://schemas.openxmlformats.org/drawingml/2006/main" noGrp="1"/>
          </p:cNvSpPr>
          <p:nvPr/>
        </p:nvSpPr>
        <p:spPr>
          <a:xfrm xmlns:a="http://schemas.openxmlformats.org/drawingml/2006/main">
            <a:off x="590550" y="57816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E62D0"/>
                </a:solidFill>
              </a:defRPr>
            </a:pPr>
            <a:r>
              <a:rPr sz="1500" b="1" i="0">
                <a:solidFill>
                  <a:srgbClr val="1E62D0"/>
                </a:solidFill>
              </a:rPr>
              <a:t>Demonstration focus: start the laboratory, run the six steps, then inspect the retained evaluation evidence.</a:t>
            </a:r>
          </a:p>
        </p:txBody>
      </p:sp>
    </p:spTree>
    <p:extLst>
      <p:ext uri="{BB962C8B-B14F-4D97-AF65-F5344CB8AC3E}">
        <p14:creationId xmlns:p14="http://schemas.microsoft.com/office/powerpoint/2010/main" val="21370659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093AC282-58D5-40B7-8E7D-710A25B67C6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PHASE 5 ACCEPTANCE</a:t>
            </a:r>
          </a:p>
        </p:txBody>
      </p:sp>
      <p:sp>
        <p:nvSpPr>
          <p:cNvPr id="2" name="Rectangle 1">
            <a:extLst xmlns:a="http://schemas.openxmlformats.org/drawingml/2006/main">
              <a:ext uri="{FF2B5EF4-FFF2-40B4-BE49-F238E27FC236}">
                <a16:creationId xmlns:a16="http://schemas.microsoft.com/office/drawing/2014/main" id="{2FC15BA6-BC82-4981-99C4-CE80F366B9DE}"/>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Phase 5 adapts collection and protects each record</a:t>
            </a:r>
          </a:p>
        </p:txBody>
      </p:sp>
      <p:sp>
        <p:nvSpPr>
          <p:cNvPr id="3" name="Rectangle 2">
            <a:extLst xmlns:a="http://schemas.openxmlformats.org/drawingml/2006/main">
              <a:ext uri="{FF2B5EF4-FFF2-40B4-BE49-F238E27FC236}">
                <a16:creationId xmlns:a16="http://schemas.microsoft.com/office/drawing/2014/main" id="{AE21976C-8499-45AA-98A4-1EE1CB3569F0}"/>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E2EAAD-04A1-4C85-B928-3FDC4F59785E}"/>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22 AUGUST 2026  |  11</a:t>
            </a:r>
          </a:p>
        </p:txBody>
      </p:sp>
      <p:sp>
        <p:nvSpPr>
          <p:cNvPr id="5" name="Rectangle 4">
            <a:extLst xmlns:a="http://schemas.openxmlformats.org/drawingml/2006/main">
              <a:ext uri="{FF2B5EF4-FFF2-40B4-BE49-F238E27FC236}">
                <a16:creationId xmlns:a16="http://schemas.microsoft.com/office/drawing/2014/main" id="{062A7E23-5AF0-44AC-A21E-B9CC4008E3B8}"/>
              </a:ext>
            </a:extLst>
          </p:cNvPr>
          <p:cNvSpPr>
            <a:spLocks xmlns:a="http://schemas.openxmlformats.org/drawingml/2006/main" noGrp="1"/>
          </p:cNvSpPr>
          <p:nvPr/>
        </p:nvSpPr>
        <p:spPr>
          <a:xfrm xmlns:a="http://schemas.openxmlformats.org/drawingml/2006/main">
            <a:off x="400050" y="15430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An approved rule raises collection priority only for attributed traffic. Original evidence is not changed.</a:t>
            </a:r>
          </a:p>
        </p:txBody>
      </p:sp>
      <p:sp>
        <p:nvSpPr>
          <p:cNvPr id="6" name="Rectangle: Rounded Corners 5">
            <a:extLst xmlns:a="http://schemas.openxmlformats.org/drawingml/2006/main">
              <a:ext uri="{FF2B5EF4-FFF2-40B4-BE49-F238E27FC236}">
                <a16:creationId xmlns:a16="http://schemas.microsoft.com/office/drawing/2014/main" id="{3E169C23-5DD8-4164-AFE6-7FC645EA7C75}"/>
              </a:ext>
            </a:extLst>
          </p:cNvPr>
          <p:cNvSpPr>
            <a:spLocks xmlns:a="http://schemas.openxmlformats.org/drawingml/2006/main" noGrp="1"/>
          </p:cNvSpPr>
          <p:nvPr/>
        </p:nvSpPr>
        <p:spPr>
          <a:xfrm xmlns:a="http://schemas.openxmlformats.org/drawingml/2006/main">
            <a:off x="400050"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794368B1-6FEC-4354-8646-E97880C06729}"/>
              </a:ext>
            </a:extLst>
          </p:cNvPr>
          <p:cNvSpPr>
            <a:spLocks xmlns:a="http://schemas.openxmlformats.org/drawingml/2006/main" noGrp="1"/>
          </p:cNvSpPr>
          <p:nvPr/>
        </p:nvSpPr>
        <p:spPr>
          <a:xfrm xmlns:a="http://schemas.openxmlformats.org/drawingml/2006/main">
            <a:off x="685800"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a:t>
            </a:r>
          </a:p>
        </p:txBody>
      </p:sp>
      <p:sp>
        <p:nvSpPr>
          <p:cNvPr id="8" name="Rectangle 7">
            <a:extLst xmlns:a="http://schemas.openxmlformats.org/drawingml/2006/main">
              <a:ext uri="{FF2B5EF4-FFF2-40B4-BE49-F238E27FC236}">
                <a16:creationId xmlns:a16="http://schemas.microsoft.com/office/drawing/2014/main" id="{EAF1B148-FFE2-427D-8976-FA62BACBF11B}"/>
              </a:ext>
            </a:extLst>
          </p:cNvPr>
          <p:cNvSpPr>
            <a:spLocks xmlns:a="http://schemas.openxmlformats.org/drawingml/2006/main" noGrp="1"/>
          </p:cNvSpPr>
          <p:nvPr/>
        </p:nvSpPr>
        <p:spPr>
          <a:xfrm xmlns:a="http://schemas.openxmlformats.org/drawingml/2006/main">
            <a:off x="685800"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approved priority updates</a:t>
            </a:r>
          </a:p>
        </p:txBody>
      </p:sp>
      <p:sp>
        <p:nvSpPr>
          <p:cNvPr id="9" name="Rectangle 8">
            <a:extLst xmlns:a="http://schemas.openxmlformats.org/drawingml/2006/main">
              <a:ext uri="{FF2B5EF4-FFF2-40B4-BE49-F238E27FC236}">
                <a16:creationId xmlns:a16="http://schemas.microsoft.com/office/drawing/2014/main" id="{034DB9BB-1ADB-4AFD-A47C-2D98F0FE8DC7}"/>
              </a:ext>
            </a:extLst>
          </p:cNvPr>
          <p:cNvSpPr>
            <a:spLocks xmlns:a="http://schemas.openxmlformats.org/drawingml/2006/main" noGrp="1"/>
          </p:cNvSpPr>
          <p:nvPr/>
        </p:nvSpPr>
        <p:spPr>
          <a:xfrm xmlns:a="http://schemas.openxmlformats.org/drawingml/2006/main">
            <a:off x="685800"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eMBB and mMTC traffic each triggered the approved rule.</a:t>
            </a:r>
          </a:p>
        </p:txBody>
      </p:sp>
      <p:sp>
        <p:nvSpPr>
          <p:cNvPr id="10" name="Rectangle: Rounded Corners 9">
            <a:extLst xmlns:a="http://schemas.openxmlformats.org/drawingml/2006/main">
              <a:ext uri="{FF2B5EF4-FFF2-40B4-BE49-F238E27FC236}">
                <a16:creationId xmlns:a16="http://schemas.microsoft.com/office/drawing/2014/main" id="{95D2F159-90A3-43B4-94DF-E4E13CF06DD8}"/>
              </a:ext>
            </a:extLst>
          </p:cNvPr>
          <p:cNvSpPr>
            <a:spLocks xmlns:a="http://schemas.openxmlformats.org/drawingml/2006/main" noGrp="1"/>
          </p:cNvSpPr>
          <p:nvPr/>
        </p:nvSpPr>
        <p:spPr>
          <a:xfrm xmlns:a="http://schemas.openxmlformats.org/drawingml/2006/main">
            <a:off x="43148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E10F1BDB-673B-4711-A6EC-7469A4302E01}"/>
              </a:ext>
            </a:extLst>
          </p:cNvPr>
          <p:cNvSpPr>
            <a:spLocks xmlns:a="http://schemas.openxmlformats.org/drawingml/2006/main" noGrp="1"/>
          </p:cNvSpPr>
          <p:nvPr/>
        </p:nvSpPr>
        <p:spPr>
          <a:xfrm xmlns:a="http://schemas.openxmlformats.org/drawingml/2006/main">
            <a:off x="46005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27/27</a:t>
            </a:r>
          </a:p>
        </p:txBody>
      </p:sp>
      <p:sp>
        <p:nvSpPr>
          <p:cNvPr id="12" name="Rectangle 11">
            <a:extLst xmlns:a="http://schemas.openxmlformats.org/drawingml/2006/main">
              <a:ext uri="{FF2B5EF4-FFF2-40B4-BE49-F238E27FC236}">
                <a16:creationId xmlns:a16="http://schemas.microsoft.com/office/drawing/2014/main" id="{38119460-6E68-4D77-9C69-881C10E9C251}"/>
              </a:ext>
            </a:extLst>
          </p:cNvPr>
          <p:cNvSpPr>
            <a:spLocks xmlns:a="http://schemas.openxmlformats.org/drawingml/2006/main" noGrp="1"/>
          </p:cNvSpPr>
          <p:nvPr/>
        </p:nvSpPr>
        <p:spPr>
          <a:xfrm xmlns:a="http://schemas.openxmlformats.org/drawingml/2006/main">
            <a:off x="46005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SHA-256 checks matched</a:t>
            </a:r>
          </a:p>
        </p:txBody>
      </p:sp>
      <p:sp>
        <p:nvSpPr>
          <p:cNvPr id="13" name="Rectangle 12">
            <a:extLst xmlns:a="http://schemas.openxmlformats.org/drawingml/2006/main">
              <a:ext uri="{FF2B5EF4-FFF2-40B4-BE49-F238E27FC236}">
                <a16:creationId xmlns:a16="http://schemas.microsoft.com/office/drawing/2014/main" id="{48199DA3-8AE1-4F9E-8672-EA69D5D81413}"/>
              </a:ext>
            </a:extLst>
          </p:cNvPr>
          <p:cNvSpPr>
            <a:spLocks xmlns:a="http://schemas.openxmlformats.org/drawingml/2006/main" noGrp="1"/>
          </p:cNvSpPr>
          <p:nvPr/>
        </p:nvSpPr>
        <p:spPr>
          <a:xfrm xmlns:a="http://schemas.openxmlformats.org/drawingml/2006/main">
            <a:off x="46005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Each source matched when it was checked after collection.</a:t>
            </a:r>
          </a:p>
        </p:txBody>
      </p:sp>
      <p:sp>
        <p:nvSpPr>
          <p:cNvPr id="14" name="Rectangle: Rounded Corners 13">
            <a:extLst xmlns:a="http://schemas.openxmlformats.org/drawingml/2006/main">
              <a:ext uri="{FF2B5EF4-FFF2-40B4-BE49-F238E27FC236}">
                <a16:creationId xmlns:a16="http://schemas.microsoft.com/office/drawing/2014/main" id="{01498B58-D6C6-41F2-BB9D-92B7BD427385}"/>
              </a:ext>
            </a:extLst>
          </p:cNvPr>
          <p:cNvSpPr>
            <a:spLocks xmlns:a="http://schemas.openxmlformats.org/drawingml/2006/main" noGrp="1"/>
          </p:cNvSpPr>
          <p:nvPr/>
        </p:nvSpPr>
        <p:spPr>
          <a:xfrm xmlns:a="http://schemas.openxmlformats.org/drawingml/2006/main">
            <a:off x="82391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4A0098F9-8167-4529-A006-E0B9FC3492FF}"/>
              </a:ext>
            </a:extLst>
          </p:cNvPr>
          <p:cNvSpPr>
            <a:spLocks xmlns:a="http://schemas.openxmlformats.org/drawingml/2006/main" noGrp="1"/>
          </p:cNvSpPr>
          <p:nvPr/>
        </p:nvSpPr>
        <p:spPr>
          <a:xfrm xmlns:a="http://schemas.openxmlformats.org/drawingml/2006/main">
            <a:off x="85248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27/27</a:t>
            </a:r>
          </a:p>
        </p:txBody>
      </p:sp>
      <p:sp>
        <p:nvSpPr>
          <p:cNvPr id="16" name="Rectangle 15">
            <a:extLst xmlns:a="http://schemas.openxmlformats.org/drawingml/2006/main">
              <a:ext uri="{FF2B5EF4-FFF2-40B4-BE49-F238E27FC236}">
                <a16:creationId xmlns:a16="http://schemas.microsoft.com/office/drawing/2014/main" id="{BB9E1175-CF47-45C3-B187-A7CCBF4852F9}"/>
              </a:ext>
            </a:extLst>
          </p:cNvPr>
          <p:cNvSpPr>
            <a:spLocks xmlns:a="http://schemas.openxmlformats.org/drawingml/2006/main" noGrp="1"/>
          </p:cNvSpPr>
          <p:nvPr/>
        </p:nvSpPr>
        <p:spPr>
          <a:xfrm xmlns:a="http://schemas.openxmlformats.org/drawingml/2006/main">
            <a:off x="85248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complete custody records</a:t>
            </a:r>
          </a:p>
        </p:txBody>
      </p:sp>
      <p:sp>
        <p:nvSpPr>
          <p:cNvPr id="17" name="Rectangle 16">
            <a:extLst xmlns:a="http://schemas.openxmlformats.org/drawingml/2006/main">
              <a:ext uri="{FF2B5EF4-FFF2-40B4-BE49-F238E27FC236}">
                <a16:creationId xmlns:a16="http://schemas.microsoft.com/office/drawing/2014/main" id="{E5E1FF9F-0ED6-414F-9AA3-716D3AFB53FC}"/>
              </a:ext>
            </a:extLst>
          </p:cNvPr>
          <p:cNvSpPr>
            <a:spLocks xmlns:a="http://schemas.openxmlformats.org/drawingml/2006/main" noGrp="1"/>
          </p:cNvSpPr>
          <p:nvPr/>
        </p:nvSpPr>
        <p:spPr>
          <a:xfrm xmlns:a="http://schemas.openxmlformats.org/drawingml/2006/main">
            <a:off x="85248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Each record has source, collector, action, time, hash and storage location.</a:t>
            </a:r>
          </a:p>
        </p:txBody>
      </p:sp>
      <p:sp>
        <p:nvSpPr>
          <p:cNvPr id="18" name="Rectangle 17">
            <a:extLst xmlns:a="http://schemas.openxmlformats.org/drawingml/2006/main">
              <a:ext uri="{FF2B5EF4-FFF2-40B4-BE49-F238E27FC236}">
                <a16:creationId xmlns:a16="http://schemas.microsoft.com/office/drawing/2014/main" id="{FFAD0E28-F7CE-43F6-AC0B-16E8BE280208}"/>
              </a:ext>
            </a:extLst>
          </p:cNvPr>
          <p:cNvSpPr>
            <a:spLocks xmlns:a="http://schemas.openxmlformats.org/drawingml/2006/main" noGrp="1"/>
          </p:cNvSpPr>
          <p:nvPr/>
        </p:nvSpPr>
        <p:spPr>
          <a:xfrm xmlns:a="http://schemas.openxmlformats.org/drawingml/2006/main">
            <a:off x="400050" y="5857875"/>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11827"/>
                </a:solidFill>
              </a:defRPr>
            </a:pPr>
            <a:r>
              <a:rPr sz="2100" b="1" i="0">
                <a:solidFill>
                  <a:srgbClr val="111827"/>
                </a:solidFill>
              </a:rPr>
              <a:t>Test lab  →  attribution  →  approved rule  →  hash + custody</a:t>
            </a:r>
          </a:p>
        </p:txBody>
      </p:sp>
    </p:spTree>
    <p:extLst>
      <p:ext uri="{BB962C8B-B14F-4D97-AF65-F5344CB8AC3E}">
        <p14:creationId xmlns:p14="http://schemas.microsoft.com/office/powerpoint/2010/main" val="1280348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E253805-AF26-46DE-910C-E97438ED8C83}"/>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CURRENT POSITION</a:t>
            </a:r>
          </a:p>
        </p:txBody>
      </p:sp>
      <p:sp>
        <p:nvSpPr>
          <p:cNvPr id="2" name="Rectangle 1">
            <a:extLst xmlns:a="http://schemas.openxmlformats.org/drawingml/2006/main">
              <a:ext uri="{FF2B5EF4-FFF2-40B4-BE49-F238E27FC236}">
                <a16:creationId xmlns:a16="http://schemas.microsoft.com/office/drawing/2014/main" id="{5CF8825C-4755-4552-95DB-43DB8027CDCD}"/>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six planned prototype steps are complete</a:t>
            </a:r>
          </a:p>
        </p:txBody>
      </p:sp>
      <p:sp>
        <p:nvSpPr>
          <p:cNvPr id="3" name="Rectangle 2">
            <a:extLst xmlns:a="http://schemas.openxmlformats.org/drawingml/2006/main">
              <a:ext uri="{FF2B5EF4-FFF2-40B4-BE49-F238E27FC236}">
                <a16:creationId xmlns:a16="http://schemas.microsoft.com/office/drawing/2014/main" id="{D1E06D69-DA64-43AD-BA7F-6F559D4A1E01}"/>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6C489429-138D-421F-AC9A-07FF081F2A3F}"/>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13</a:t>
            </a:r>
          </a:p>
        </p:txBody>
      </p:sp>
      <p:sp>
        <p:nvSpPr>
          <p:cNvPr id="5" name="Rectangle 4">
            <a:extLst xmlns:a="http://schemas.openxmlformats.org/drawingml/2006/main">
              <a:ext uri="{FF2B5EF4-FFF2-40B4-BE49-F238E27FC236}">
                <a16:creationId xmlns:a16="http://schemas.microsoft.com/office/drawing/2014/main" id="{DB1AB030-53C0-4613-ADB1-AFD2C348A31C}"/>
              </a:ext>
            </a:extLst>
          </p:cNvPr>
          <p:cNvSpPr>
            <a:spLocks xmlns:a="http://schemas.openxmlformats.org/drawingml/2006/main" noGrp="1"/>
          </p:cNvSpPr>
          <p:nvPr/>
        </p:nvSpPr>
        <p:spPr>
          <a:xfrm xmlns:a="http://schemas.openxmlformats.org/drawingml/2006/main">
            <a:off x="400050" y="147637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The controlled evaluation passed all five scenarios and six measures. The next meeting can demonstrate the working prototype.</a:t>
            </a:r>
          </a:p>
        </p:txBody>
      </p:sp>
      <p:graphicFrame>
        <p:nvGraphicFramePr>
          <p:cNvPr id="16" name="Table 13"/>
          <p:cNvGraphicFramePr/>
          <p:nvPr/>
        </p:nvGraphicFramePr>
        <p:xfrm>
          <a:off xmlns:a="http://schemas.openxmlformats.org/drawingml/2006/main" x="400050" y="2238375"/>
          <a:ext xmlns:a="http://schemas.openxmlformats.org/drawingml/2006/main" cx="11391900" cy="3143252"/>
        </p:xfrm>
        <a:graphic xmlns:a="http://schemas.openxmlformats.org/drawingml/2006/main">
          <a:graphicData uri="http://schemas.openxmlformats.org/drawingml/2006/table">
            <a:tbl>
              <a:tblPr firstRow="1" bandRow="1"/>
              <a:tblGrid>
                <a:gridCol w="2476500"/>
                <a:gridCol w="4905375"/>
                <a:gridCol w="4010025"/>
              </a:tblGrid>
              <a:tr h="785813">
                <a:tc>
                  <a:txBody>
                    <a:bodyPr/>
                    <a:lstStyle/>
                    <a:p>
                      <a:r>
                        <a:rPr sz="1650" b="1">
                          <a:solidFill>
                            <a:srgbClr val="FFFFFF"/>
                          </a:solidFill>
                        </a:rPr>
                        <a:t>Phase</a:t>
                      </a:r>
                    </a:p>
                  </a:txBody>
                  <a:tcPr marL="91440" marR="91440" marT="45720" marB="45720">
                    <a:solidFill>
                      <a:srgbClr val="1E62D0"/>
                    </a:solidFill>
                  </a:tcPr>
                </a:tc>
                <a:tc>
                  <a:txBody>
                    <a:bodyPr/>
                    <a:lstStyle/>
                    <a:p>
                      <a:r>
                        <a:rPr sz="1650" b="1">
                          <a:solidFill>
                            <a:srgbClr val="FFFFFF"/>
                          </a:solidFill>
                        </a:rPr>
                        <a:t>Meaning</a:t>
                      </a:r>
                    </a:p>
                  </a:txBody>
                  <a:tcPr marL="91440" marR="91440" marT="45720" marB="45720">
                    <a:solidFill>
                      <a:srgbClr val="1E62D0"/>
                    </a:solidFill>
                  </a:tcPr>
                </a:tc>
                <a:tc>
                  <a:txBody>
                    <a:bodyPr/>
                    <a:lstStyle/>
                    <a:p>
                      <a:r>
                        <a:rPr sz="1650" b="1">
                          <a:solidFill>
                            <a:srgbClr val="FFFFFF"/>
                          </a:solidFill>
                        </a:rPr>
                        <a:t>What I can show</a:t>
                      </a:r>
                    </a:p>
                  </a:txBody>
                  <a:tcPr marL="91440" marR="91440" marT="45720" marB="45720">
                    <a:solidFill>
                      <a:srgbClr val="1E62D0"/>
                    </a:solidFill>
                  </a:tcPr>
                </a:tc>
              </a:tr>
              <a:tr h="785813">
                <a:tc>
                  <a:txBody>
                    <a:bodyPr/>
                    <a:lstStyle/>
                    <a:p>
                      <a:r>
                        <a:rPr sz="1575">
                          <a:solidFill>
                            <a:srgbClr val="111827"/>
                          </a:solidFill>
                        </a:rPr>
                        <a:t>Phase 4</a:t>
                      </a:r>
                    </a:p>
                  </a:txBody>
                  <a:tcPr marL="91440" marR="91440" marT="45720" marB="45720"/>
                </a:tc>
                <a:tc>
                  <a:txBody>
                    <a:bodyPr/>
                    <a:lstStyle/>
                    <a:p>
                      <a:r>
                        <a:rPr sz="1575">
                          <a:solidFill>
                            <a:srgbClr val="111827"/>
                          </a:solidFill>
                        </a:rPr>
                        <a:t>Explain a slice decision</a:t>
                      </a:r>
                    </a:p>
                  </a:txBody>
                  <a:tcPr marL="91440" marR="91440" marT="45720" marB="45720"/>
                </a:tc>
                <a:tc>
                  <a:txBody>
                    <a:bodyPr/>
                    <a:lstStyle/>
                    <a:p>
                      <a:r>
                        <a:rPr sz="1575">
                          <a:solidFill>
                            <a:srgbClr val="111827"/>
                          </a:solidFill>
                        </a:rPr>
                        <a:t>27 records; 8/8 labelled cases correct</a:t>
                      </a:r>
                    </a:p>
                  </a:txBody>
                  <a:tcPr marL="91440" marR="91440" marT="45720" marB="45720"/>
                </a:tc>
              </a:tr>
              <a:tr h="785813">
                <a:tc>
                  <a:txBody>
                    <a:bodyPr/>
                    <a:lstStyle/>
                    <a:p>
                      <a:r>
                        <a:rPr sz="1575">
                          <a:solidFill>
                            <a:srgbClr val="111827"/>
                          </a:solidFill>
                        </a:rPr>
                        <a:t>Phase 5</a:t>
                      </a:r>
                    </a:p>
                  </a:txBody>
                  <a:tcPr marL="91440" marR="91440" marT="45720" marB="45720"/>
                </a:tc>
                <a:tc>
                  <a:txBody>
                    <a:bodyPr/>
                    <a:lstStyle/>
                    <a:p>
                      <a:r>
                        <a:rPr sz="1575">
                          <a:solidFill>
                            <a:srgbClr val="111827"/>
                          </a:solidFill>
                        </a:rPr>
                        <a:t>Protect and adapt collection</a:t>
                      </a:r>
                    </a:p>
                  </a:txBody>
                  <a:tcPr marL="91440" marR="91440" marT="45720" marB="45720"/>
                </a:tc>
                <a:tc>
                  <a:txBody>
                    <a:bodyPr/>
                    <a:lstStyle/>
                    <a:p>
                      <a:r>
                        <a:rPr sz="1575">
                          <a:solidFill>
                            <a:srgbClr val="111827"/>
                          </a:solidFill>
                        </a:rPr>
                        <a:t>2 approved changes; 27/27 hashes verified</a:t>
                      </a:r>
                    </a:p>
                  </a:txBody>
                  <a:tcPr marL="91440" marR="91440" marT="45720" marB="45720"/>
                </a:tc>
              </a:tr>
              <a:tr h="785813">
                <a:tc>
                  <a:txBody>
                    <a:bodyPr/>
                    <a:lstStyle/>
                    <a:p>
                      <a:r>
                        <a:rPr sz="1575">
                          <a:solidFill>
                            <a:srgbClr val="111827"/>
                          </a:solidFill>
                        </a:rPr>
                        <a:t>Phase 6</a:t>
                      </a:r>
                    </a:p>
                  </a:txBody>
                  <a:tcPr marL="91440" marR="91440" marT="45720" marB="45720"/>
                </a:tc>
                <a:tc>
                  <a:txBody>
                    <a:bodyPr/>
                    <a:lstStyle/>
                    <a:p>
                      <a:r>
                        <a:rPr sz="1575">
                          <a:solidFill>
                            <a:srgbClr val="111827"/>
                          </a:solidFill>
                        </a:rPr>
                        <a:t>Evaluate the framework</a:t>
                      </a:r>
                    </a:p>
                  </a:txBody>
                  <a:tcPr marL="91440" marR="91440" marT="45720" marB="45720"/>
                </a:tc>
                <a:tc>
                  <a:txBody>
                    <a:bodyPr/>
                    <a:lstStyle/>
                    <a:p>
                      <a:r>
                        <a:rPr sz="1575">
                          <a:solidFill>
                            <a:srgbClr val="111827"/>
                          </a:solidFill>
                        </a:rPr>
                        <a:t>5/5 scenarios; 6/6 measures passed</a:t>
                      </a:r>
                    </a:p>
                  </a:txBody>
                  <a:tcPr marL="91440" marR="91440" marT="45720" marB="45720"/>
                </a:tc>
              </a:tr>
            </a:tbl>
          </a:graphicData>
        </a:graphic>
      </p:graphicFrame>
      <p:sp>
        <p:nvSpPr>
          <p:cNvPr id="7" name="Rectangle: Rounded Corners 6">
            <a:extLst xmlns:a="http://schemas.openxmlformats.org/drawingml/2006/main">
              <a:ext uri="{FF2B5EF4-FFF2-40B4-BE49-F238E27FC236}">
                <a16:creationId xmlns:a16="http://schemas.microsoft.com/office/drawing/2014/main" id="{DBE0B6CD-2055-426F-9DB5-FBD1FDB0F472}"/>
              </a:ext>
            </a:extLst>
          </p:cNvPr>
          <p:cNvSpPr>
            <a:spLocks xmlns:a="http://schemas.openxmlformats.org/drawingml/2006/main" noGrp="1"/>
          </p:cNvSpPr>
          <p:nvPr/>
        </p:nvSpPr>
        <p:spPr>
          <a:xfrm xmlns:a="http://schemas.openxmlformats.org/drawingml/2006/main">
            <a:off x="400050" y="5676900"/>
            <a:ext cx="11391900" cy="400050"/>
          </a:xfrm>
          <a:prstGeom xmlns:a="http://schemas.openxmlformats.org/drawingml/2006/main" prst="roundRect">
            <a:avLst>
              <a:gd name="adj" fmla="val 19048"/>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A07F7DFD-AF08-4A84-BFCD-F9ED814B9988}"/>
              </a:ext>
            </a:extLst>
          </p:cNvPr>
          <p:cNvSpPr>
            <a:spLocks xmlns:a="http://schemas.openxmlformats.org/drawingml/2006/main" noGrp="1"/>
          </p:cNvSpPr>
          <p:nvPr/>
        </p:nvSpPr>
        <p:spPr>
          <a:xfrm xmlns:a="http://schemas.openxmlformats.org/drawingml/2006/main">
            <a:off x="590550" y="57816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E62D0"/>
                </a:solidFill>
              </a:defRPr>
            </a:pPr>
            <a:r>
              <a:rPr sz="1500" b="1" i="0">
                <a:solidFill>
                  <a:srgbClr val="1E62D0"/>
                </a:solidFill>
              </a:rPr>
              <a:t>Next meeting focus: demonstrate the six-step prototype and review the retained evaluation evidence.</a:t>
            </a:r>
          </a:p>
        </p:txBody>
      </p:sp>
    </p:spTree>
    <p:extLst>
      <p:ext uri="{BB962C8B-B14F-4D97-AF65-F5344CB8AC3E}">
        <p14:creationId xmlns:p14="http://schemas.microsoft.com/office/powerpoint/2010/main" val="21370659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093AC282-58D5-40B7-8E7D-710A25B67C6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PHASE 6 EVALUATION</a:t>
            </a:r>
          </a:p>
        </p:txBody>
      </p:sp>
      <p:sp>
        <p:nvSpPr>
          <p:cNvPr id="2" name="Rectangle 1">
            <a:extLst xmlns:a="http://schemas.openxmlformats.org/drawingml/2006/main">
              <a:ext uri="{FF2B5EF4-FFF2-40B4-BE49-F238E27FC236}">
                <a16:creationId xmlns:a16="http://schemas.microsoft.com/office/drawing/2014/main" id="{2FC15BA6-BC82-4981-99C4-CE80F366B9DE}"/>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completed prototype passed every planned check</a:t>
            </a:r>
          </a:p>
        </p:txBody>
      </p:sp>
      <p:sp>
        <p:nvSpPr>
          <p:cNvPr id="3" name="Rectangle 2">
            <a:extLst xmlns:a="http://schemas.openxmlformats.org/drawingml/2006/main">
              <a:ext uri="{FF2B5EF4-FFF2-40B4-BE49-F238E27FC236}">
                <a16:creationId xmlns:a16="http://schemas.microsoft.com/office/drawing/2014/main" id="{AE21976C-8499-45AA-98A4-1EE1CB3569F0}"/>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E2EAAD-04A1-4C85-B928-3FDC4F59785E}"/>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13</a:t>
            </a:r>
          </a:p>
        </p:txBody>
      </p:sp>
      <p:sp>
        <p:nvSpPr>
          <p:cNvPr id="5" name="Rectangle 4">
            <a:extLst xmlns:a="http://schemas.openxmlformats.org/drawingml/2006/main">
              <a:ext uri="{FF2B5EF4-FFF2-40B4-BE49-F238E27FC236}">
                <a16:creationId xmlns:a16="http://schemas.microsoft.com/office/drawing/2014/main" id="{062A7E23-5AF0-44AC-A21E-B9CC4008E3B8}"/>
              </a:ext>
            </a:extLst>
          </p:cNvPr>
          <p:cNvSpPr>
            <a:spLocks xmlns:a="http://schemas.openxmlformats.org/drawingml/2006/main" noGrp="1"/>
          </p:cNvSpPr>
          <p:nvPr/>
        </p:nvSpPr>
        <p:spPr>
          <a:xfrm xmlns:a="http://schemas.openxmlformats.org/drawingml/2006/main">
            <a:off x="400050" y="15430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Five controlled scenarios were compared with known inputs. Each scenario passed, and every defined measure passed.</a:t>
            </a:r>
          </a:p>
        </p:txBody>
      </p:sp>
      <p:sp>
        <p:nvSpPr>
          <p:cNvPr id="6" name="Rectangle: Rounded Corners 5">
            <a:extLst xmlns:a="http://schemas.openxmlformats.org/drawingml/2006/main">
              <a:ext uri="{FF2B5EF4-FFF2-40B4-BE49-F238E27FC236}">
                <a16:creationId xmlns:a16="http://schemas.microsoft.com/office/drawing/2014/main" id="{3E169C23-5DD8-4164-AFE6-7FC645EA7C75}"/>
              </a:ext>
            </a:extLst>
          </p:cNvPr>
          <p:cNvSpPr>
            <a:spLocks xmlns:a="http://schemas.openxmlformats.org/drawingml/2006/main" noGrp="1"/>
          </p:cNvSpPr>
          <p:nvPr/>
        </p:nvSpPr>
        <p:spPr>
          <a:xfrm xmlns:a="http://schemas.openxmlformats.org/drawingml/2006/main">
            <a:off x="400050"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794368B1-6FEC-4354-8646-E97880C06729}"/>
              </a:ext>
            </a:extLst>
          </p:cNvPr>
          <p:cNvSpPr>
            <a:spLocks xmlns:a="http://schemas.openxmlformats.org/drawingml/2006/main" noGrp="1"/>
          </p:cNvSpPr>
          <p:nvPr/>
        </p:nvSpPr>
        <p:spPr>
          <a:xfrm xmlns:a="http://schemas.openxmlformats.org/drawingml/2006/main">
            <a:off x="685800"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5/5</a:t>
            </a:r>
          </a:p>
        </p:txBody>
      </p:sp>
      <p:sp>
        <p:nvSpPr>
          <p:cNvPr id="8" name="Rectangle 7">
            <a:extLst xmlns:a="http://schemas.openxmlformats.org/drawingml/2006/main">
              <a:ext uri="{FF2B5EF4-FFF2-40B4-BE49-F238E27FC236}">
                <a16:creationId xmlns:a16="http://schemas.microsoft.com/office/drawing/2014/main" id="{EAF1B148-FFE2-427D-8976-FA62BACBF11B}"/>
              </a:ext>
            </a:extLst>
          </p:cNvPr>
          <p:cNvSpPr>
            <a:spLocks xmlns:a="http://schemas.openxmlformats.org/drawingml/2006/main" noGrp="1"/>
          </p:cNvSpPr>
          <p:nvPr/>
        </p:nvSpPr>
        <p:spPr>
          <a:xfrm xmlns:a="http://schemas.openxmlformats.org/drawingml/2006/main">
            <a:off x="685800"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scenarios passed</a:t>
            </a:r>
          </a:p>
        </p:txBody>
      </p:sp>
      <p:sp>
        <p:nvSpPr>
          <p:cNvPr id="9" name="Rectangle 8">
            <a:extLst xmlns:a="http://schemas.openxmlformats.org/drawingml/2006/main">
              <a:ext uri="{FF2B5EF4-FFF2-40B4-BE49-F238E27FC236}">
                <a16:creationId xmlns:a16="http://schemas.microsoft.com/office/drawing/2014/main" id="{034DB9BB-1ADB-4AFD-A47C-2D98F0FE8DC7}"/>
              </a:ext>
            </a:extLst>
          </p:cNvPr>
          <p:cNvSpPr>
            <a:spLocks xmlns:a="http://schemas.openxmlformats.org/drawingml/2006/main" noGrp="1"/>
          </p:cNvSpPr>
          <p:nvPr/>
        </p:nvSpPr>
        <p:spPr>
          <a:xfrm xmlns:a="http://schemas.openxmlformats.org/drawingml/2006/main">
            <a:off x="685800"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Normal operation, anomaly replay, isolation, cross-layer evidence and adaptation.</a:t>
            </a:r>
          </a:p>
        </p:txBody>
      </p:sp>
      <p:sp>
        <p:nvSpPr>
          <p:cNvPr id="10" name="Rectangle: Rounded Corners 9">
            <a:extLst xmlns:a="http://schemas.openxmlformats.org/drawingml/2006/main">
              <a:ext uri="{FF2B5EF4-FFF2-40B4-BE49-F238E27FC236}">
                <a16:creationId xmlns:a16="http://schemas.microsoft.com/office/drawing/2014/main" id="{95D2F159-90A3-43B4-94DF-E4E13CF06DD8}"/>
              </a:ext>
            </a:extLst>
          </p:cNvPr>
          <p:cNvSpPr>
            <a:spLocks xmlns:a="http://schemas.openxmlformats.org/drawingml/2006/main" noGrp="1"/>
          </p:cNvSpPr>
          <p:nvPr/>
        </p:nvSpPr>
        <p:spPr>
          <a:xfrm xmlns:a="http://schemas.openxmlformats.org/drawingml/2006/main">
            <a:off x="43148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E10F1BDB-673B-4711-A6EC-7469A4302E01}"/>
              </a:ext>
            </a:extLst>
          </p:cNvPr>
          <p:cNvSpPr>
            <a:spLocks xmlns:a="http://schemas.openxmlformats.org/drawingml/2006/main" noGrp="1"/>
          </p:cNvSpPr>
          <p:nvPr/>
        </p:nvSpPr>
        <p:spPr>
          <a:xfrm xmlns:a="http://schemas.openxmlformats.org/drawingml/2006/main">
            <a:off x="46005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6/6</a:t>
            </a:r>
          </a:p>
        </p:txBody>
      </p:sp>
      <p:sp>
        <p:nvSpPr>
          <p:cNvPr id="12" name="Rectangle 11">
            <a:extLst xmlns:a="http://schemas.openxmlformats.org/drawingml/2006/main">
              <a:ext uri="{FF2B5EF4-FFF2-40B4-BE49-F238E27FC236}">
                <a16:creationId xmlns:a16="http://schemas.microsoft.com/office/drawing/2014/main" id="{38119460-6E68-4D77-9C69-881C10E9C251}"/>
              </a:ext>
            </a:extLst>
          </p:cNvPr>
          <p:cNvSpPr>
            <a:spLocks xmlns:a="http://schemas.openxmlformats.org/drawingml/2006/main" noGrp="1"/>
          </p:cNvSpPr>
          <p:nvPr/>
        </p:nvSpPr>
        <p:spPr>
          <a:xfrm xmlns:a="http://schemas.openxmlformats.org/drawingml/2006/main">
            <a:off x="46005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measures passed</a:t>
            </a:r>
          </a:p>
        </p:txBody>
      </p:sp>
      <p:sp>
        <p:nvSpPr>
          <p:cNvPr id="13" name="Rectangle 12">
            <a:extLst xmlns:a="http://schemas.openxmlformats.org/drawingml/2006/main">
              <a:ext uri="{FF2B5EF4-FFF2-40B4-BE49-F238E27FC236}">
                <a16:creationId xmlns:a16="http://schemas.microsoft.com/office/drawing/2014/main" id="{48199DA3-8AE1-4F9E-8672-EA69D5D81413}"/>
              </a:ext>
            </a:extLst>
          </p:cNvPr>
          <p:cNvSpPr>
            <a:spLocks xmlns:a="http://schemas.openxmlformats.org/drawingml/2006/main" noGrp="1"/>
          </p:cNvSpPr>
          <p:nvPr/>
        </p:nvSpPr>
        <p:spPr>
          <a:xfrm xmlns:a="http://schemas.openxmlformats.org/drawingml/2006/main">
            <a:off x="46005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Accuracy, completeness, integrity, custody, timing and observed overhead.</a:t>
            </a:r>
          </a:p>
        </p:txBody>
      </p:sp>
      <p:sp>
        <p:nvSpPr>
          <p:cNvPr id="14" name="Rectangle: Rounded Corners 13">
            <a:extLst xmlns:a="http://schemas.openxmlformats.org/drawingml/2006/main">
              <a:ext uri="{FF2B5EF4-FFF2-40B4-BE49-F238E27FC236}">
                <a16:creationId xmlns:a16="http://schemas.microsoft.com/office/drawing/2014/main" id="{01498B58-D6C6-41F2-BB9D-92B7BD427385}"/>
              </a:ext>
            </a:extLst>
          </p:cNvPr>
          <p:cNvSpPr>
            <a:spLocks xmlns:a="http://schemas.openxmlformats.org/drawingml/2006/main" noGrp="1"/>
          </p:cNvSpPr>
          <p:nvPr/>
        </p:nvSpPr>
        <p:spPr>
          <a:xfrm xmlns:a="http://schemas.openxmlformats.org/drawingml/2006/main">
            <a:off x="8239125" y="3028950"/>
            <a:ext cx="3562350" cy="2476500"/>
          </a:xfrm>
          <a:prstGeom xmlns:a="http://schemas.openxmlformats.org/drawingml/2006/main" prst="roundRect">
            <a:avLst>
              <a:gd name="adj" fmla="val 4615"/>
            </a:avLst>
          </a:prstGeom>
          <a:solidFill xmlns:a="http://schemas.openxmlformats.org/drawingml/2006/main">
            <a:srgbClr val="F2F4F7"/>
          </a:solidFill>
          <a:ln xmlns:a="http://schemas.openxmlformats.org/drawingml/2006/main" w="0">
            <a:solidFill>
              <a:srgbClr val="F2F4F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4A0098F9-8167-4529-A006-E0B9FC3492FF}"/>
              </a:ext>
            </a:extLst>
          </p:cNvPr>
          <p:cNvSpPr>
            <a:spLocks xmlns:a="http://schemas.openxmlformats.org/drawingml/2006/main" noGrp="1"/>
          </p:cNvSpPr>
          <p:nvPr/>
        </p:nvSpPr>
        <p:spPr>
          <a:xfrm xmlns:a="http://schemas.openxmlformats.org/drawingml/2006/main">
            <a:off x="8524875" y="3333750"/>
            <a:ext cx="2990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125" b="1" i="0">
                <a:solidFill>
                  <a:srgbClr val="1E62D0"/>
                </a:solidFill>
              </a:defRPr>
            </a:pPr>
            <a:r>
              <a:rPr sz="4125" b="1" i="0">
                <a:solidFill>
                  <a:srgbClr val="1E62D0"/>
                </a:solidFill>
              </a:rPr>
              <a:t>13</a:t>
            </a:r>
          </a:p>
        </p:txBody>
      </p:sp>
      <p:sp>
        <p:nvSpPr>
          <p:cNvPr id="16" name="Rectangle 15">
            <a:extLst xmlns:a="http://schemas.openxmlformats.org/drawingml/2006/main">
              <a:ext uri="{FF2B5EF4-FFF2-40B4-BE49-F238E27FC236}">
                <a16:creationId xmlns:a16="http://schemas.microsoft.com/office/drawing/2014/main" id="{BB9E1175-CF47-45C3-B187-A7CCBF4852F9}"/>
              </a:ext>
            </a:extLst>
          </p:cNvPr>
          <p:cNvSpPr>
            <a:spLocks xmlns:a="http://schemas.openxmlformats.org/drawingml/2006/main" noGrp="1"/>
          </p:cNvSpPr>
          <p:nvPr/>
        </p:nvSpPr>
        <p:spPr>
          <a:xfrm xmlns:a="http://schemas.openxmlformats.org/drawingml/2006/main">
            <a:off x="8524875" y="425767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11827"/>
                </a:solidFill>
              </a:defRPr>
            </a:pPr>
            <a:r>
              <a:rPr sz="1800" b="1" i="0">
                <a:solidFill>
                  <a:srgbClr val="111827"/>
                </a:solidFill>
              </a:rPr>
              <a:t>healthy containers</a:t>
            </a:r>
          </a:p>
        </p:txBody>
      </p:sp>
      <p:sp>
        <p:nvSpPr>
          <p:cNvPr id="17" name="Rectangle 16">
            <a:extLst xmlns:a="http://schemas.openxmlformats.org/drawingml/2006/main">
              <a:ext uri="{FF2B5EF4-FFF2-40B4-BE49-F238E27FC236}">
                <a16:creationId xmlns:a16="http://schemas.microsoft.com/office/drawing/2014/main" id="{E5E1FF9F-0ED6-414F-9AA3-716D3AFB53FC}"/>
              </a:ext>
            </a:extLst>
          </p:cNvPr>
          <p:cNvSpPr>
            <a:spLocks xmlns:a="http://schemas.openxmlformats.org/drawingml/2006/main" noGrp="1"/>
          </p:cNvSpPr>
          <p:nvPr/>
        </p:nvSpPr>
        <p:spPr>
          <a:xfrm xmlns:a="http://schemas.openxmlformats.org/drawingml/2006/main">
            <a:off x="8524875" y="47053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56070"/>
                </a:solidFill>
              </a:defRPr>
            </a:pPr>
            <a:r>
              <a:rPr sz="1425" b="0" i="0">
                <a:solidFill>
                  <a:srgbClr val="556070"/>
                </a:solidFill>
              </a:rPr>
              <a:t>The current controlled laboratory remained available during validation.</a:t>
            </a:r>
          </a:p>
        </p:txBody>
      </p:sp>
      <p:sp>
        <p:nvSpPr>
          <p:cNvPr id="18" name="Rectangle 17">
            <a:extLst xmlns:a="http://schemas.openxmlformats.org/drawingml/2006/main">
              <a:ext uri="{FF2B5EF4-FFF2-40B4-BE49-F238E27FC236}">
                <a16:creationId xmlns:a16="http://schemas.microsoft.com/office/drawing/2014/main" id="{FFAD0E28-F7CE-43F6-AC0B-16E8BE280208}"/>
              </a:ext>
            </a:extLst>
          </p:cNvPr>
          <p:cNvSpPr>
            <a:spLocks xmlns:a="http://schemas.openxmlformats.org/drawingml/2006/main" noGrp="1"/>
          </p:cNvSpPr>
          <p:nvPr/>
        </p:nvSpPr>
        <p:spPr>
          <a:xfrm xmlns:a="http://schemas.openxmlformats.org/drawingml/2006/main">
            <a:off x="400050" y="5857875"/>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11827"/>
                </a:solidFill>
              </a:defRPr>
            </a:pPr>
            <a:r>
              <a:rPr sz="2100" b="1" i="0">
                <a:solidFill>
                  <a:srgbClr val="111827"/>
                </a:solidFill>
              </a:rPr>
              <a:t>Known inputs  -&gt;  retained evidence  -&gt;  measured result</a:t>
            </a:r>
          </a:p>
        </p:txBody>
      </p:sp>
    </p:spTree>
    <p:extLst>
      <p:ext uri="{BB962C8B-B14F-4D97-AF65-F5344CB8AC3E}">
        <p14:creationId xmlns:p14="http://schemas.microsoft.com/office/powerpoint/2010/main" val="1280348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55A5DA34-C420-49E9-A8D6-D5FE5E224B0E}"/>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PHASE 6 LIVE CHECK</a:t>
            </a:r>
          </a:p>
        </p:txBody>
      </p:sp>
      <p:sp>
        <p:nvSpPr>
          <p:cNvPr id="2" name="Rectangle 1">
            <a:extLst xmlns:a="http://schemas.openxmlformats.org/drawingml/2006/main">
              <a:ext uri="{FF2B5EF4-FFF2-40B4-BE49-F238E27FC236}">
                <a16:creationId xmlns:a16="http://schemas.microsoft.com/office/drawing/2014/main" id="{0E27AA63-BD07-46C1-BE21-63EB556A97D6}"/>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two-slice laboratory is running</a:t>
            </a:r>
          </a:p>
        </p:txBody>
      </p:sp>
      <p:sp>
        <p:nvSpPr>
          <p:cNvPr id="3" name="Rectangle 2">
            <a:extLst xmlns:a="http://schemas.openxmlformats.org/drawingml/2006/main">
              <a:ext uri="{FF2B5EF4-FFF2-40B4-BE49-F238E27FC236}">
                <a16:creationId xmlns:a16="http://schemas.microsoft.com/office/drawing/2014/main" id="{6C5D6579-5BB8-4728-A410-81FE72EDF754}"/>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63289BDA-C2D1-42E7-A732-82219BCE344D}"/>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14</a:t>
            </a:r>
          </a:p>
        </p:txBody>
      </p:sp>
      <p:sp>
        <p:nvSpPr>
          <p:cNvPr id="5" name="Rectangle: Rounded Corners 4">
            <a:extLst xmlns:a="http://schemas.openxmlformats.org/drawingml/2006/main">
              <a:ext uri="{FF2B5EF4-FFF2-40B4-BE49-F238E27FC236}">
                <a16:creationId xmlns:a16="http://schemas.microsoft.com/office/drawing/2014/main" id="{71E6C9CD-7201-47E4-8C0A-6A868688BC76}"/>
              </a:ext>
            </a:extLst>
          </p:cNvPr>
          <p:cNvSpPr>
            <a:spLocks xmlns:a="http://schemas.openxmlformats.org/drawingml/2006/main" noGrp="1"/>
          </p:cNvSpPr>
          <p:nvPr/>
        </p:nvSpPr>
        <p:spPr>
          <a:xfrm xmlns:a="http://schemas.openxmlformats.org/drawingml/2006/main">
            <a:off x="400050" y="1562100"/>
            <a:ext cx="152400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A41FEFA4-FC06-4DEF-A5AD-4BE83AB6C195}"/>
              </a:ext>
            </a:extLst>
          </p:cNvPr>
          <p:cNvSpPr>
            <a:spLocks xmlns:a="http://schemas.openxmlformats.org/drawingml/2006/main" noGrp="1"/>
          </p:cNvSpPr>
          <p:nvPr/>
        </p:nvSpPr>
        <p:spPr>
          <a:xfrm xmlns:a="http://schemas.openxmlformats.org/drawingml/2006/main">
            <a:off x="514350" y="16287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VERIFIED</a:t>
            </a:r>
          </a:p>
        </p:txBody>
      </p:sp>
      <p:sp>
        <p:nvSpPr>
          <p:cNvPr id="7" name="Rectangle 6">
            <a:extLst xmlns:a="http://schemas.openxmlformats.org/drawingml/2006/main">
              <a:ext uri="{FF2B5EF4-FFF2-40B4-BE49-F238E27FC236}">
                <a16:creationId xmlns:a16="http://schemas.microsoft.com/office/drawing/2014/main" id="{A6E7A077-5FAD-432F-AE55-49C207C0D2C4}"/>
              </a:ext>
            </a:extLst>
          </p:cNvPr>
          <p:cNvSpPr>
            <a:spLocks xmlns:a="http://schemas.openxmlformats.org/drawingml/2006/main" noGrp="1"/>
          </p:cNvSpPr>
          <p:nvPr/>
        </p:nvSpPr>
        <p:spPr>
          <a:xfrm xmlns:a="http://schemas.openxmlformats.org/drawingml/2006/main">
            <a:off x="400050" y="2133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What I checked</a:t>
            </a:r>
          </a:p>
        </p:txBody>
      </p:sp>
      <p:sp>
        <p:nvSpPr>
          <p:cNvPr id="8" name="Oval 7">
            <a:extLst xmlns:a="http://schemas.openxmlformats.org/drawingml/2006/main">
              <a:ext uri="{FF2B5EF4-FFF2-40B4-BE49-F238E27FC236}">
                <a16:creationId xmlns:a16="http://schemas.microsoft.com/office/drawing/2014/main" id="{466E0E89-9993-4342-8EE6-3E89BC026C25}"/>
              </a:ext>
            </a:extLst>
          </p:cNvPr>
          <p:cNvSpPr>
            <a:spLocks xmlns:a="http://schemas.openxmlformats.org/drawingml/2006/main" noGrp="1"/>
          </p:cNvSpPr>
          <p:nvPr/>
        </p:nvSpPr>
        <p:spPr>
          <a:xfrm xmlns:a="http://schemas.openxmlformats.org/drawingml/2006/main">
            <a:off x="400050" y="27717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BEA36EFB-F764-4AB5-BCAF-8D612568DF00}"/>
              </a:ext>
            </a:extLst>
          </p:cNvPr>
          <p:cNvSpPr>
            <a:spLocks xmlns:a="http://schemas.openxmlformats.org/drawingml/2006/main" noGrp="1"/>
          </p:cNvSpPr>
          <p:nvPr/>
        </p:nvSpPr>
        <p:spPr>
          <a:xfrm xmlns:a="http://schemas.openxmlformats.org/drawingml/2006/main">
            <a:off x="647700" y="26860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Confirmed 13 core and radio containers are healthy.</a:t>
            </a:r>
          </a:p>
        </p:txBody>
      </p:sp>
      <p:sp>
        <p:nvSpPr>
          <p:cNvPr id="10" name="Oval 9">
            <a:extLst xmlns:a="http://schemas.openxmlformats.org/drawingml/2006/main">
              <a:ext uri="{FF2B5EF4-FFF2-40B4-BE49-F238E27FC236}">
                <a16:creationId xmlns:a16="http://schemas.microsoft.com/office/drawing/2014/main" id="{52D4D63B-8258-449A-AE5C-7F3200BA652B}"/>
              </a:ext>
            </a:extLst>
          </p:cNvPr>
          <p:cNvSpPr>
            <a:spLocks xmlns:a="http://schemas.openxmlformats.org/drawingml/2006/main" noGrp="1"/>
          </p:cNvSpPr>
          <p:nvPr/>
        </p:nvSpPr>
        <p:spPr>
          <a:xfrm xmlns:a="http://schemas.openxmlformats.org/drawingml/2006/main">
            <a:off x="400050" y="34385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2E327876-F121-426E-9133-2F0DFE8DA563}"/>
              </a:ext>
            </a:extLst>
          </p:cNvPr>
          <p:cNvSpPr>
            <a:spLocks xmlns:a="http://schemas.openxmlformats.org/drawingml/2006/main" noGrp="1"/>
          </p:cNvSpPr>
          <p:nvPr/>
        </p:nvSpPr>
        <p:spPr>
          <a:xfrm xmlns:a="http://schemas.openxmlformats.org/drawingml/2006/main">
            <a:off x="647700" y="335280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Re-ran the evidence chain from Phase 1 through Phase 6.</a:t>
            </a:r>
          </a:p>
        </p:txBody>
      </p:sp>
      <p:sp>
        <p:nvSpPr>
          <p:cNvPr id="12" name="Oval 11">
            <a:extLst xmlns:a="http://schemas.openxmlformats.org/drawingml/2006/main">
              <a:ext uri="{FF2B5EF4-FFF2-40B4-BE49-F238E27FC236}">
                <a16:creationId xmlns:a16="http://schemas.microsoft.com/office/drawing/2014/main" id="{D1B5487E-30CB-412D-BA03-01BFF0590EDB}"/>
              </a:ext>
            </a:extLst>
          </p:cNvPr>
          <p:cNvSpPr>
            <a:spLocks xmlns:a="http://schemas.openxmlformats.org/drawingml/2006/main" noGrp="1"/>
          </p:cNvSpPr>
          <p:nvPr/>
        </p:nvSpPr>
        <p:spPr>
          <a:xfrm xmlns:a="http://schemas.openxmlformats.org/drawingml/2006/main">
            <a:off x="400050" y="41052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1A628F30-08B2-4C7D-9D8E-E5DF94B2A117}"/>
              </a:ext>
            </a:extLst>
          </p:cNvPr>
          <p:cNvSpPr>
            <a:spLocks xmlns:a="http://schemas.openxmlformats.org/drawingml/2006/main" noGrp="1"/>
          </p:cNvSpPr>
          <p:nvPr/>
        </p:nvSpPr>
        <p:spPr>
          <a:xfrm xmlns:a="http://schemas.openxmlformats.org/drawingml/2006/main">
            <a:off x="647700" y="40195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111827"/>
                </a:solidFill>
              </a:defRPr>
            </a:pPr>
            <a:r>
              <a:rPr sz="1800" b="0" i="0">
                <a:solidFill>
                  <a:srgbClr val="111827"/>
                </a:solidFill>
              </a:rPr>
              <a:t>Retained before and after resource snapshots for the evaluation.</a:t>
            </a:r>
          </a:p>
        </p:txBody>
      </p:sp>
      <p:sp>
        <p:nvSpPr>
          <p:cNvPr id="14" name="Rectangle 13">
            <a:extLst xmlns:a="http://schemas.openxmlformats.org/drawingml/2006/main">
              <a:ext uri="{FF2B5EF4-FFF2-40B4-BE49-F238E27FC236}">
                <a16:creationId xmlns:a16="http://schemas.microsoft.com/office/drawing/2014/main" id="{CFFEA85E-D9F1-44A1-B35E-720016D4257C}"/>
              </a:ext>
            </a:extLst>
          </p:cNvPr>
          <p:cNvSpPr>
            <a:spLocks xmlns:a="http://schemas.openxmlformats.org/drawingml/2006/main" noGrp="1"/>
          </p:cNvSpPr>
          <p:nvPr/>
        </p:nvSpPr>
        <p:spPr>
          <a:xfrm xmlns:a="http://schemas.openxmlformats.org/drawingml/2006/main">
            <a:off x="400050" y="4933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62D0"/>
                </a:solidFill>
              </a:defRPr>
            </a:pPr>
            <a:r>
              <a:rPr sz="1875" b="1" i="0">
                <a:solidFill>
                  <a:srgbClr val="1E62D0"/>
                </a:solidFill>
              </a:rPr>
              <a:t>Why it matters</a:t>
            </a:r>
          </a:p>
        </p:txBody>
      </p:sp>
      <p:sp>
        <p:nvSpPr>
          <p:cNvPr id="15" name="Rectangle 14">
            <a:extLst xmlns:a="http://schemas.openxmlformats.org/drawingml/2006/main">
              <a:ext uri="{FF2B5EF4-FFF2-40B4-BE49-F238E27FC236}">
                <a16:creationId xmlns:a16="http://schemas.microsoft.com/office/drawing/2014/main" id="{21B2D4F7-FA7A-4CF3-BE08-50698B6DEEB5}"/>
              </a:ext>
            </a:extLst>
          </p:cNvPr>
          <p:cNvSpPr>
            <a:spLocks xmlns:a="http://schemas.openxmlformats.org/drawingml/2006/main" noGrp="1"/>
          </p:cNvSpPr>
          <p:nvPr/>
        </p:nvSpPr>
        <p:spPr>
          <a:xfrm xmlns:a="http://schemas.openxmlformats.org/drawingml/2006/main">
            <a:off x="400050" y="5305425"/>
            <a:ext cx="5162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56070"/>
                </a:solidFill>
              </a:defRPr>
            </a:pPr>
            <a:r>
              <a:rPr sz="1650" b="0" i="0">
                <a:solidFill>
                  <a:srgbClr val="556070"/>
                </a:solidFill>
              </a:rPr>
              <a:t>The final evaluation uses a live controlled laboratory, not a paper-only example.</a:t>
            </a:r>
          </a:p>
        </p:txBody>
      </p:sp>
      <p:sp>
        <p:nvSpPr>
          <p:cNvPr id="16" name="Rectangle: Rounded Corners 15">
            <a:extLst xmlns:a="http://schemas.openxmlformats.org/drawingml/2006/main">
              <a:ext uri="{FF2B5EF4-FFF2-40B4-BE49-F238E27FC236}">
                <a16:creationId xmlns:a16="http://schemas.microsoft.com/office/drawing/2014/main" id="{12BE1093-9EF3-401A-BAFC-D00776662E00}"/>
              </a:ext>
            </a:extLst>
          </p:cNvPr>
          <p:cNvSpPr>
            <a:spLocks xmlns:a="http://schemas.openxmlformats.org/drawingml/2006/main" noGrp="1"/>
          </p:cNvSpPr>
          <p:nvPr/>
        </p:nvSpPr>
        <p:spPr>
          <a:xfrm xmlns:a="http://schemas.openxmlformats.org/drawingml/2006/main">
            <a:off x="6191250" y="1571625"/>
            <a:ext cx="5600700" cy="3762375"/>
          </a:xfrm>
          <a:prstGeom xmlns:a="http://schemas.openxmlformats.org/drawingml/2006/main" prst="roundRect">
            <a:avLst>
              <a:gd name="adj" fmla="val 3038"/>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37" name="Picture 34"/>
          <p:cNvPicPr>
            <a:picLocks xmlns:a="http://schemas.openxmlformats.org/drawingml/2006/main" noChangeAspect="1"/>
          </p:cNvPicPr>
          <p:nvPr/>
        </p:nvPicPr>
        <p:blipFill>
          <a:blip xmlns:r="http://schemas.openxmlformats.org/officeDocument/2006/relationships" xmlns:a="http://schemas.openxmlformats.org/drawingml/2006/main" r:embed="Rcb4e410130134de7"/>
          <a:stretch xmlns:a="http://schemas.openxmlformats.org/drawingml/2006/main"/>
        </p:blipFill>
        <p:spPr>
          <a:xfrm xmlns:a="http://schemas.openxmlformats.org/drawingml/2006/main">
            <a:off x="6741478" y="2010116"/>
            <a:ext cx="4500243" cy="2885393"/>
          </a:xfrm>
          <a:prstGeom xmlns:a="http://schemas.openxmlformats.org/drawingml/2006/main" prst="roundRect">
            <a:avLst/>
          </a:prstGeom>
        </p:spPr>
      </p:pic>
      <p:sp>
        <p:nvSpPr>
          <p:cNvPr id="18" name="Rectangle 17">
            <a:extLst xmlns:a="http://schemas.openxmlformats.org/drawingml/2006/main">
              <a:ext uri="{FF2B5EF4-FFF2-40B4-BE49-F238E27FC236}">
                <a16:creationId xmlns:a16="http://schemas.microsoft.com/office/drawing/2014/main" id="{89D765B5-4DD8-4FC5-B79F-392E395B4A25}"/>
              </a:ext>
            </a:extLst>
          </p:cNvPr>
          <p:cNvSpPr>
            <a:spLocks xmlns:a="http://schemas.openxmlformats.org/drawingml/2006/main" noGrp="1"/>
          </p:cNvSpPr>
          <p:nvPr/>
        </p:nvSpPr>
        <p:spPr>
          <a:xfrm xmlns:a="http://schemas.openxmlformats.org/drawingml/2006/main">
            <a:off x="6191250" y="55245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56070"/>
                </a:solidFill>
              </a:defRPr>
            </a:pPr>
            <a:r>
              <a:rPr sz="1350" b="0" i="0">
                <a:solidFill>
                  <a:srgbClr val="556070"/>
                </a:solidFill>
              </a:rPr>
              <a:t>Docker Desktop: current controlled laboratory view. All 13 required containers report healthy on 4 September 2026.</a:t>
            </a:r>
          </a:p>
        </p:txBody>
      </p:sp>
    </p:spTree>
    <p:extLst>
      <p:ext uri="{BB962C8B-B14F-4D97-AF65-F5344CB8AC3E}">
        <p14:creationId xmlns:p14="http://schemas.microsoft.com/office/powerpoint/2010/main" val="16763375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A7608A95-C851-4988-A2A4-6E102600DA72}"/>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PHASE 6 PROGRAM</a:t>
            </a:r>
          </a:p>
        </p:txBody>
      </p:sp>
      <p:sp>
        <p:nvSpPr>
          <p:cNvPr id="2" name="Rectangle 1">
            <a:extLst xmlns:a="http://schemas.openxmlformats.org/drawingml/2006/main">
              <a:ext uri="{FF2B5EF4-FFF2-40B4-BE49-F238E27FC236}">
                <a16:creationId xmlns:a16="http://schemas.microsoft.com/office/drawing/2014/main" id="{80BED32D-CD00-40A0-B011-893AF4C0AC88}"/>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program produces a repeatable evaluation report</a:t>
            </a:r>
          </a:p>
        </p:txBody>
      </p:sp>
      <p:sp>
        <p:nvSpPr>
          <p:cNvPr id="3" name="Rectangle 2">
            <a:extLst xmlns:a="http://schemas.openxmlformats.org/drawingml/2006/main">
              <a:ext uri="{FF2B5EF4-FFF2-40B4-BE49-F238E27FC236}">
                <a16:creationId xmlns:a16="http://schemas.microsoft.com/office/drawing/2014/main" id="{55C69A76-3798-4AC1-B2B9-1CA18CE0818C}"/>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EB0F46E6-4920-402F-B8E7-5BE77539F646}"/>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15</a:t>
            </a:r>
          </a:p>
        </p:txBody>
      </p:sp>
      <p:sp>
        <p:nvSpPr>
          <p:cNvPr id="5" name="Rectangle 4">
            <a:extLst xmlns:a="http://schemas.openxmlformats.org/drawingml/2006/main">
              <a:ext uri="{FF2B5EF4-FFF2-40B4-BE49-F238E27FC236}">
                <a16:creationId xmlns:a16="http://schemas.microsoft.com/office/drawing/2014/main" id="{4074F0AF-8C79-4B63-9259-2B4E5B257137}"/>
              </a:ext>
            </a:extLst>
          </p:cNvPr>
          <p:cNvSpPr>
            <a:spLocks xmlns:a="http://schemas.openxmlformats.org/drawingml/2006/main" noGrp="1"/>
          </p:cNvSpPr>
          <p:nvPr/>
        </p:nvSpPr>
        <p:spPr>
          <a:xfrm xmlns:a="http://schemas.openxmlformats.org/drawingml/2006/main">
            <a:off x="400050" y="15049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56070"/>
                </a:solidFill>
              </a:defRPr>
            </a:pPr>
            <a:r>
              <a:rPr sz="1875" b="0" i="0">
                <a:solidFill>
                  <a:srgbClr val="556070"/>
                </a:solidFill>
              </a:rPr>
              <a:t>The final command checks the complete evidence chain and writes the result into a time-stamped folder.</a:t>
            </a:r>
          </a:p>
        </p:txBody>
      </p:sp>
      <p:sp>
        <p:nvSpPr>
          <p:cNvPr id="6" name="Rectangle: Rounded Corners 5">
            <a:extLst xmlns:a="http://schemas.openxmlformats.org/drawingml/2006/main">
              <a:ext uri="{FF2B5EF4-FFF2-40B4-BE49-F238E27FC236}">
                <a16:creationId xmlns:a16="http://schemas.microsoft.com/office/drawing/2014/main" id="{801A2984-2B57-4553-BAC6-A718BFB79F6E}"/>
              </a:ext>
            </a:extLst>
          </p:cNvPr>
          <p:cNvSpPr>
            <a:spLocks xmlns:a="http://schemas.openxmlformats.org/drawingml/2006/main" noGrp="1"/>
          </p:cNvSpPr>
          <p:nvPr/>
        </p:nvSpPr>
        <p:spPr>
          <a:xfrm xmlns:a="http://schemas.openxmlformats.org/drawingml/2006/main">
            <a:off x="400050" y="2305050"/>
            <a:ext cx="6838950" cy="3733800"/>
          </a:xfrm>
          <a:prstGeom xmlns:a="http://schemas.openxmlformats.org/drawingml/2006/main" prst="roundRect">
            <a:avLst>
              <a:gd name="adj" fmla="val 3061"/>
            </a:avLst>
          </a:prstGeom>
          <a:solidFill xmlns:a="http://schemas.openxmlformats.org/drawingml/2006/main">
            <a:srgbClr val="EAF5FB"/>
          </a:solidFill>
          <a:ln xmlns:a="http://schemas.openxmlformats.org/drawingml/2006/main" w="9525">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Picture 26"/>
          <p:cNvPicPr>
            <a:picLocks xmlns:a="http://schemas.openxmlformats.org/drawingml/2006/main" noChangeAspect="1"/>
          </p:cNvPicPr>
          <p:nvPr/>
        </p:nvPicPr>
        <p:blipFill>
          <a:blip xmlns:r="http://schemas.openxmlformats.org/officeDocument/2006/relationships" xmlns:a="http://schemas.openxmlformats.org/drawingml/2006/main" r:embed="Rc55660302f014d7e"/>
          <a:stretch xmlns:a="http://schemas.openxmlformats.org/drawingml/2006/main"/>
        </p:blipFill>
        <p:spPr>
          <a:xfrm xmlns:a="http://schemas.openxmlformats.org/drawingml/2006/main">
            <a:off x="511514" y="2393894"/>
            <a:ext cx="6616021" cy="3556111"/>
          </a:xfrm>
          <a:prstGeom xmlns:a="http://schemas.openxmlformats.org/drawingml/2006/main" prst="roundRect">
            <a:avLst/>
          </a:prstGeom>
        </p:spPr>
      </p:pic>
      <p:sp>
        <p:nvSpPr>
          <p:cNvPr id="8" name="Rectangle 7">
            <a:extLst xmlns:a="http://schemas.openxmlformats.org/drawingml/2006/main">
              <a:ext uri="{FF2B5EF4-FFF2-40B4-BE49-F238E27FC236}">
                <a16:creationId xmlns:a16="http://schemas.microsoft.com/office/drawing/2014/main" id="{BE05CA84-732F-46AE-9CA6-B08B28C8887F}"/>
              </a:ext>
            </a:extLst>
          </p:cNvPr>
          <p:cNvSpPr>
            <a:spLocks xmlns:a="http://schemas.openxmlformats.org/drawingml/2006/main" noGrp="1"/>
          </p:cNvSpPr>
          <p:nvPr/>
        </p:nvSpPr>
        <p:spPr>
          <a:xfrm xmlns:a="http://schemas.openxmlformats.org/drawingml/2006/main">
            <a:off x="771525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The report confirms</a:t>
            </a:r>
          </a:p>
        </p:txBody>
      </p:sp>
      <p:sp>
        <p:nvSpPr>
          <p:cNvPr id="9" name="Oval 8">
            <a:extLst xmlns:a="http://schemas.openxmlformats.org/drawingml/2006/main">
              <a:ext uri="{FF2B5EF4-FFF2-40B4-BE49-F238E27FC236}">
                <a16:creationId xmlns:a16="http://schemas.microsoft.com/office/drawing/2014/main" id="{F57A33BB-AEFF-4063-8FC7-E6EDC3BDA3B2}"/>
              </a:ext>
            </a:extLst>
          </p:cNvPr>
          <p:cNvSpPr>
            <a:spLocks xmlns:a="http://schemas.openxmlformats.org/drawingml/2006/main" noGrp="1"/>
          </p:cNvSpPr>
          <p:nvPr/>
        </p:nvSpPr>
        <p:spPr>
          <a:xfrm xmlns:a="http://schemas.openxmlformats.org/drawingml/2006/main">
            <a:off x="7715250" y="29432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9918A51D-B2BC-4DCE-8F86-32297C6C44EC}"/>
              </a:ext>
            </a:extLst>
          </p:cNvPr>
          <p:cNvSpPr>
            <a:spLocks xmlns:a="http://schemas.openxmlformats.org/drawingml/2006/main" noGrp="1"/>
          </p:cNvSpPr>
          <p:nvPr/>
        </p:nvSpPr>
        <p:spPr>
          <a:xfrm xmlns:a="http://schemas.openxmlformats.org/drawingml/2006/main">
            <a:off x="7962900" y="285750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the input runs are complete</a:t>
            </a:r>
          </a:p>
        </p:txBody>
      </p:sp>
      <p:sp>
        <p:nvSpPr>
          <p:cNvPr id="11" name="Oval 10">
            <a:extLst xmlns:a="http://schemas.openxmlformats.org/drawingml/2006/main">
              <a:ext uri="{FF2B5EF4-FFF2-40B4-BE49-F238E27FC236}">
                <a16:creationId xmlns:a16="http://schemas.microsoft.com/office/drawing/2014/main" id="{4754A631-8934-4493-ACD7-684941461772}"/>
              </a:ext>
            </a:extLst>
          </p:cNvPr>
          <p:cNvSpPr>
            <a:spLocks xmlns:a="http://schemas.openxmlformats.org/drawingml/2006/main" noGrp="1"/>
          </p:cNvSpPr>
          <p:nvPr/>
        </p:nvSpPr>
        <p:spPr>
          <a:xfrm xmlns:a="http://schemas.openxmlformats.org/drawingml/2006/main">
            <a:off x="7715250" y="346710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D83D7FA7-CB34-47EF-B909-7F5FAA851A11}"/>
              </a:ext>
            </a:extLst>
          </p:cNvPr>
          <p:cNvSpPr>
            <a:spLocks xmlns:a="http://schemas.openxmlformats.org/drawingml/2006/main" noGrp="1"/>
          </p:cNvSpPr>
          <p:nvPr/>
        </p:nvSpPr>
        <p:spPr>
          <a:xfrm xmlns:a="http://schemas.openxmlformats.org/drawingml/2006/main">
            <a:off x="7962900" y="3381375"/>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five scenarios passed</a:t>
            </a:r>
          </a:p>
        </p:txBody>
      </p:sp>
      <p:sp>
        <p:nvSpPr>
          <p:cNvPr id="13" name="Oval 12">
            <a:extLst xmlns:a="http://schemas.openxmlformats.org/drawingml/2006/main">
              <a:ext uri="{FF2B5EF4-FFF2-40B4-BE49-F238E27FC236}">
                <a16:creationId xmlns:a16="http://schemas.microsoft.com/office/drawing/2014/main" id="{6989D667-7DF8-409B-9ABA-4F9DDDD574BD}"/>
              </a:ext>
            </a:extLst>
          </p:cNvPr>
          <p:cNvSpPr>
            <a:spLocks xmlns:a="http://schemas.openxmlformats.org/drawingml/2006/main" noGrp="1"/>
          </p:cNvSpPr>
          <p:nvPr/>
        </p:nvSpPr>
        <p:spPr>
          <a:xfrm xmlns:a="http://schemas.openxmlformats.org/drawingml/2006/main">
            <a:off x="7715250" y="399097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FB16FF66-8CE6-4CA4-9450-48AE936734D1}"/>
              </a:ext>
            </a:extLst>
          </p:cNvPr>
          <p:cNvSpPr>
            <a:spLocks xmlns:a="http://schemas.openxmlformats.org/drawingml/2006/main" noGrp="1"/>
          </p:cNvSpPr>
          <p:nvPr/>
        </p:nvSpPr>
        <p:spPr>
          <a:xfrm xmlns:a="http://schemas.openxmlformats.org/drawingml/2006/main">
            <a:off x="7962900" y="390525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six measures passed</a:t>
            </a:r>
          </a:p>
        </p:txBody>
      </p:sp>
      <p:sp>
        <p:nvSpPr>
          <p:cNvPr id="15" name="Oval 14">
            <a:extLst xmlns:a="http://schemas.openxmlformats.org/drawingml/2006/main">
              <a:ext uri="{FF2B5EF4-FFF2-40B4-BE49-F238E27FC236}">
                <a16:creationId xmlns:a16="http://schemas.microsoft.com/office/drawing/2014/main" id="{9B61EC65-726A-42E5-8A14-F88873DDADC8}"/>
              </a:ext>
            </a:extLst>
          </p:cNvPr>
          <p:cNvSpPr>
            <a:spLocks xmlns:a="http://schemas.openxmlformats.org/drawingml/2006/main" noGrp="1"/>
          </p:cNvSpPr>
          <p:nvPr/>
        </p:nvSpPr>
        <p:spPr>
          <a:xfrm xmlns:a="http://schemas.openxmlformats.org/drawingml/2006/main">
            <a:off x="7715250" y="4514850"/>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E2FAF044-EC66-4706-B637-C6D60EBB3C5D}"/>
              </a:ext>
            </a:extLst>
          </p:cNvPr>
          <p:cNvSpPr>
            <a:spLocks xmlns:a="http://schemas.openxmlformats.org/drawingml/2006/main" noGrp="1"/>
          </p:cNvSpPr>
          <p:nvPr/>
        </p:nvSpPr>
        <p:spPr>
          <a:xfrm xmlns:a="http://schemas.openxmlformats.org/drawingml/2006/main">
            <a:off x="7962900" y="4429125"/>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the stored hashes still match</a:t>
            </a:r>
          </a:p>
        </p:txBody>
      </p:sp>
      <p:sp>
        <p:nvSpPr>
          <p:cNvPr id="17" name="Oval 16">
            <a:extLst xmlns:a="http://schemas.openxmlformats.org/drawingml/2006/main">
              <a:ext uri="{FF2B5EF4-FFF2-40B4-BE49-F238E27FC236}">
                <a16:creationId xmlns:a16="http://schemas.microsoft.com/office/drawing/2014/main" id="{968BD3E6-738E-48C7-9E19-224A5B1EC64E}"/>
              </a:ext>
            </a:extLst>
          </p:cNvPr>
          <p:cNvSpPr>
            <a:spLocks xmlns:a="http://schemas.openxmlformats.org/drawingml/2006/main" noGrp="1"/>
          </p:cNvSpPr>
          <p:nvPr/>
        </p:nvSpPr>
        <p:spPr>
          <a:xfrm xmlns:a="http://schemas.openxmlformats.org/drawingml/2006/main">
            <a:off x="7715250" y="5038725"/>
            <a:ext cx="95250" cy="9525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2EE3A2A8-7EED-41BA-AFB2-67B275860726}"/>
              </a:ext>
            </a:extLst>
          </p:cNvPr>
          <p:cNvSpPr>
            <a:spLocks xmlns:a="http://schemas.openxmlformats.org/drawingml/2006/main" noGrp="1"/>
          </p:cNvSpPr>
          <p:nvPr/>
        </p:nvSpPr>
        <p:spPr>
          <a:xfrm xmlns:a="http://schemas.openxmlformats.org/drawingml/2006/main">
            <a:off x="7962900" y="4953000"/>
            <a:ext cx="32956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the limits of the laboratory</a:t>
            </a:r>
          </a:p>
        </p:txBody>
      </p:sp>
      <p:sp>
        <p:nvSpPr>
          <p:cNvPr id="19" name="Rectangle: Rounded Corners 18">
            <a:extLst xmlns:a="http://schemas.openxmlformats.org/drawingml/2006/main">
              <a:ext uri="{FF2B5EF4-FFF2-40B4-BE49-F238E27FC236}">
                <a16:creationId xmlns:a16="http://schemas.microsoft.com/office/drawing/2014/main" id="{94EAA160-BA7C-4581-A092-2929D4E7AB97}"/>
              </a:ext>
            </a:extLst>
          </p:cNvPr>
          <p:cNvSpPr>
            <a:spLocks xmlns:a="http://schemas.openxmlformats.org/drawingml/2006/main" noGrp="1"/>
          </p:cNvSpPr>
          <p:nvPr/>
        </p:nvSpPr>
        <p:spPr>
          <a:xfrm xmlns:a="http://schemas.openxmlformats.org/drawingml/2006/main">
            <a:off x="7715250" y="5581650"/>
            <a:ext cx="3600450" cy="4572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A2B81BFC-5F19-4C29-9553-F58BBE71F10A}"/>
              </a:ext>
            </a:extLst>
          </p:cNvPr>
          <p:cNvSpPr>
            <a:spLocks xmlns:a="http://schemas.openxmlformats.org/drawingml/2006/main" noGrp="1"/>
          </p:cNvSpPr>
          <p:nvPr/>
        </p:nvSpPr>
        <p:spPr>
          <a:xfrm xmlns:a="http://schemas.openxmlformats.org/drawingml/2006/main">
            <a:off x="7886700" y="5695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E62D0"/>
                </a:solidFill>
              </a:defRPr>
            </a:pPr>
            <a:r>
              <a:rPr sz="1500" b="1" i="0">
                <a:solidFill>
                  <a:srgbClr val="1E62D0"/>
                </a:solidFill>
              </a:rPr>
              <a:t>phase6-summary.json + metrics.json</a:t>
            </a:r>
          </a:p>
        </p:txBody>
      </p:sp>
    </p:spTree>
    <p:extLst>
      <p:ext uri="{BB962C8B-B14F-4D97-AF65-F5344CB8AC3E}">
        <p14:creationId xmlns:p14="http://schemas.microsoft.com/office/powerpoint/2010/main" val="5385788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94CBAD6B-DAAB-412F-8321-9F69087B22AB}"/>
              </a:ext>
            </a:extLst>
          </p:cNvPr>
          <p:cNvSpPr>
            <a:spLocks xmlns:a="http://schemas.openxmlformats.org/drawingml/2006/main" noGrp="1"/>
          </p:cNvSpPr>
          <p:nvPr/>
        </p:nvSpPr>
        <p:spPr>
          <a:xfrm xmlns:a="http://schemas.openxmlformats.org/drawingml/2006/main">
            <a:off x="40005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1E62D0"/>
                </a:solidFill>
              </a:defRPr>
            </a:pPr>
            <a:r>
              <a:rPr sz="1125" b="1" i="0">
                <a:solidFill>
                  <a:srgbClr val="1E62D0"/>
                </a:solidFill>
              </a:rPr>
              <a:t>COMPLETED PATH</a:t>
            </a:r>
          </a:p>
        </p:txBody>
      </p:sp>
      <p:sp>
        <p:nvSpPr>
          <p:cNvPr id="2" name="Rectangle 1">
            <a:extLst xmlns:a="http://schemas.openxmlformats.org/drawingml/2006/main">
              <a:ext uri="{FF2B5EF4-FFF2-40B4-BE49-F238E27FC236}">
                <a16:creationId xmlns:a16="http://schemas.microsoft.com/office/drawing/2014/main" id="{7520C832-1D35-4A25-8BFB-0D1C0A6A294B}"/>
              </a:ext>
            </a:extLst>
          </p:cNvPr>
          <p:cNvSpPr>
            <a:spLocks xmlns:a="http://schemas.openxmlformats.org/drawingml/2006/main" noGrp="1"/>
          </p:cNvSpPr>
          <p:nvPr/>
        </p:nvSpPr>
        <p:spPr>
          <a:xfrm xmlns:a="http://schemas.openxmlformats.org/drawingml/2006/main">
            <a:off x="400050" y="6286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111827"/>
                </a:solidFill>
              </a:defRPr>
            </a:pPr>
            <a:r>
              <a:rPr sz="2925" b="1" i="0">
                <a:solidFill>
                  <a:srgbClr val="111827"/>
                </a:solidFill>
              </a:rPr>
              <a:t>The final three planned steps are complete</a:t>
            </a:r>
          </a:p>
        </p:txBody>
      </p:sp>
      <p:sp>
        <p:nvSpPr>
          <p:cNvPr id="3" name="Rectangle 2">
            <a:extLst xmlns:a="http://schemas.openxmlformats.org/drawingml/2006/main">
              <a:ext uri="{FF2B5EF4-FFF2-40B4-BE49-F238E27FC236}">
                <a16:creationId xmlns:a16="http://schemas.microsoft.com/office/drawing/2014/main" id="{BDFF7E09-8A6D-4FE0-A55B-CDC9EF13479E}"/>
              </a:ext>
            </a:extLst>
          </p:cNvPr>
          <p:cNvSpPr>
            <a:spLocks xmlns:a="http://schemas.openxmlformats.org/drawingml/2006/main" noGrp="1"/>
          </p:cNvSpPr>
          <p:nvPr/>
        </p:nvSpPr>
        <p:spPr>
          <a:xfrm xmlns:a="http://schemas.openxmlformats.org/drawingml/2006/main">
            <a:off x="400050" y="1276350"/>
            <a:ext cx="11391900" cy="9525"/>
          </a:xfrm>
          <a:prstGeom xmlns:a="http://schemas.openxmlformats.org/drawingml/2006/main" prst="rect">
            <a:avLst/>
          </a:prstGeom>
          <a:solidFill xmlns:a="http://schemas.openxmlformats.org/drawingml/2006/main">
            <a:srgbClr val="C8CED6"/>
          </a:solidFill>
          <a:ln xmlns:a="http://schemas.openxmlformats.org/drawingml/2006/main" w="0">
            <a:solidFill>
              <a:srgbClr val="C8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305EF95C-9829-4E4C-804C-6290ACCF34C3}"/>
              </a:ext>
            </a:extLst>
          </p:cNvPr>
          <p:cNvSpPr>
            <a:spLocks xmlns:a="http://schemas.openxmlformats.org/drawingml/2006/main" noGrp="1"/>
          </p:cNvSpPr>
          <p:nvPr/>
        </p:nvSpPr>
        <p:spPr>
          <a:xfrm xmlns:a="http://schemas.openxmlformats.org/drawingml/2006/main">
            <a:off x="9715500" y="628650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i="0">
                <a:solidFill>
                  <a:srgbClr val="556070"/>
                </a:solidFill>
              </a:defRPr>
            </a:pPr>
            <a:r>
              <a:rPr sz="975" b="0" i="0">
                <a:solidFill>
                  <a:srgbClr val="556070"/>
                </a:solidFill>
              </a:rPr>
              <a:t>4 SEPTEMBER 2026  |  16</a:t>
            </a:r>
          </a:p>
        </p:txBody>
      </p:sp>
      <p:sp>
        <p:nvSpPr>
          <p:cNvPr id="5" name="Rectangle 4">
            <a:extLst xmlns:a="http://schemas.openxmlformats.org/drawingml/2006/main">
              <a:ext uri="{FF2B5EF4-FFF2-40B4-BE49-F238E27FC236}">
                <a16:creationId xmlns:a16="http://schemas.microsoft.com/office/drawing/2014/main" id="{848C6AE5-E49F-4FC1-89D8-0455A89E770A}"/>
              </a:ext>
            </a:extLst>
          </p:cNvPr>
          <p:cNvSpPr>
            <a:spLocks xmlns:a="http://schemas.openxmlformats.org/drawingml/2006/main" noGrp="1"/>
          </p:cNvSpPr>
          <p:nvPr/>
        </p:nvSpPr>
        <p:spPr>
          <a:xfrm xmlns:a="http://schemas.openxmlformats.org/drawingml/2006/main">
            <a:off x="400050" y="152400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i="0">
                <a:solidFill>
                  <a:srgbClr val="556070"/>
                </a:solidFill>
              </a:defRPr>
            </a:pPr>
            <a:r>
              <a:rPr sz="1800" b="0" i="0">
                <a:solidFill>
                  <a:srgbClr val="556070"/>
                </a:solidFill>
              </a:rPr>
              <a:t>These steps complete the evidence path from the running laboratory to a measured result.</a:t>
            </a:r>
          </a:p>
        </p:txBody>
      </p:sp>
      <p:sp>
        <p:nvSpPr>
          <p:cNvPr id="6" name="Rectangle 5">
            <a:extLst xmlns:a="http://schemas.openxmlformats.org/drawingml/2006/main">
              <a:ext uri="{FF2B5EF4-FFF2-40B4-BE49-F238E27FC236}">
                <a16:creationId xmlns:a16="http://schemas.microsoft.com/office/drawing/2014/main" id="{FAFC58AF-D44E-4494-B720-3AB43449A44E}"/>
              </a:ext>
            </a:extLst>
          </p:cNvPr>
          <p:cNvSpPr>
            <a:spLocks xmlns:a="http://schemas.openxmlformats.org/drawingml/2006/main" noGrp="1"/>
          </p:cNvSpPr>
          <p:nvPr/>
        </p:nvSpPr>
        <p:spPr>
          <a:xfrm xmlns:a="http://schemas.openxmlformats.org/drawingml/2006/main">
            <a:off x="857250" y="3295650"/>
            <a:ext cx="10458450" cy="1905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934F3F4F-1A15-4F4F-B98A-3B59DE2893D2}"/>
              </a:ext>
            </a:extLst>
          </p:cNvPr>
          <p:cNvSpPr>
            <a:spLocks xmlns:a="http://schemas.openxmlformats.org/drawingml/2006/main" noGrp="1"/>
          </p:cNvSpPr>
          <p:nvPr/>
        </p:nvSpPr>
        <p:spPr>
          <a:xfrm xmlns:a="http://schemas.openxmlformats.org/drawingml/2006/main">
            <a:off x="8763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F1D08456-764B-4770-BC60-854AE8962175}"/>
              </a:ext>
            </a:extLst>
          </p:cNvPr>
          <p:cNvSpPr>
            <a:spLocks xmlns:a="http://schemas.openxmlformats.org/drawingml/2006/main" noGrp="1"/>
          </p:cNvSpPr>
          <p:nvPr/>
        </p:nvSpPr>
        <p:spPr>
          <a:xfrm xmlns:a="http://schemas.openxmlformats.org/drawingml/2006/main">
            <a:off x="8763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4</a:t>
            </a:r>
          </a:p>
        </p:txBody>
      </p:sp>
      <p:sp>
        <p:nvSpPr>
          <p:cNvPr id="9" name="Rectangle 8">
            <a:extLst xmlns:a="http://schemas.openxmlformats.org/drawingml/2006/main">
              <a:ext uri="{FF2B5EF4-FFF2-40B4-BE49-F238E27FC236}">
                <a16:creationId xmlns:a16="http://schemas.microsoft.com/office/drawing/2014/main" id="{9FDD871E-2155-47B4-9387-6F5503366B56}"/>
              </a:ext>
            </a:extLst>
          </p:cNvPr>
          <p:cNvSpPr>
            <a:spLocks xmlns:a="http://schemas.openxmlformats.org/drawingml/2006/main" noGrp="1"/>
          </p:cNvSpPr>
          <p:nvPr/>
        </p:nvSpPr>
        <p:spPr>
          <a:xfrm xmlns:a="http://schemas.openxmlformats.org/drawingml/2006/main">
            <a:off x="8763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Explain slice decisions</a:t>
            </a:r>
          </a:p>
        </p:txBody>
      </p:sp>
      <p:sp>
        <p:nvSpPr>
          <p:cNvPr id="10" name="Rectangle 9">
            <a:extLst xmlns:a="http://schemas.openxmlformats.org/drawingml/2006/main">
              <a:ext uri="{FF2B5EF4-FFF2-40B4-BE49-F238E27FC236}">
                <a16:creationId xmlns:a16="http://schemas.microsoft.com/office/drawing/2014/main" id="{4401141E-FE2D-45EF-B3A1-4B84D1277FDC}"/>
              </a:ext>
            </a:extLst>
          </p:cNvPr>
          <p:cNvSpPr>
            <a:spLocks xmlns:a="http://schemas.openxmlformats.org/drawingml/2006/main" noGrp="1"/>
          </p:cNvSpPr>
          <p:nvPr/>
        </p:nvSpPr>
        <p:spPr>
          <a:xfrm xmlns:a="http://schemas.openxmlformats.org/drawingml/2006/main">
            <a:off x="8763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Use clear rules and retain the reason for every slice decision.</a:t>
            </a:r>
          </a:p>
        </p:txBody>
      </p:sp>
      <p:sp>
        <p:nvSpPr>
          <p:cNvPr id="11" name="Rectangle: Rounded Corners 10">
            <a:extLst xmlns:a="http://schemas.openxmlformats.org/drawingml/2006/main">
              <a:ext uri="{FF2B5EF4-FFF2-40B4-BE49-F238E27FC236}">
                <a16:creationId xmlns:a16="http://schemas.microsoft.com/office/drawing/2014/main" id="{036597CA-D27F-45A4-BD5C-C8A015927BE0}"/>
              </a:ext>
            </a:extLst>
          </p:cNvPr>
          <p:cNvSpPr>
            <a:spLocks xmlns:a="http://schemas.openxmlformats.org/drawingml/2006/main" noGrp="1"/>
          </p:cNvSpPr>
          <p:nvPr/>
        </p:nvSpPr>
        <p:spPr>
          <a:xfrm xmlns:a="http://schemas.openxmlformats.org/drawingml/2006/main">
            <a:off x="8763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BD3C4AEA-2920-4036-9E6E-7423F6F154C0}"/>
              </a:ext>
            </a:extLst>
          </p:cNvPr>
          <p:cNvSpPr>
            <a:spLocks xmlns:a="http://schemas.openxmlformats.org/drawingml/2006/main" noGrp="1"/>
          </p:cNvSpPr>
          <p:nvPr/>
        </p:nvSpPr>
        <p:spPr>
          <a:xfrm xmlns:a="http://schemas.openxmlformats.org/drawingml/2006/main">
            <a:off x="9906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13" name="Oval 12">
            <a:extLst xmlns:a="http://schemas.openxmlformats.org/drawingml/2006/main">
              <a:ext uri="{FF2B5EF4-FFF2-40B4-BE49-F238E27FC236}">
                <a16:creationId xmlns:a16="http://schemas.microsoft.com/office/drawing/2014/main" id="{32B6A1A2-1D23-4119-B147-36EFA5823651}"/>
              </a:ext>
            </a:extLst>
          </p:cNvPr>
          <p:cNvSpPr>
            <a:spLocks xmlns:a="http://schemas.openxmlformats.org/drawingml/2006/main" noGrp="1"/>
          </p:cNvSpPr>
          <p:nvPr/>
        </p:nvSpPr>
        <p:spPr>
          <a:xfrm xmlns:a="http://schemas.openxmlformats.org/drawingml/2006/main">
            <a:off x="43434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0A98F61E-F044-4F79-AA01-69764E6AA36E}"/>
              </a:ext>
            </a:extLst>
          </p:cNvPr>
          <p:cNvSpPr>
            <a:spLocks xmlns:a="http://schemas.openxmlformats.org/drawingml/2006/main" noGrp="1"/>
          </p:cNvSpPr>
          <p:nvPr/>
        </p:nvSpPr>
        <p:spPr>
          <a:xfrm xmlns:a="http://schemas.openxmlformats.org/drawingml/2006/main">
            <a:off x="43434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5</a:t>
            </a:r>
          </a:p>
        </p:txBody>
      </p:sp>
      <p:sp>
        <p:nvSpPr>
          <p:cNvPr id="15" name="Rectangle 14">
            <a:extLst xmlns:a="http://schemas.openxmlformats.org/drawingml/2006/main">
              <a:ext uri="{FF2B5EF4-FFF2-40B4-BE49-F238E27FC236}">
                <a16:creationId xmlns:a16="http://schemas.microsoft.com/office/drawing/2014/main" id="{822F5938-F071-4161-B975-02E5CE714D41}"/>
              </a:ext>
            </a:extLst>
          </p:cNvPr>
          <p:cNvSpPr>
            <a:spLocks xmlns:a="http://schemas.openxmlformats.org/drawingml/2006/main" noGrp="1"/>
          </p:cNvSpPr>
          <p:nvPr/>
        </p:nvSpPr>
        <p:spPr>
          <a:xfrm xmlns:a="http://schemas.openxmlformats.org/drawingml/2006/main">
            <a:off x="43434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Protect and adapt evidence</a:t>
            </a:r>
          </a:p>
        </p:txBody>
      </p:sp>
      <p:sp>
        <p:nvSpPr>
          <p:cNvPr id="16" name="Rectangle 15">
            <a:extLst xmlns:a="http://schemas.openxmlformats.org/drawingml/2006/main">
              <a:ext uri="{FF2B5EF4-FFF2-40B4-BE49-F238E27FC236}">
                <a16:creationId xmlns:a16="http://schemas.microsoft.com/office/drawing/2014/main" id="{20E4E05B-CBA4-4128-AC25-17457B6738DE}"/>
              </a:ext>
            </a:extLst>
          </p:cNvPr>
          <p:cNvSpPr>
            <a:spLocks xmlns:a="http://schemas.openxmlformats.org/drawingml/2006/main" noGrp="1"/>
          </p:cNvSpPr>
          <p:nvPr/>
        </p:nvSpPr>
        <p:spPr>
          <a:xfrm xmlns:a="http://schemas.openxmlformats.org/drawingml/2006/main">
            <a:off x="43434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Apply approved priority changes, record custody details and verify hashes.</a:t>
            </a:r>
          </a:p>
        </p:txBody>
      </p:sp>
      <p:sp>
        <p:nvSpPr>
          <p:cNvPr id="17" name="Rectangle: Rounded Corners 16">
            <a:extLst xmlns:a="http://schemas.openxmlformats.org/drawingml/2006/main">
              <a:ext uri="{FF2B5EF4-FFF2-40B4-BE49-F238E27FC236}">
                <a16:creationId xmlns:a16="http://schemas.microsoft.com/office/drawing/2014/main" id="{09A2C90D-0583-4782-BA29-6A072F0DC17B}"/>
              </a:ext>
            </a:extLst>
          </p:cNvPr>
          <p:cNvSpPr>
            <a:spLocks xmlns:a="http://schemas.openxmlformats.org/drawingml/2006/main" noGrp="1"/>
          </p:cNvSpPr>
          <p:nvPr/>
        </p:nvSpPr>
        <p:spPr>
          <a:xfrm xmlns:a="http://schemas.openxmlformats.org/drawingml/2006/main">
            <a:off x="43434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D1C71E3-5D01-4C56-8FB9-5B809597B876}"/>
              </a:ext>
            </a:extLst>
          </p:cNvPr>
          <p:cNvSpPr>
            <a:spLocks xmlns:a="http://schemas.openxmlformats.org/drawingml/2006/main" noGrp="1"/>
          </p:cNvSpPr>
          <p:nvPr/>
        </p:nvSpPr>
        <p:spPr>
          <a:xfrm xmlns:a="http://schemas.openxmlformats.org/drawingml/2006/main">
            <a:off x="44577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
        <p:nvSpPr>
          <p:cNvPr id="19" name="Oval 18">
            <a:extLst xmlns:a="http://schemas.openxmlformats.org/drawingml/2006/main">
              <a:ext uri="{FF2B5EF4-FFF2-40B4-BE49-F238E27FC236}">
                <a16:creationId xmlns:a16="http://schemas.microsoft.com/office/drawing/2014/main" id="{5BDFD525-6EF4-400B-9DC7-8C61AECAAA3D}"/>
              </a:ext>
            </a:extLst>
          </p:cNvPr>
          <p:cNvSpPr>
            <a:spLocks xmlns:a="http://schemas.openxmlformats.org/drawingml/2006/main" noGrp="1"/>
          </p:cNvSpPr>
          <p:nvPr/>
        </p:nvSpPr>
        <p:spPr>
          <a:xfrm xmlns:a="http://schemas.openxmlformats.org/drawingml/2006/main">
            <a:off x="7810500" y="3143250"/>
            <a:ext cx="304800" cy="304800"/>
          </a:xfrm>
          <a:prstGeom xmlns:a="http://schemas.openxmlformats.org/drawingml/2006/main" prst="ellipse">
            <a:avLst/>
          </a:prstGeom>
          <a:solidFill xmlns:a="http://schemas.openxmlformats.org/drawingml/2006/main">
            <a:srgbClr val="1E62D0"/>
          </a:solidFill>
          <a:ln xmlns:a="http://schemas.openxmlformats.org/drawingml/2006/main" w="0">
            <a:solidFill>
              <a:srgbClr val="1E62D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AF1F9C33-919B-4DD4-A806-3B3773CC4117}"/>
              </a:ext>
            </a:extLst>
          </p:cNvPr>
          <p:cNvSpPr>
            <a:spLocks xmlns:a="http://schemas.openxmlformats.org/drawingml/2006/main" noGrp="1"/>
          </p:cNvSpPr>
          <p:nvPr/>
        </p:nvSpPr>
        <p:spPr>
          <a:xfrm xmlns:a="http://schemas.openxmlformats.org/drawingml/2006/main">
            <a:off x="7810500" y="3190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FFFFFF"/>
                </a:solidFill>
              </a:defRPr>
            </a:pPr>
            <a:r>
              <a:rPr sz="1125" b="1" i="0">
                <a:solidFill>
                  <a:srgbClr val="FFFFFF"/>
                </a:solidFill>
              </a:rPr>
              <a:t>6</a:t>
            </a:r>
          </a:p>
        </p:txBody>
      </p:sp>
      <p:sp>
        <p:nvSpPr>
          <p:cNvPr id="21" name="Rectangle 20">
            <a:extLst xmlns:a="http://schemas.openxmlformats.org/drawingml/2006/main">
              <a:ext uri="{FF2B5EF4-FFF2-40B4-BE49-F238E27FC236}">
                <a16:creationId xmlns:a16="http://schemas.microsoft.com/office/drawing/2014/main" id="{78A10911-82C2-4C4E-B2AC-C3236D25544C}"/>
              </a:ext>
            </a:extLst>
          </p:cNvPr>
          <p:cNvSpPr>
            <a:spLocks xmlns:a="http://schemas.openxmlformats.org/drawingml/2006/main" noGrp="1"/>
          </p:cNvSpPr>
          <p:nvPr/>
        </p:nvSpPr>
        <p:spPr>
          <a:xfrm xmlns:a="http://schemas.openxmlformats.org/drawingml/2006/main">
            <a:off x="7810500" y="24003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i="0">
                <a:solidFill>
                  <a:srgbClr val="111827"/>
                </a:solidFill>
              </a:defRPr>
            </a:pPr>
            <a:r>
              <a:rPr sz="2025" b="1" i="0">
                <a:solidFill>
                  <a:srgbClr val="111827"/>
                </a:solidFill>
              </a:rPr>
              <a:t>Evaluate the prototype</a:t>
            </a:r>
          </a:p>
        </p:txBody>
      </p:sp>
      <p:sp>
        <p:nvSpPr>
          <p:cNvPr id="22" name="Rectangle 21">
            <a:extLst xmlns:a="http://schemas.openxmlformats.org/drawingml/2006/main">
              <a:ext uri="{FF2B5EF4-FFF2-40B4-BE49-F238E27FC236}">
                <a16:creationId xmlns:a16="http://schemas.microsoft.com/office/drawing/2014/main" id="{FFE6E3FF-8D7A-4722-87DA-26B71FE18237}"/>
              </a:ext>
            </a:extLst>
          </p:cNvPr>
          <p:cNvSpPr>
            <a:spLocks xmlns:a="http://schemas.openxmlformats.org/drawingml/2006/main" noGrp="1"/>
          </p:cNvSpPr>
          <p:nvPr/>
        </p:nvSpPr>
        <p:spPr>
          <a:xfrm xmlns:a="http://schemas.openxmlformats.org/drawingml/2006/main">
            <a:off x="7810500" y="3762375"/>
            <a:ext cx="2895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56070"/>
                </a:solidFill>
              </a:defRPr>
            </a:pPr>
            <a:r>
              <a:rPr sz="1725" b="0" i="0">
                <a:solidFill>
                  <a:srgbClr val="556070"/>
                </a:solidFill>
              </a:rPr>
              <a:t>Compare all five scenarios with ground truth and record the measures.</a:t>
            </a:r>
          </a:p>
        </p:txBody>
      </p:sp>
      <p:sp>
        <p:nvSpPr>
          <p:cNvPr id="23" name="Rectangle: Rounded Corners 22">
            <a:extLst xmlns:a="http://schemas.openxmlformats.org/drawingml/2006/main">
              <a:ext uri="{FF2B5EF4-FFF2-40B4-BE49-F238E27FC236}">
                <a16:creationId xmlns:a16="http://schemas.microsoft.com/office/drawing/2014/main" id="{324EC9D9-D9BC-4162-A1DA-C02D86D45429}"/>
              </a:ext>
            </a:extLst>
          </p:cNvPr>
          <p:cNvSpPr>
            <a:spLocks xmlns:a="http://schemas.openxmlformats.org/drawingml/2006/main" noGrp="1"/>
          </p:cNvSpPr>
          <p:nvPr/>
        </p:nvSpPr>
        <p:spPr>
          <a:xfrm xmlns:a="http://schemas.openxmlformats.org/drawingml/2006/main">
            <a:off x="7810500" y="5181600"/>
            <a:ext cx="1390650" cy="323850"/>
          </a:xfrm>
          <a:prstGeom xmlns:a="http://schemas.openxmlformats.org/drawingml/2006/main" prst="roundRect">
            <a:avLst>
              <a:gd name="adj" fmla="val 23529"/>
            </a:avLst>
          </a:prstGeom>
          <a:solidFill xmlns:a="http://schemas.openxmlformats.org/drawingml/2006/main">
            <a:srgbClr val="EAF5FB"/>
          </a:solidFill>
          <a:ln xmlns:a="http://schemas.openxmlformats.org/drawingml/2006/main" w="0">
            <a:solidFill>
              <a:srgbClr val="EAF5F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1D78163A-92B6-421E-94EF-17B7D5F33A8C}"/>
              </a:ext>
            </a:extLst>
          </p:cNvPr>
          <p:cNvSpPr>
            <a:spLocks xmlns:a="http://schemas.openxmlformats.org/drawingml/2006/main" noGrp="1"/>
          </p:cNvSpPr>
          <p:nvPr/>
        </p:nvSpPr>
        <p:spPr>
          <a:xfrm xmlns:a="http://schemas.openxmlformats.org/drawingml/2006/main">
            <a:off x="7924800" y="5248275"/>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1E62D0"/>
                </a:solidFill>
              </a:defRPr>
            </a:pPr>
            <a:r>
              <a:rPr sz="1050" b="1" i="0">
                <a:solidFill>
                  <a:srgbClr val="1E62D0"/>
                </a:solidFill>
              </a:rPr>
              <a:t>COMPLETED</a:t>
            </a:r>
          </a:p>
        </p:txBody>
      </p:sp>
    </p:spTree>
    <p:extLst>
      <p:ext uri="{BB962C8B-B14F-4D97-AF65-F5344CB8AC3E}">
        <p14:creationId xmlns:p14="http://schemas.microsoft.com/office/powerpoint/2010/main" val="1394614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2026-09-04T19:53:19.9300000Z</dcterms:created>
  <dcterms:modified xsi:type="dcterms:W3CDTF">2026-09-04T19:53:19.9300000Z</dcterms:modified>
</coreProperties>
</file>