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232245af009400c" /><Relationship Type="http://schemas.openxmlformats.org/officeDocument/2006/relationships/extended-properties" Target="/docProps/app.xml" Id="Ra2caf5dd0efd41b3" /><Relationship Type="http://schemas.openxmlformats.org/officeDocument/2006/relationships/officeDocument" Target="/ppt/presentation.xml" Id="Rf23e5039a03b43e4" /></Relationships>
</file>

<file path=ppt/presentation.xml><?xml version="1.0" encoding="utf-8"?>
<p:presentation xmlns:p="http://schemas.openxmlformats.org/presentationml/2006/main">
  <p:sldMasterIdLst>
    <p:sldMasterId xmlns:r="http://schemas.openxmlformats.org/officeDocument/2006/relationships" id="2147483648" r:id="Rcc8fb2d71d3e4d9e"/>
  </p:sldMasterIdLst>
  <p:notesMasterIdLst>
    <p:notesMasterId xmlns:r="http://schemas.openxmlformats.org/officeDocument/2006/relationships" r:id="R9b25193321994cb2"/>
  </p:notesMasterIdLst>
  <p:sldIdLst>
    <p:sldId xmlns:r="http://schemas.openxmlformats.org/officeDocument/2006/relationships" id="256" r:id="Rd94fcf15271b4937"/>
    <p:sldId xmlns:r="http://schemas.openxmlformats.org/officeDocument/2006/relationships" id="257" r:id="R9cba240dde0d449d"/>
    <p:sldId xmlns:r="http://schemas.openxmlformats.org/officeDocument/2006/relationships" id="258" r:id="Rc348f6c2c0b44825"/>
    <p:sldId xmlns:r="http://schemas.openxmlformats.org/officeDocument/2006/relationships" id="259" r:id="Ree684c8a95924792"/>
    <p:sldId xmlns:r="http://schemas.openxmlformats.org/officeDocument/2006/relationships" id="260" r:id="R918eaa9353ac4d04"/>
    <p:sldId xmlns:r="http://schemas.openxmlformats.org/officeDocument/2006/relationships" id="261" r:id="Ra502e29102d94533"/>
    <p:sldId xmlns:r="http://schemas.openxmlformats.org/officeDocument/2006/relationships" id="262" r:id="Rfca3231c71024e7b"/>
    <p:sldId xmlns:r="http://schemas.openxmlformats.org/officeDocument/2006/relationships" id="263" r:id="Re114fb8109d347b0"/>
    <p:sldId xmlns:r="http://schemas.openxmlformats.org/officeDocument/2006/relationships" id="264" r:id="Rbf10f8f4b903470e"/>
    <p:sldId xmlns:r="http://schemas.openxmlformats.org/officeDocument/2006/relationships" id="265" r:id="Rc99428ce96a54a24"/>
    <p:sldId xmlns:r="http://schemas.openxmlformats.org/officeDocument/2006/relationships" id="266" r:id="R52d8cbe632e14950"/>
    <p:sldId xmlns:r="http://schemas.openxmlformats.org/officeDocument/2006/relationships" id="267" r:id="Rd970a748270a4ce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c254ca6b0c7f4ce3" /><Relationship Type="http://schemas.openxmlformats.org/officeDocument/2006/relationships/slideMaster" Target="/ppt/slideMasters/slideMaster1.xml" Id="Rcc8fb2d71d3e4d9e" /><Relationship Type="http://schemas.openxmlformats.org/officeDocument/2006/relationships/notesMaster" Target="/ppt/notesMasters/notesMaster1.xml" Id="R9b25193321994cb2" /><Relationship Type="http://schemas.openxmlformats.org/officeDocument/2006/relationships/presProps" Target="/ppt/presProps.xml" Id="R835f216dd8e8472c" /><Relationship Type="http://schemas.openxmlformats.org/officeDocument/2006/relationships/viewProps" Target="/ppt/viewProps.xml" Id="R146baa4d66964604" /><Relationship Type="http://schemas.openxmlformats.org/officeDocument/2006/relationships/tableStyles" Target="/ppt/tableStyles.xml" Id="Rba25acae3b774e98" /><Relationship Type="http://schemas.openxmlformats.org/officeDocument/2006/relationships/slide" Target="/ppt/slides/slide1.xml" Id="Rd94fcf15271b4937" /><Relationship Type="http://schemas.openxmlformats.org/officeDocument/2006/relationships/slide" Target="/ppt/slides/slide2.xml" Id="R9cba240dde0d449d" /><Relationship Type="http://schemas.openxmlformats.org/officeDocument/2006/relationships/slide" Target="/ppt/slides/slide3.xml" Id="Rc348f6c2c0b44825" /><Relationship Type="http://schemas.openxmlformats.org/officeDocument/2006/relationships/slide" Target="/ppt/slides/slide4.xml" Id="Ree684c8a95924792" /><Relationship Type="http://schemas.openxmlformats.org/officeDocument/2006/relationships/slide" Target="/ppt/slides/slide5.xml" Id="R918eaa9353ac4d04" /><Relationship Type="http://schemas.openxmlformats.org/officeDocument/2006/relationships/slide" Target="/ppt/slides/slide6.xml" Id="Ra502e29102d94533" /><Relationship Type="http://schemas.openxmlformats.org/officeDocument/2006/relationships/slide" Target="/ppt/slides/slide7.xml" Id="Rfca3231c71024e7b" /><Relationship Type="http://schemas.openxmlformats.org/officeDocument/2006/relationships/slide" Target="/ppt/slides/slide8.xml" Id="Re114fb8109d347b0" /><Relationship Type="http://schemas.openxmlformats.org/officeDocument/2006/relationships/slide" Target="/ppt/slides/slide9.xml" Id="Rbf10f8f4b903470e" /><Relationship Type="http://schemas.openxmlformats.org/officeDocument/2006/relationships/slide" Target="/ppt/slides/slide10.xml" Id="Rc99428ce96a54a24" /><Relationship Type="http://schemas.openxmlformats.org/officeDocument/2006/relationships/slide" Target="/ppt/slides/slide11.xml" Id="R52d8cbe632e14950" /><Relationship Type="http://schemas.openxmlformats.org/officeDocument/2006/relationships/slide" Target="/ppt/slides/slide12.xml" Id="Rd970a748270a4ce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60a920a78f6414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d1be3caa8d046b1" /><Relationship Type="http://schemas.openxmlformats.org/officeDocument/2006/relationships/notesMaster" Target="/ppt/notesMasters/notesMaster1.xml" Id="Ra1658415fb054711" /></Relationships>
</file>

<file path=ppt/notesSlides/_rels/notesSlide2.xml.rels>&#65279;<?xml version="1.0" encoding="utf-8"?><Relationships xmlns="http://schemas.openxmlformats.org/package/2006/relationships"><Relationship Type="http://schemas.openxmlformats.org/officeDocument/2006/relationships/slide" Target="/ppt/slides/slide2.xml" Id="Raac60e2c85a34964" /><Relationship Type="http://schemas.openxmlformats.org/officeDocument/2006/relationships/notesMaster" Target="/ppt/notesMasters/notesMaster1.xml" Id="R3682ba69be524453" /></Relationships>
</file>

<file path=ppt/notesSlides/_rels/notesSlide3.xml.rels>&#65279;<?xml version="1.0" encoding="utf-8"?><Relationships xmlns="http://schemas.openxmlformats.org/package/2006/relationships"><Relationship Type="http://schemas.openxmlformats.org/officeDocument/2006/relationships/slide" Target="/ppt/slides/slide3.xml" Id="R03a3ae52814146c0" /><Relationship Type="http://schemas.openxmlformats.org/officeDocument/2006/relationships/notesMaster" Target="/ppt/notesMasters/notesMaster1.xml" Id="R3410e4f1aee045f6" /></Relationships>
</file>

<file path=ppt/notesSlides/_rels/notesSlide4.xml.rels>&#65279;<?xml version="1.0" encoding="utf-8"?><Relationships xmlns="http://schemas.openxmlformats.org/package/2006/relationships"><Relationship Type="http://schemas.openxmlformats.org/officeDocument/2006/relationships/slide" Target="/ppt/slides/slide4.xml" Id="R40cba34e1c334828" /><Relationship Type="http://schemas.openxmlformats.org/officeDocument/2006/relationships/notesMaster" Target="/ppt/notesMasters/notesMaster1.xml" Id="Rb8029cf6397b4cb5"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9f2728797045f9" /><Relationship Type="http://schemas.openxmlformats.org/officeDocument/2006/relationships/notesMaster" Target="/ppt/notesMasters/notesMaster1.xml" Id="Rf9931c1d3e5a4123" /></Relationships>
</file>

<file path=ppt/notesSlides/_rels/notesSlide6.xml.rels>&#65279;<?xml version="1.0" encoding="utf-8"?><Relationships xmlns="http://schemas.openxmlformats.org/package/2006/relationships"><Relationship Type="http://schemas.openxmlformats.org/officeDocument/2006/relationships/slide" Target="/ppt/slides/slide6.xml" Id="R842c6a5525f84b62" /><Relationship Type="http://schemas.openxmlformats.org/officeDocument/2006/relationships/notesMaster" Target="/ppt/notesMasters/notesMaster1.xml" Id="R27b7b088502b436b" /></Relationships>
</file>

<file path=ppt/notesSlides/_rels/notesSlide7.xml.rels>&#65279;<?xml version="1.0" encoding="utf-8"?><Relationships xmlns="http://schemas.openxmlformats.org/package/2006/relationships"><Relationship Type="http://schemas.openxmlformats.org/officeDocument/2006/relationships/slide" Target="/ppt/slides/slide7.xml" Id="R0934e8fe96a64b35" /><Relationship Type="http://schemas.openxmlformats.org/officeDocument/2006/relationships/notesMaster" Target="/ppt/notesMasters/notesMaster1.xml" Id="Rf93017741b0a45dc" /></Relationships>
</file>

<file path=ppt/notesSlides/_rels/notesSlide8.xml.rels>&#65279;<?xml version="1.0" encoding="utf-8"?><Relationships xmlns="http://schemas.openxmlformats.org/package/2006/relationships"><Relationship Type="http://schemas.openxmlformats.org/officeDocument/2006/relationships/slide" Target="/ppt/slides/slide8.xml" Id="Ra12f1853affd4c7c" /><Relationship Type="http://schemas.openxmlformats.org/officeDocument/2006/relationships/notesMaster" Target="/ppt/notesMasters/notesMaster1.xml" Id="Ra4f1c4c34cad4aa1" /></Relationships>
</file>

<file path=ppt/notesSlides/_rels/notesSlide9.xml.rels>&#65279;<?xml version="1.0" encoding="utf-8"?><Relationships xmlns="http://schemas.openxmlformats.org/package/2006/relationships"><Relationship Type="http://schemas.openxmlformats.org/officeDocument/2006/relationships/slide" Target="/ppt/slides/slide9.xml" Id="Rc595034ffc2c4470" /><Relationship Type="http://schemas.openxmlformats.org/officeDocument/2006/relationships/notesMaster" Target="/ppt/notesMasters/notesMaster1.xml" Id="R1360d713307a4ac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00958edb8194d9f" /><Relationship Type="http://schemas.openxmlformats.org/officeDocument/2006/relationships/notesMaster" Target="/ppt/notesMasters/notesMaster1.xml" Id="Rc4d252a2148841e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32f580cffc3442e" /><Relationship Type="http://schemas.openxmlformats.org/officeDocument/2006/relationships/notesMaster" Target="/ppt/notesMasters/notesMaster1.xml" Id="R4575e8b9ff8d4dc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fc250cb09b5439c" /><Relationship Type="http://schemas.openxmlformats.org/officeDocument/2006/relationships/notesMaster" Target="/ppt/notesMasters/notesMaster1.xml" Id="R2a14869956e74c6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Open by saying this is a progress update, not a claim that the entire research framework is finished. The first three planned development stages are complete and working.</a:t>
            </a:r>
          </a:p>
          <a:p xmlns:a="http://schemas.openxmlformats.org/drawingml/2006/main">
            <a:endParaRPr/>
          </a:p>
          <a:p xmlns:a="http://schemas.openxmlformats.org/drawingml/2006/main">
            <a:r>
              <a:t>[Sources]</a:t>
            </a:r>
          </a:p>
          <a:p xmlns:a="http://schemas.openxmlformats.org/drawingml/2006/main">
            <a:r>
              <a:t>- Proposal: Mukota LG_Makura SM.pdf.</a:t>
            </a:r>
          </a:p>
          <a:p xmlns:a="http://schemas.openxmlformats.org/drawingml/2006/main">
            <a:r>
              <a:t>- Implementation Action Plan: Mukota_Implementation_Action_Plan.docx.</a:t>
            </a:r>
          </a:p>
          <a:p xmlns:a="http://schemas.openxmlformats.org/drawingml/2006/main">
            <a:r>
              <a:t>Diagram hand-out:
The revised Word document contains three diagrams only: the framework architecture, the working two-slice laboratory prototype, and the current-versus-next activity model.
Use the diagrams as visual evidence rather than reading them line by line.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Avoid technical words here. Docker is the safe test environment, C# is the program I wrote, and GitHub is the online version history. A slice is a separate logical lane, not a physical wire.</a:t>
            </a:r>
          </a:p>
          <a:p xmlns:a="http://schemas.openxmlformats.org/drawingml/2006/main">
            <a:endParaRPr/>
          </a:p>
          <a:p xmlns:a="http://schemas.openxmlformats.org/drawingml/2006/main">
            <a:r>
              <a:t>[Sources]</a:t>
            </a:r>
          </a:p>
          <a:p xmlns:a="http://schemas.openxmlformats.org/drawingml/2006/main">
            <a:r>
              <a:t>- Proposal: Mukota LG_Makura SM.pdf, proposed adaptive framework and 5G slicing context.</a:t>
            </a:r>
          </a:p>
          <a:p xmlns:a="http://schemas.openxmlformats.org/drawingml/2006/main">
            <a:r>
              <a:t>- Implementation Action Plan: Mukota_Implementation_Action_Plan.docx.</a:t>
            </a:r>
          </a:p>
          <a:p xmlns:a="http://schemas.openxmlformats.org/drawingml/2006/main">
            <a:r>
              <a:t>Diagram 1 - framework architecture:
Blue identifies what has been reported as working in Phases 1-3. Amber identifies the approved next layers. Green identifies stored evidence or outputs.
The key flow is: laboratory evidence -&gt; C# normalised records -&gt; explainable slice decision -&gt; integrity and custody -&gt; retrieval and reporting.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This slide answers the supervisor's request directly: these are the practical steps already taken. I am now at the end of Step 3, not at the end of the research.</a:t>
            </a:r>
          </a:p>
          <a:p xmlns:a="http://schemas.openxmlformats.org/drawingml/2006/main">
            <a:endParaRPr/>
          </a:p>
          <a:p xmlns:a="http://schemas.openxmlformats.org/drawingml/2006/main">
            <a:r>
              <a:t>[Sources]</a:t>
            </a:r>
          </a:p>
          <a:p xmlns:a="http://schemas.openxmlformats.org/drawingml/2006/main">
            <a:r>
              <a:t>- Implementation Action Plan: Mukota_Implementation_Action_Plan.docx, Stages 1 to 3.</a:t>
            </a:r>
          </a:p>
          <a:p xmlns:a="http://schemas.openxmlformats.org/drawingml/2006/main">
            <a:r>
              <a:t>- Updated progress report: Mukota_Phase_1_and_2_Development_Progress_Report.docx.</a:t>
            </a:r>
          </a:p>
          <a:p xmlns:a="http://schemas.openxmlformats.org/drawingml/2006/main">
            <a:r>
              <a:t>How the diagrams fit the path:
The framework architecture diagram shows the complete research structure. The prototype deployment diagram shows where Phases 1-3 fit in the actual laboratory. The use-case diagram shows what is demonstrated now and what follows in Phases 4-6.</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Say: Docker lets me run each required 5G part safely on my laptop. The screenshot is fresh and shows the core services running. A baseline record means I captured the starting healthy state before later tests.</a:t>
            </a:r>
          </a:p>
          <a:p xmlns:a="http://schemas.openxmlformats.org/drawingml/2006/main">
            <a:endParaRPr/>
          </a:p>
          <a:p xmlns:a="http://schemas.openxmlformats.org/drawingml/2006/main">
            <a:r>
              <a:t>[Sources]</a:t>
            </a:r>
          </a:p>
          <a:p xmlns:a="http://schemas.openxmlformats.org/drawingml/2006/main">
            <a:r>
              <a:t>- Docker Desktop capture: assets/docker-desktop-containers-expanded.png, 4 August 2026.</a:t>
            </a:r>
          </a:p>
          <a:p xmlns:a="http://schemas.openxmlformats.org/drawingml/2006/main">
            <a:r>
              <a:t>- Implementation Action Plan: Stage 1 - establish the controlled 5G test environment.</a:t>
            </a:r>
          </a:p>
          <a:p xmlns:a="http://schemas.openxmlformats.org/drawingml/2006/main">
            <a:r>
              <a:t>Diagram 2 - prototype deployment:
Point to the upper blue layer: it is the implemented 5G laboratory. Point to the lower green layer: this is the C# evidence-organising step.
The diagram deliberately shows a laboratory boundary. It does not claim that this is a live operator network.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Say: These are software versions of a base station and phones. They let me run repeatable tests without physical radios. I used two different traffic scenarios so the evidence records are not all the same.</a:t>
            </a:r>
          </a:p>
          <a:p xmlns:a="http://schemas.openxmlformats.org/drawingml/2006/main">
            <a:endParaRPr/>
          </a:p>
          <a:p xmlns:a="http://schemas.openxmlformats.org/drawingml/2006/main">
            <a:r>
              <a:t>[Sources]</a:t>
            </a:r>
          </a:p>
          <a:p xmlns:a="http://schemas.openxmlformats.org/drawingml/2006/main">
            <a:r>
              <a:t>- Docker Desktop capture: assets/docker-desktop-ran-expanded.png, 4 August 2026.</a:t>
            </a:r>
          </a:p>
          <a:p xmlns:a="http://schemas.openxmlformats.org/drawingml/2006/main">
            <a:r>
              <a:t>- Phase 2 summary: artifacts/runs/phase2-20260804-073242/phase2-summary.json.</a:t>
            </a:r>
          </a:p>
          <a:p xmlns:a="http://schemas.openxmlformats.org/drawingml/2006/main">
            <a:r>
              <a:t>- Implementation Action Plan: Stage 2 - introduce virtual gNB/UE and controlled traffic scenarios.</a:t>
            </a:r>
            <a:endParaRPr/>
          </a:p>
          <a:p xmlns:a="http://schemas.openxmlformats.org/drawingml/2006/main">
            <a:r>
              <a:t>Diagram 2 - Phase 2:
The virtual gNB and two virtual UEs sit in the upper laboratory layer. Their controlled traffic produces the retained artefacts that enter the lower evidence-organisation layer.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Say: C# is the language used to write the evidence collection program. It reads selected files, puts key details into the same format, and keeps a reference to the original file. This is useful because I can search the records later without changing the evidence.</a:t>
            </a:r>
          </a:p>
          <a:p xmlns:a="http://schemas.openxmlformats.org/drawingml/2006/main">
            <a:endParaRPr/>
          </a:p>
          <a:p xmlns:a="http://schemas.openxmlformats.org/drawingml/2006/main">
            <a:r>
              <a:t>[Sources]</a:t>
            </a:r>
          </a:p>
          <a:p xmlns:a="http://schemas.openxmlformats.org/drawingml/2006/main">
            <a:r>
              <a:t>- Visual Studio capture: assets/visual-studio-build.png, 4 August 2026.</a:t>
            </a:r>
          </a:p>
          <a:p xmlns:a="http://schemas.openxmlformats.org/drawingml/2006/main">
            <a:r>
              <a:t>- Phase 3 summary: artifacts/runs/phase3-20260804-073407/evidence-</a:t>
            </a:r>
            <a:r>
              <a:t>index.json</a:t>
            </a:r>
            <a:r>
              <a:t>.</a:t>
            </a:r>
          </a:p>
          <a:p xmlns:a="http://schemas.openxmlformats.org/drawingml/2006/main">
            <a:r>
              <a:t>- Implementation Action Plan: Stage 3 - implement </a:t>
            </a:r>
            <a:r>
              <a:t>normalised</a:t>
            </a:r>
            <a:r>
              <a:t> evidence ingestion.</a:t>
            </a:r>
          </a:p>
          <a:p xmlns:a="http://schemas.openxmlformats.org/drawingml/2006/main">
            <a:r>
              <a:t>Diagram 2 - Phase 3:
The C#/.NET component is deliberately outside the OAI core. It reads selected retained artefacts and creates a searchable evidence index. It does not change the original source files.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Say: I did not build Phase 4 on an untested base. I reran the Docker laboratory, the two controlled traffic scenarios and the C# evidence ingestion first. Those checks passed, so the attribution result is based on working Phase 1 to 3 components.</a:t>
            </a:r>
          </a:p>
          <a:p xmlns:a="http://schemas.openxmlformats.org/drawingml/2006/main">
            <a:r>
              <a:t/>
            </a:r>
            <a:endParaRPr/>
          </a:p>
          <a:p xmlns:a="http://schemas.openxmlformats.org/drawingml/2006/main">
            <a:r>
              <a:t>[Sources]</a:t>
            </a:r>
          </a:p>
          <a:p xmlns:a="http://schemas.openxmlformats.org/drawingml/2006/main">
            <a:r>
              <a:t>- Phase 1 validation: artifacts/runs/20260816-123157.</a:t>
            </a:r>
          </a:p>
          <a:p xmlns:a="http://schemas.openxmlformats.org/drawingml/2006/main">
            <a:r>
              <a:t>- Phase 2 summary: artifacts/runs/phase2-20260816-123218/phase2-summary.json.</a:t>
            </a:r>
          </a:p>
          <a:p xmlns:a="http://schemas.openxmlformats.org/drawingml/2006/main">
            <a:r>
              <a:t>- Phase 3 index: artifacts/runs/phase3-20260816-123355/evidence-index.json.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Say: Phase 4 does not hide uncertainty. For each of the 27 records, the program stores a decision, the rule identifier and the reason. The eight labelled records matched the known test scenarios. Seven shared records and twelve records without enough context are safely held rather than forced into a slice.</a:t>
            </a:r>
          </a:p>
          <a:p xmlns:a="http://schemas.openxmlformats.org/drawingml/2006/main">
            <a:r>
              <a:t/>
            </a:r>
            <a:endParaRPr/>
          </a:p>
          <a:p xmlns:a="http://schemas.openxmlformats.org/drawingml/2006/main">
            <a:r>
              <a:t>[Sources]</a:t>
            </a:r>
          </a:p>
          <a:p xmlns:a="http://schemas.openxmlformats.org/drawingml/2006/main">
            <a:r>
              <a:t>- Implementation Action Plan: Step 4, transparent slice attribution and rule logic.</a:t>
            </a:r>
          </a:p>
          <a:p xmlns:a="http://schemas.openxmlformats.org/drawingml/2006/main">
            <a:r>
              <a:t>- Phase 4 summary: artifacts/runs/phase4-20260816-123422/phase4-summary.json.</a:t>
            </a:r>
          </a:p>
          <a:p xmlns:a="http://schemas.openxmlformats.org/drawingml/2006/main">
            <a:r>
              <a:t>- Rule configuration: config/phase4/slice-attribution-rules.json.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Say: The public repository contains the C# program, Docker configuration, attribution rules and the scripts used to reproduce the run. Commit 938d1cf is the Phase 4 implementation that I tested locally before pushing it.</a:t>
            </a:r>
          </a:p>
          <a:p xmlns:a="http://schemas.openxmlformats.org/drawingml/2006/main">
            <a:r>
              <a:t/>
            </a:r>
            <a:endParaRPr/>
          </a:p>
          <a:p xmlns:a="http://schemas.openxmlformats.org/drawingml/2006/main">
            <a:r>
              <a:t>[Sources]</a:t>
            </a:r>
          </a:p>
          <a:p xmlns:a="http://schemas.openxmlformats.org/drawingml/2006/main">
            <a:r>
              <a:t>- Public repository: https://github.com/glen-mukota/adaptive-forensic-framework-5g-network-slicing.</a:t>
            </a:r>
          </a:p>
          <a:p xmlns:a="http://schemas.openxmlformats.org/drawingml/2006/main">
            <a:r>
              <a:t>- Pushed commit: 938d1cf, Implement Phase 4 slice attribution.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Say: Phase 4 is now complete. The work that remains is intentionally separated: Phase 5 will apply an approved collection rule safely; Phase 6 will protect the history of the record and measure the result under controlled scenarios. I will not describe those later steps as complete until they have been implemented and tested.</a:t>
            </a:r>
          </a:p>
          <a:p xmlns:a="http://schemas.openxmlformats.org/drawingml/2006/main">
            <a:r>
              <a:t/>
            </a:r>
            <a:endParaRPr/>
          </a:p>
          <a:p xmlns:a="http://schemas.openxmlformats.org/drawingml/2006/main">
            <a:r>
              <a:t>[Sources]</a:t>
            </a:r>
          </a:p>
          <a:p xmlns:a="http://schemas.openxmlformats.org/drawingml/2006/main">
            <a:r>
              <a:t>- Implementation Action Plan: Steps 5 and 6.</a:t>
            </a:r>
          </a:p>
          <a:p xmlns:a="http://schemas.openxmlformats.org/drawingml/2006/main">
            <a:r>
              <a:t>- Proposal: adaptive forensic framework, integrity and evaluation components.</a:t>
            </a:r>
            <a:endParaRPr/>
          </a:p>
          <a:p xmlns:a="http://schemas.openxmlformats.org/drawingml/2006/main">
            <a:r>
              <a:t>- Phase 4 summary: artifacts/runs/phase4-20260816-123422/phase4-summary.json.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Say: Phase 5 is now complete. The program applies a priority update only after a controlled traffic record has been attributed to a slice. It does not change the source evidence. It then records the custody details, calculates SHA-256 and verifies each source again.</a:t>
            </a:r>
          </a:p>
          <a:p xmlns:a="http://schemas.openxmlformats.org/drawingml/2006/main">
            <a:r>
              <a:t/>
            </a:r>
            <a:endParaRPr/>
          </a:p>
          <a:p xmlns:a="http://schemas.openxmlformats.org/drawingml/2006/main">
            <a:r>
              <a:t>[Sources]</a:t>
            </a:r>
          </a:p>
          <a:p xmlns:a="http://schemas.openxmlformats.org/drawingml/2006/main">
            <a:r>
              <a:t>- Implementation Action Plan: Step 5, adaptive control, integrity and chain-of-custody controls.</a:t>
            </a:r>
          </a:p>
          <a:p xmlns:a="http://schemas.openxmlformats.org/drawingml/2006/main">
            <a:r>
              <a:t>- Phase 5 summary: artifacts/runs/phase5-20260822-170606/phase5-summary.json.</a:t>
            </a:r>
          </a:p>
          <a:p xmlns:a="http://schemas.openxmlformats.org/drawingml/2006/main">
            <a:r>
              <a:t>- Approved rule catalogue: config/phase5/adaptive-collection-rules.json.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Say: The first five planned steps are now implemented and tested in the controlled laboratory. Phase 6 is the evaluation stage: I will run the planned scenarios and report completeness, integrity, adaptation timing, custody completeness and operational overhead.</a:t>
            </a:r>
          </a:p>
          <a:p xmlns:a="http://schemas.openxmlformats.org/drawingml/2006/main">
            <a:r>
              <a:t/>
            </a:r>
            <a:endParaRPr/>
          </a:p>
          <a:p xmlns:a="http://schemas.openxmlformats.org/drawingml/2006/main">
            <a:r>
              <a:t>[Sources]</a:t>
            </a:r>
          </a:p>
          <a:p xmlns:a="http://schemas.openxmlformats.org/drawingml/2006/main">
            <a:r>
              <a:t>- Implementation Action Plan: Steps 5 and 6.</a:t>
            </a:r>
          </a:p>
          <a:p xmlns:a="http://schemas.openxmlformats.org/drawingml/2006/main">
            <a:r>
              <a:t>- Phase 5 summary: artifacts/runs/phase5-20260822-170606/phase5-summary.json.</a:t>
            </a:r>
            <a:endParaRPr/>
          </a:p>
          <a:p xmlns:a="http://schemas.openxmlformats.org/drawingml/2006/main">
            <a:r>
              <a:t>- Proposal: controlled evaluation metrics and scenarios.</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0b62902b5ef40f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6b501dc83c343dd" /><Relationship Type="http://schemas.openxmlformats.org/officeDocument/2006/relationships/slideLayout" Target="/ppt/slideLayouts/slideLayout1.xml" Id="Rfbd656869a614a3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bd656869a614a3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7a43041d7304543" /><Relationship Type="http://schemas.openxmlformats.org/officeDocument/2006/relationships/notesSlide" Target="/ppt/notesSlides/notesSlide1.xml" Id="Ree88cdd028eb45a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14bbe438c6e4577" /><Relationship Type="http://schemas.openxmlformats.org/officeDocument/2006/relationships/notesSlide" Target="/ppt/notesSlides/notesSlide2.xml" Id="Rc27de54a1d004ca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eefa6a281d341e4" /><Relationship Type="http://schemas.openxmlformats.org/officeDocument/2006/relationships/notesSlide" Target="/ppt/notesSlides/notesSlide3.xml" Id="R914c91f867c045e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af3218acae84aec" /><Relationship Type="http://schemas.openxmlformats.org/officeDocument/2006/relationships/image" Target="/ppt/media/image.png" Id="R543ea0948ccf4e95" /><Relationship Type="http://schemas.openxmlformats.org/officeDocument/2006/relationships/notesSlide" Target="/ppt/notesSlides/notesSlide4.xml" Id="Rcac6c881e881421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7496577693a47df" /><Relationship Type="http://schemas.openxmlformats.org/officeDocument/2006/relationships/image" Target="/ppt/media/image2.png" Id="Rdf80284841e245d7" /><Relationship Type="http://schemas.openxmlformats.org/officeDocument/2006/relationships/notesSlide" Target="/ppt/notesSlides/notesSlide5.xml" Id="Raa9a41407cea43b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2f087ec85a44dc1" /><Relationship Type="http://schemas.openxmlformats.org/officeDocument/2006/relationships/image" Target="/ppt/media/image3.png" Id="Rb1781ebac90f4255" /><Relationship Type="http://schemas.openxmlformats.org/officeDocument/2006/relationships/notesSlide" Target="/ppt/notesSlides/notesSlide6.xml" Id="R09ec2439ae384bf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d4a8e08acf94954" /><Relationship Type="http://schemas.openxmlformats.org/officeDocument/2006/relationships/notesSlide" Target="/ppt/notesSlides/notesSlide7.xml" Id="Rb211136bf753464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a86086b24f248f3" /><Relationship Type="http://schemas.openxmlformats.org/officeDocument/2006/relationships/notesSlide" Target="/ppt/notesSlides/notesSlide8.xml" Id="Rbbf238243aac4b4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d09674af08341df" /><Relationship Type="http://schemas.openxmlformats.org/officeDocument/2006/relationships/image" Target="/ppt/media/image.jpeg" Id="R855899d590eb48a4" /><Relationship Type="http://schemas.openxmlformats.org/officeDocument/2006/relationships/notesSlide" Target="/ppt/notesSlides/notesSlide9.xml" Id="R17a97a624094481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4296aff5bb2435a" /><Relationship Type="http://schemas.openxmlformats.org/officeDocument/2006/relationships/notesSlide" Target="/ppt/notesSlides/notesSlide10.xml" Id="Rec6ccc52a86a4a6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31d26d7f2ea4dec" /><Relationship Type="http://schemas.openxmlformats.org/officeDocument/2006/relationships/notesSlide" Target="/ppt/notesSlides/notesSlide11.xml" Id="R819415d3f38243e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49161fb038f4c41" /><Relationship Type="http://schemas.openxmlformats.org/officeDocument/2006/relationships/notesSlide" Target="/ppt/notesSlides/notesSlide12.xml" Id="Red2479e47a4645e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Rectangle 6">
            <a:extLst xmlns:a="http://schemas.openxmlformats.org/drawingml/2006/main">
              <a:ext uri="{FF2B5EF4-FFF2-40B4-BE49-F238E27FC236}">
                <a16:creationId xmlns:a16="http://schemas.microsoft.com/office/drawing/2014/main" id="{E64307B6-3C26-49B6-A3EF-F9C1B2A7F4A3}"/>
              </a:ext>
            </a:extLst>
          </p:cNvPr>
          <p:cNvSpPr>
            <a:spLocks xmlns:a="http://schemas.openxmlformats.org/drawingml/2006/main" noGrp="1"/>
          </p:cNvSpPr>
          <p:nvPr/>
        </p:nvSpPr>
        <p:spPr>
          <a:xfrm xmlns:a="http://schemas.openxmlformats.org/drawingml/2006/main">
            <a:off x="400050" y="400050"/>
            <a:ext cx="4476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1" i="0">
                <a:solidFill>
                  <a:srgbClr val="1E62D0"/>
                </a:solidFill>
              </a:defRPr>
            </a:pPr>
            <a:r>
              <a:rPr sz="1200" b="1" i="0">
                <a:solidFill>
                  <a:srgbClr val="1E62D0"/>
                </a:solidFill>
              </a:rPr>
              <a:t>COS700 SUPERVISOR PROGRESS MEETING</a:t>
            </a:r>
          </a:p>
        </p:txBody>
      </p:sp>
      <p:sp>
        <p:nvSpPr>
          <p:cNvPr id="2" name="Rectangle 1">
            <a:extLst xmlns:a="http://schemas.openxmlformats.org/drawingml/2006/main">
              <a:ext uri="{FF2B5EF4-FFF2-40B4-BE49-F238E27FC236}">
                <a16:creationId xmlns:a16="http://schemas.microsoft.com/office/drawing/2014/main" id="{36BE8625-BE4E-4EFE-AB83-2402ECC260CB}"/>
              </a:ext>
            </a:extLst>
          </p:cNvPr>
          <p:cNvSpPr>
            <a:spLocks xmlns:a="http://schemas.openxmlformats.org/drawingml/2006/main" noGrp="1"/>
          </p:cNvSpPr>
          <p:nvPr/>
        </p:nvSpPr>
        <p:spPr>
          <a:xfrm xmlns:a="http://schemas.openxmlformats.org/drawingml/2006/main">
            <a:off x="400050" y="1714500"/>
            <a:ext cx="8382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875" b="1" i="0">
                <a:solidFill>
                  <a:srgbClr val="111827"/>
                </a:solidFill>
              </a:defRPr>
            </a:pPr>
            <a:r>
              <a:rPr sz="4875" b="1" i="0">
                <a:solidFill>
                  <a:srgbClr val="111827"/>
                </a:solidFill>
              </a:rPr>
              <a:t>Implementation</a:t>
            </a:r>
          </a:p>
          <a:p xmlns:a="http://schemas.openxmlformats.org/drawingml/2006/main">
            <a:pPr algn="l">
              <a:buNone/>
              <a:defRPr sz="4875" b="1" i="0">
                <a:solidFill>
                  <a:srgbClr val="111827"/>
                </a:solidFill>
              </a:defRPr>
            </a:pPr>
            <a:r>
              <a:rPr sz="4875" b="1" i="0">
                <a:solidFill>
                  <a:srgbClr val="111827"/>
                </a:solidFill>
              </a:rPr>
              <a:t>progress so far</a:t>
            </a:r>
          </a:p>
        </p:txBody>
      </p:sp>
      <p:sp>
        <p:nvSpPr>
          <p:cNvPr id="3" name="Rectangle 2">
            <a:extLst xmlns:a="http://schemas.openxmlformats.org/drawingml/2006/main">
              <a:ext uri="{FF2B5EF4-FFF2-40B4-BE49-F238E27FC236}">
                <a16:creationId xmlns:a16="http://schemas.microsoft.com/office/drawing/2014/main" id="{E164E68A-DEC5-409B-A783-E7269F0F0EC7}"/>
              </a:ext>
            </a:extLst>
          </p:cNvPr>
          <p:cNvSpPr>
            <a:spLocks xmlns:a="http://schemas.openxmlformats.org/drawingml/2006/main" noGrp="1"/>
          </p:cNvSpPr>
          <p:nvPr/>
        </p:nvSpPr>
        <p:spPr>
          <a:xfrm xmlns:a="http://schemas.openxmlformats.org/drawingml/2006/main">
            <a:off x="400050" y="4229100"/>
            <a:ext cx="4095750" cy="66675"/>
          </a:xfrm>
          <a:prstGeom xmlns:a="http://schemas.openxmlformats.org/drawingml/2006/main" prst="rect">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9B677A32-1535-47EE-879C-5136F602BA38}"/>
              </a:ext>
            </a:extLst>
          </p:cNvPr>
          <p:cNvSpPr>
            <a:spLocks xmlns:a="http://schemas.openxmlformats.org/drawingml/2006/main" noGrp="1"/>
          </p:cNvSpPr>
          <p:nvPr/>
        </p:nvSpPr>
        <p:spPr>
          <a:xfrm xmlns:a="http://schemas.openxmlformats.org/drawingml/2006/main">
            <a:off x="400050" y="4667250"/>
            <a:ext cx="6286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i="0">
                <a:solidFill>
                  <a:srgbClr val="111827"/>
                </a:solidFill>
              </a:defRPr>
            </a:pPr>
            <a:r>
              <a:rPr sz="2100" b="1" i="0">
                <a:solidFill>
                  <a:srgbClr val="111827"/>
                </a:solidFill>
              </a:rPr>
              <a:t>5G Network Slicing Forensic Framework</a:t>
            </a:r>
          </a:p>
        </p:txBody>
      </p:sp>
      <p:sp>
        <p:nvSpPr>
          <p:cNvPr id="5" name="Rectangle 4">
            <a:extLst xmlns:a="http://schemas.openxmlformats.org/drawingml/2006/main">
              <a:ext uri="{FF2B5EF4-FFF2-40B4-BE49-F238E27FC236}">
                <a16:creationId xmlns:a16="http://schemas.microsoft.com/office/drawing/2014/main" id="{55326311-A202-49EE-8CE1-E8CBE28FC4EE}"/>
              </a:ext>
            </a:extLst>
          </p:cNvPr>
          <p:cNvSpPr>
            <a:spLocks xmlns:a="http://schemas.openxmlformats.org/drawingml/2006/main" noGrp="1"/>
          </p:cNvSpPr>
          <p:nvPr/>
        </p:nvSpPr>
        <p:spPr>
          <a:xfrm xmlns:a="http://schemas.openxmlformats.org/drawingml/2006/main">
            <a:off x="400050" y="5257800"/>
            <a:ext cx="628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i="0">
                <a:solidFill>
                  <a:srgbClr val="556070"/>
                </a:solidFill>
              </a:defRPr>
            </a:pPr>
            <a:r>
              <a:rPr sz="1650" b="0" i="0">
                <a:solidFill>
                  <a:srgbClr val="556070"/>
                </a:solidFill>
              </a:rPr>
              <a:t>Glen Mukota  |  4 August 2026</a:t>
            </a:r>
          </a:p>
        </p:txBody>
      </p:sp>
      <p:sp>
        <p:nvSpPr>
          <p:cNvPr id="6" name="Rectangle 5">
            <a:extLst xmlns:a="http://schemas.openxmlformats.org/drawingml/2006/main">
              <a:ext uri="{FF2B5EF4-FFF2-40B4-BE49-F238E27FC236}">
                <a16:creationId xmlns:a16="http://schemas.microsoft.com/office/drawing/2014/main" id="{802B644F-37F1-4A85-82DD-3C0422AB1E9D}"/>
              </a:ext>
            </a:extLst>
          </p:cNvPr>
          <p:cNvSpPr>
            <a:spLocks xmlns:a="http://schemas.openxmlformats.org/drawingml/2006/main" noGrp="1"/>
          </p:cNvSpPr>
          <p:nvPr/>
        </p:nvSpPr>
        <p:spPr>
          <a:xfrm xmlns:a="http://schemas.openxmlformats.org/drawingml/2006/main">
            <a:off x="400050" y="5829300"/>
            <a:ext cx="8667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0" i="0">
                <a:solidFill>
                  <a:srgbClr val="556070"/>
                </a:solidFill>
              </a:defRPr>
            </a:pPr>
            <a:endParaRPr sz="1725" b="0" i="0">
              <a:solidFill>
                <a:srgbClr val="556070"/>
              </a:solidFill>
            </a:endParaRPr>
          </a:p>
        </p:txBody>
      </p:sp>
    </p:spTree>
    <p:extLst>
      <p:ext uri="{BB962C8B-B14F-4D97-AF65-F5344CB8AC3E}">
        <p14:creationId xmlns:p14="http://schemas.microsoft.com/office/powerpoint/2010/main" val="164038014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Rectangle 15">
            <a:extLst xmlns:a="http://schemas.openxmlformats.org/drawingml/2006/main">
              <a:ext uri="{FF2B5EF4-FFF2-40B4-BE49-F238E27FC236}">
                <a16:creationId xmlns:a16="http://schemas.microsoft.com/office/drawing/2014/main" id="{C0755A81-3DC3-4B0C-929D-8154781359C8}"/>
              </a:ext>
            </a:extLst>
          </p:cNvPr>
          <p:cNvSpPr>
            <a:spLocks xmlns:a="http://schemas.openxmlformats.org/drawingml/2006/main" noGrp="1"/>
          </p:cNvSpPr>
          <p:nvPr/>
        </p:nvSpPr>
        <p:spPr>
          <a:xfrm xmlns:a="http://schemas.openxmlformats.org/drawingml/2006/main">
            <a:off x="400050" y="3238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E62D0"/>
                </a:solidFill>
              </a:defRPr>
            </a:pPr>
            <a:endParaRPr sz="1125" b="1" i="0">
              <a:solidFill>
                <a:srgbClr val="1E62D0"/>
              </a:solidFill>
            </a:endParaRPr>
          </a:p>
        </p:txBody>
      </p:sp>
      <p:sp>
        <p:nvSpPr>
          <p:cNvPr id="2" name="Rectangle 1">
            <a:extLst xmlns:a="http://schemas.openxmlformats.org/drawingml/2006/main">
              <a:ext uri="{FF2B5EF4-FFF2-40B4-BE49-F238E27FC236}">
                <a16:creationId xmlns:a16="http://schemas.microsoft.com/office/drawing/2014/main" id="{A8FDEBE6-6E73-4853-AD9A-84141AE37FC2}"/>
              </a:ext>
            </a:extLst>
          </p:cNvPr>
          <p:cNvSpPr>
            <a:spLocks xmlns:a="http://schemas.openxmlformats.org/drawingml/2006/main" noGrp="1"/>
          </p:cNvSpPr>
          <p:nvPr/>
        </p:nvSpPr>
        <p:spPr>
          <a:xfrm xmlns:a="http://schemas.openxmlformats.org/drawingml/2006/main">
            <a:off x="400050" y="62865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925" b="1" i="0">
                <a:solidFill>
                  <a:srgbClr val="111827"/>
                </a:solidFill>
              </a:defRPr>
            </a:pPr>
            <a:r>
              <a:rPr sz="2925" b="1" i="0">
                <a:solidFill>
                  <a:srgbClr val="111827"/>
                </a:solidFill>
              </a:rPr>
              <a:t>What I set out to build</a:t>
            </a:r>
          </a:p>
        </p:txBody>
      </p:sp>
      <p:sp>
        <p:nvSpPr>
          <p:cNvPr id="3" name="Rectangle 2">
            <a:extLst xmlns:a="http://schemas.openxmlformats.org/drawingml/2006/main">
              <a:ext uri="{FF2B5EF4-FFF2-40B4-BE49-F238E27FC236}">
                <a16:creationId xmlns:a16="http://schemas.microsoft.com/office/drawing/2014/main" id="{C8E797F2-AEFA-46EF-A3A7-20858C80B222}"/>
              </a:ext>
            </a:extLst>
          </p:cNvPr>
          <p:cNvSpPr>
            <a:spLocks xmlns:a="http://schemas.openxmlformats.org/drawingml/2006/main" noGrp="1"/>
          </p:cNvSpPr>
          <p:nvPr/>
        </p:nvSpPr>
        <p:spPr>
          <a:xfrm xmlns:a="http://schemas.openxmlformats.org/drawingml/2006/main">
            <a:off x="400050" y="1276350"/>
            <a:ext cx="11391900" cy="9525"/>
          </a:xfrm>
          <a:prstGeom xmlns:a="http://schemas.openxmlformats.org/drawingml/2006/main" prst="rect">
            <a:avLst/>
          </a:prstGeom>
          <a:solidFill xmlns:a="http://schemas.openxmlformats.org/drawingml/2006/main">
            <a:srgbClr val="C8CED6"/>
          </a:solidFill>
          <a:ln xmlns:a="http://schemas.openxmlformats.org/drawingml/2006/main" w="0">
            <a:solidFill>
              <a:srgbClr val="C8CED6"/>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5F3AE62A-ECF9-49F3-855A-3B2F1F779104}"/>
              </a:ext>
            </a:extLst>
          </p:cNvPr>
          <p:cNvSpPr>
            <a:spLocks xmlns:a="http://schemas.openxmlformats.org/drawingml/2006/main" noGrp="1"/>
          </p:cNvSpPr>
          <p:nvPr/>
        </p:nvSpPr>
        <p:spPr>
          <a:xfrm xmlns:a="http://schemas.openxmlformats.org/drawingml/2006/main">
            <a:off x="9715500" y="6286500"/>
            <a:ext cx="2076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556070"/>
                </a:solidFill>
              </a:defRPr>
            </a:pPr>
            <a:r>
              <a:rPr sz="975" b="0" i="0">
                <a:solidFill>
                  <a:srgbClr val="556070"/>
                </a:solidFill>
              </a:rPr>
              <a:t>4 AUGUST 2026  |  02</a:t>
            </a:r>
          </a:p>
        </p:txBody>
      </p:sp>
      <p:sp>
        <p:nvSpPr>
          <p:cNvPr id="5" name="Rectangle 4">
            <a:extLst xmlns:a="http://schemas.openxmlformats.org/drawingml/2006/main">
              <a:ext uri="{FF2B5EF4-FFF2-40B4-BE49-F238E27FC236}">
                <a16:creationId xmlns:a16="http://schemas.microsoft.com/office/drawing/2014/main" id="{E048CBA8-B2A5-4833-B0AD-265AF1B1EF99}"/>
              </a:ext>
            </a:extLst>
          </p:cNvPr>
          <p:cNvSpPr>
            <a:spLocks xmlns:a="http://schemas.openxmlformats.org/drawingml/2006/main" noGrp="1"/>
          </p:cNvSpPr>
          <p:nvPr/>
        </p:nvSpPr>
        <p:spPr>
          <a:xfrm xmlns:a="http://schemas.openxmlformats.org/drawingml/2006/main">
            <a:off x="400050" y="1790700"/>
            <a:ext cx="5429250" cy="1371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i="0">
                <a:solidFill>
                  <a:srgbClr val="111827"/>
                </a:solidFill>
              </a:defRPr>
            </a:pPr>
            <a:r>
              <a:rPr sz="2550" b="1" i="0">
                <a:solidFill>
                  <a:srgbClr val="111827"/>
                </a:solidFill>
              </a:rPr>
              <a:t>A practical way to collect and organise reliable records from a 5G test network.</a:t>
            </a:r>
          </a:p>
        </p:txBody>
      </p:sp>
      <p:sp>
        <p:nvSpPr>
          <p:cNvPr id="6" name="Rectangle 5">
            <a:extLst xmlns:a="http://schemas.openxmlformats.org/drawingml/2006/main">
              <a:ext uri="{FF2B5EF4-FFF2-40B4-BE49-F238E27FC236}">
                <a16:creationId xmlns:a16="http://schemas.microsoft.com/office/drawing/2014/main" id="{4AB7AE08-A57F-4354-BC51-BDDE1BEE9DA3}"/>
              </a:ext>
            </a:extLst>
          </p:cNvPr>
          <p:cNvSpPr>
            <a:spLocks xmlns:a="http://schemas.openxmlformats.org/drawingml/2006/main" noGrp="1"/>
          </p:cNvSpPr>
          <p:nvPr/>
        </p:nvSpPr>
        <p:spPr>
          <a:xfrm xmlns:a="http://schemas.openxmlformats.org/drawingml/2006/main">
            <a:off x="400050" y="3429000"/>
            <a:ext cx="5334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0" i="0">
                <a:solidFill>
                  <a:srgbClr val="556070"/>
                </a:solidFill>
              </a:defRPr>
            </a:pPr>
            <a:r>
              <a:rPr sz="1875" b="0" i="0">
                <a:solidFill>
                  <a:srgbClr val="556070"/>
                </a:solidFill>
              </a:rPr>
              <a:t>The aim is to make it easier to understand what happened in a particular network slice after a test.</a:t>
            </a:r>
          </a:p>
        </p:txBody>
      </p:sp>
      <p:sp>
        <p:nvSpPr>
          <p:cNvPr id="7" name="Rectangle: Rounded Corners 6">
            <a:extLst xmlns:a="http://schemas.openxmlformats.org/drawingml/2006/main">
              <a:ext uri="{FF2B5EF4-FFF2-40B4-BE49-F238E27FC236}">
                <a16:creationId xmlns:a16="http://schemas.microsoft.com/office/drawing/2014/main" id="{554383B5-4B6F-4278-898D-C1F213FD11AD}"/>
              </a:ext>
            </a:extLst>
          </p:cNvPr>
          <p:cNvSpPr>
            <a:spLocks xmlns:a="http://schemas.openxmlformats.org/drawingml/2006/main" noGrp="1"/>
          </p:cNvSpPr>
          <p:nvPr/>
        </p:nvSpPr>
        <p:spPr>
          <a:xfrm xmlns:a="http://schemas.openxmlformats.org/drawingml/2006/main">
            <a:off x="6248400" y="1762125"/>
            <a:ext cx="5543550" cy="3486150"/>
          </a:xfrm>
          <a:prstGeom xmlns:a="http://schemas.openxmlformats.org/drawingml/2006/main" prst="roundRect">
            <a:avLst>
              <a:gd name="adj" fmla="val 3279"/>
            </a:avLst>
          </a:prstGeom>
          <a:solidFill xmlns:a="http://schemas.openxmlformats.org/drawingml/2006/main">
            <a:srgbClr val="EAF5FB"/>
          </a:solidFill>
          <a:ln xmlns:a="http://schemas.openxmlformats.org/drawingml/2006/main" w="0">
            <a:solidFill>
              <a:srgbClr val="EAF5FB"/>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C69D8F6F-C08B-45A5-9C0B-55380FB905A7}"/>
              </a:ext>
            </a:extLst>
          </p:cNvPr>
          <p:cNvSpPr>
            <a:spLocks xmlns:a="http://schemas.openxmlformats.org/drawingml/2006/main" noGrp="1"/>
          </p:cNvSpPr>
          <p:nvPr/>
        </p:nvSpPr>
        <p:spPr>
          <a:xfrm xmlns:a="http://schemas.openxmlformats.org/drawingml/2006/main">
            <a:off x="6553200" y="2095500"/>
            <a:ext cx="4476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i="0">
                <a:solidFill>
                  <a:srgbClr val="1E62D0"/>
                </a:solidFill>
              </a:defRPr>
            </a:pPr>
            <a:r>
              <a:rPr sz="1875" b="1" i="0">
                <a:solidFill>
                  <a:srgbClr val="1E62D0"/>
                </a:solidFill>
              </a:rPr>
              <a:t>Three simple building blocks</a:t>
            </a:r>
          </a:p>
        </p:txBody>
      </p:sp>
      <p:sp>
        <p:nvSpPr>
          <p:cNvPr id="9" name="Rectangle 8">
            <a:extLst xmlns:a="http://schemas.openxmlformats.org/drawingml/2006/main">
              <a:ext uri="{FF2B5EF4-FFF2-40B4-BE49-F238E27FC236}">
                <a16:creationId xmlns:a16="http://schemas.microsoft.com/office/drawing/2014/main" id="{54BCCC60-95A7-41A1-BA34-5A477FB3FB12}"/>
              </a:ext>
            </a:extLst>
          </p:cNvPr>
          <p:cNvSpPr>
            <a:spLocks xmlns:a="http://schemas.openxmlformats.org/drawingml/2006/main" noGrp="1"/>
          </p:cNvSpPr>
          <p:nvPr/>
        </p:nvSpPr>
        <p:spPr>
          <a:xfrm xmlns:a="http://schemas.openxmlformats.org/drawingml/2006/main">
            <a:off x="6553200" y="270510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i="0">
                <a:solidFill>
                  <a:srgbClr val="111827"/>
                </a:solidFill>
              </a:defRPr>
            </a:pPr>
            <a:r>
              <a:rPr sz="2025" b="1" i="0">
                <a:solidFill>
                  <a:srgbClr val="111827"/>
                </a:solidFill>
              </a:rPr>
              <a:t>Docker</a:t>
            </a:r>
          </a:p>
        </p:txBody>
      </p:sp>
      <p:sp>
        <p:nvSpPr>
          <p:cNvPr id="10" name="Rectangle 9">
            <a:extLst xmlns:a="http://schemas.openxmlformats.org/drawingml/2006/main">
              <a:ext uri="{FF2B5EF4-FFF2-40B4-BE49-F238E27FC236}">
                <a16:creationId xmlns:a16="http://schemas.microsoft.com/office/drawing/2014/main" id="{841466A3-47F9-4787-A4D7-1DCE96B0A80D}"/>
              </a:ext>
            </a:extLst>
          </p:cNvPr>
          <p:cNvSpPr>
            <a:spLocks xmlns:a="http://schemas.openxmlformats.org/drawingml/2006/main" noGrp="1"/>
          </p:cNvSpPr>
          <p:nvPr/>
        </p:nvSpPr>
        <p:spPr>
          <a:xfrm xmlns:a="http://schemas.openxmlformats.org/drawingml/2006/main">
            <a:off x="8191500" y="272415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i="0">
                <a:solidFill>
                  <a:srgbClr val="556070"/>
                </a:solidFill>
              </a:defRPr>
            </a:pPr>
            <a:r>
              <a:rPr sz="1650" b="0" i="0">
                <a:solidFill>
                  <a:srgbClr val="556070"/>
                </a:solidFill>
              </a:rPr>
              <a:t>runs the safe 5G test network</a:t>
            </a:r>
          </a:p>
        </p:txBody>
      </p:sp>
      <p:sp>
        <p:nvSpPr>
          <p:cNvPr id="11" name="Rectangle 10">
            <a:extLst xmlns:a="http://schemas.openxmlformats.org/drawingml/2006/main">
              <a:ext uri="{FF2B5EF4-FFF2-40B4-BE49-F238E27FC236}">
                <a16:creationId xmlns:a16="http://schemas.microsoft.com/office/drawing/2014/main" id="{B44CE384-0AFA-45BF-BD50-55DEC4A12CFA}"/>
              </a:ext>
            </a:extLst>
          </p:cNvPr>
          <p:cNvSpPr>
            <a:spLocks xmlns:a="http://schemas.openxmlformats.org/drawingml/2006/main" noGrp="1"/>
          </p:cNvSpPr>
          <p:nvPr/>
        </p:nvSpPr>
        <p:spPr>
          <a:xfrm xmlns:a="http://schemas.openxmlformats.org/drawingml/2006/main">
            <a:off x="6553200" y="3381375"/>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i="0">
                <a:solidFill>
                  <a:srgbClr val="111827"/>
                </a:solidFill>
              </a:defRPr>
            </a:pPr>
            <a:r>
              <a:rPr sz="2025" b="1" i="0">
                <a:solidFill>
                  <a:srgbClr val="111827"/>
                </a:solidFill>
              </a:rPr>
              <a:t>C#</a:t>
            </a:r>
          </a:p>
        </p:txBody>
      </p:sp>
      <p:sp>
        <p:nvSpPr>
          <p:cNvPr id="12" name="Rectangle 11">
            <a:extLst xmlns:a="http://schemas.openxmlformats.org/drawingml/2006/main">
              <a:ext uri="{FF2B5EF4-FFF2-40B4-BE49-F238E27FC236}">
                <a16:creationId xmlns:a16="http://schemas.microsoft.com/office/drawing/2014/main" id="{F67C7058-BC2E-42C9-ACCB-9F1B29EF2013}"/>
              </a:ext>
            </a:extLst>
          </p:cNvPr>
          <p:cNvSpPr>
            <a:spLocks xmlns:a="http://schemas.openxmlformats.org/drawingml/2006/main" noGrp="1"/>
          </p:cNvSpPr>
          <p:nvPr/>
        </p:nvSpPr>
        <p:spPr>
          <a:xfrm xmlns:a="http://schemas.openxmlformats.org/drawingml/2006/main">
            <a:off x="8191500" y="3400425"/>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i="0">
                <a:solidFill>
                  <a:srgbClr val="556070"/>
                </a:solidFill>
              </a:defRPr>
            </a:pPr>
            <a:r>
              <a:rPr sz="1650" b="0" i="0">
                <a:solidFill>
                  <a:srgbClr val="556070"/>
                </a:solidFill>
              </a:rPr>
              <a:t>collects and organises the records</a:t>
            </a:r>
          </a:p>
        </p:txBody>
      </p:sp>
      <p:sp>
        <p:nvSpPr>
          <p:cNvPr id="13" name="Rectangle 12">
            <a:extLst xmlns:a="http://schemas.openxmlformats.org/drawingml/2006/main">
              <a:ext uri="{FF2B5EF4-FFF2-40B4-BE49-F238E27FC236}">
                <a16:creationId xmlns:a16="http://schemas.microsoft.com/office/drawing/2014/main" id="{63A6215E-0021-4251-ACAA-B1F606760C97}"/>
              </a:ext>
            </a:extLst>
          </p:cNvPr>
          <p:cNvSpPr>
            <a:spLocks xmlns:a="http://schemas.openxmlformats.org/drawingml/2006/main" noGrp="1"/>
          </p:cNvSpPr>
          <p:nvPr/>
        </p:nvSpPr>
        <p:spPr>
          <a:xfrm xmlns:a="http://schemas.openxmlformats.org/drawingml/2006/main">
            <a:off x="6553200" y="40576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i="0">
                <a:solidFill>
                  <a:srgbClr val="111827"/>
                </a:solidFill>
              </a:defRPr>
            </a:pPr>
            <a:r>
              <a:rPr sz="2025" b="1" i="0">
                <a:solidFill>
                  <a:srgbClr val="111827"/>
                </a:solidFill>
              </a:rPr>
              <a:t>GitHub</a:t>
            </a:r>
          </a:p>
        </p:txBody>
      </p:sp>
      <p:sp>
        <p:nvSpPr>
          <p:cNvPr id="14" name="Rectangle 13">
            <a:extLst xmlns:a="http://schemas.openxmlformats.org/drawingml/2006/main">
              <a:ext uri="{FF2B5EF4-FFF2-40B4-BE49-F238E27FC236}">
                <a16:creationId xmlns:a16="http://schemas.microsoft.com/office/drawing/2014/main" id="{810AA701-B146-4C22-BB2D-7955DF7900FC}"/>
              </a:ext>
            </a:extLst>
          </p:cNvPr>
          <p:cNvSpPr>
            <a:spLocks xmlns:a="http://schemas.openxmlformats.org/drawingml/2006/main" noGrp="1"/>
          </p:cNvSpPr>
          <p:nvPr/>
        </p:nvSpPr>
        <p:spPr>
          <a:xfrm xmlns:a="http://schemas.openxmlformats.org/drawingml/2006/main">
            <a:off x="8191500" y="4076700"/>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i="0">
                <a:solidFill>
                  <a:srgbClr val="556070"/>
                </a:solidFill>
              </a:defRPr>
            </a:pPr>
            <a:r>
              <a:rPr sz="1650" b="0" i="0">
                <a:solidFill>
                  <a:srgbClr val="556070"/>
                </a:solidFill>
              </a:rPr>
              <a:t>keeps the work backed up and shareable</a:t>
            </a:r>
          </a:p>
        </p:txBody>
      </p:sp>
      <p:sp>
        <p:nvSpPr>
          <p:cNvPr id="15" name="Rectangle 14">
            <a:extLst xmlns:a="http://schemas.openxmlformats.org/drawingml/2006/main">
              <a:ext uri="{FF2B5EF4-FFF2-40B4-BE49-F238E27FC236}">
                <a16:creationId xmlns:a16="http://schemas.microsoft.com/office/drawing/2014/main" id="{7A185B8D-6C7D-40D1-924F-AD01731AFFE6}"/>
              </a:ext>
            </a:extLst>
          </p:cNvPr>
          <p:cNvSpPr>
            <a:spLocks xmlns:a="http://schemas.openxmlformats.org/drawingml/2006/main" noGrp="1"/>
          </p:cNvSpPr>
          <p:nvPr/>
        </p:nvSpPr>
        <p:spPr>
          <a:xfrm xmlns:a="http://schemas.openxmlformats.org/drawingml/2006/main">
            <a:off x="400050" y="5410200"/>
            <a:ext cx="9525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0" i="1">
                <a:solidFill>
                  <a:srgbClr val="111827"/>
                </a:solidFill>
              </a:defRPr>
            </a:pPr>
            <a:r>
              <a:rPr sz="1725" b="0" i="1">
                <a:solidFill>
                  <a:srgbClr val="111827"/>
                </a:solidFill>
              </a:rPr>
              <a:t>A network slice is simply a separate logical lane for a type of network activity.</a:t>
            </a:r>
          </a:p>
        </p:txBody>
      </p:sp>
    </p:spTree>
    <p:extLst>
      <p:ext uri="{BB962C8B-B14F-4D97-AF65-F5344CB8AC3E}">
        <p14:creationId xmlns:p14="http://schemas.microsoft.com/office/powerpoint/2010/main" val="206506016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Rectangle 24">
            <a:extLst xmlns:a="http://schemas.openxmlformats.org/drawingml/2006/main">
              <a:ext uri="{FF2B5EF4-FFF2-40B4-BE49-F238E27FC236}">
                <a16:creationId xmlns:a16="http://schemas.microsoft.com/office/drawing/2014/main" id="{94CBAD6B-DAAB-412F-8321-9F69087B22AB}"/>
              </a:ext>
            </a:extLst>
          </p:cNvPr>
          <p:cNvSpPr>
            <a:spLocks xmlns:a="http://schemas.openxmlformats.org/drawingml/2006/main" noGrp="1"/>
          </p:cNvSpPr>
          <p:nvPr/>
        </p:nvSpPr>
        <p:spPr>
          <a:xfrm xmlns:a="http://schemas.openxmlformats.org/drawingml/2006/main">
            <a:off x="400050" y="3238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E62D0"/>
                </a:solidFill>
              </a:defRPr>
            </a:pPr>
            <a:r>
              <a:rPr sz="1125" b="1" i="0">
                <a:solidFill>
                  <a:srgbClr val="1E62D0"/>
                </a:solidFill>
              </a:rPr>
              <a:t>IMPLEMENTATION PATH</a:t>
            </a:r>
          </a:p>
        </p:txBody>
      </p:sp>
      <p:sp>
        <p:nvSpPr>
          <p:cNvPr id="2" name="Rectangle 1">
            <a:extLst xmlns:a="http://schemas.openxmlformats.org/drawingml/2006/main">
              <a:ext uri="{FF2B5EF4-FFF2-40B4-BE49-F238E27FC236}">
                <a16:creationId xmlns:a16="http://schemas.microsoft.com/office/drawing/2014/main" id="{7520C832-1D35-4A25-8BFB-0D1C0A6A294B}"/>
              </a:ext>
            </a:extLst>
          </p:cNvPr>
          <p:cNvSpPr>
            <a:spLocks xmlns:a="http://schemas.openxmlformats.org/drawingml/2006/main" noGrp="1"/>
          </p:cNvSpPr>
          <p:nvPr/>
        </p:nvSpPr>
        <p:spPr>
          <a:xfrm xmlns:a="http://schemas.openxmlformats.org/drawingml/2006/main">
            <a:off x="400050" y="62865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925" b="1" i="0">
                <a:solidFill>
                  <a:srgbClr val="111827"/>
                </a:solidFill>
              </a:defRPr>
            </a:pPr>
            <a:r>
              <a:rPr sz="2925" b="1" i="0">
                <a:solidFill>
                  <a:srgbClr val="111827"/>
                </a:solidFill>
              </a:rPr>
              <a:t>The first three planned steps are complete</a:t>
            </a:r>
          </a:p>
        </p:txBody>
      </p:sp>
      <p:sp>
        <p:nvSpPr>
          <p:cNvPr id="3" name="Rectangle 2">
            <a:extLst xmlns:a="http://schemas.openxmlformats.org/drawingml/2006/main">
              <a:ext uri="{FF2B5EF4-FFF2-40B4-BE49-F238E27FC236}">
                <a16:creationId xmlns:a16="http://schemas.microsoft.com/office/drawing/2014/main" id="{BDFF7E09-8A6D-4FE0-A55B-CDC9EF13479E}"/>
              </a:ext>
            </a:extLst>
          </p:cNvPr>
          <p:cNvSpPr>
            <a:spLocks xmlns:a="http://schemas.openxmlformats.org/drawingml/2006/main" noGrp="1"/>
          </p:cNvSpPr>
          <p:nvPr/>
        </p:nvSpPr>
        <p:spPr>
          <a:xfrm xmlns:a="http://schemas.openxmlformats.org/drawingml/2006/main">
            <a:off x="400050" y="1276350"/>
            <a:ext cx="11391900" cy="9525"/>
          </a:xfrm>
          <a:prstGeom xmlns:a="http://schemas.openxmlformats.org/drawingml/2006/main" prst="rect">
            <a:avLst/>
          </a:prstGeom>
          <a:solidFill xmlns:a="http://schemas.openxmlformats.org/drawingml/2006/main">
            <a:srgbClr val="C8CED6"/>
          </a:solidFill>
          <a:ln xmlns:a="http://schemas.openxmlformats.org/drawingml/2006/main" w="0">
            <a:solidFill>
              <a:srgbClr val="C8CED6"/>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305EF95C-9829-4E4C-804C-6290ACCF34C3}"/>
              </a:ext>
            </a:extLst>
          </p:cNvPr>
          <p:cNvSpPr>
            <a:spLocks xmlns:a="http://schemas.openxmlformats.org/drawingml/2006/main" noGrp="1"/>
          </p:cNvSpPr>
          <p:nvPr/>
        </p:nvSpPr>
        <p:spPr>
          <a:xfrm xmlns:a="http://schemas.openxmlformats.org/drawingml/2006/main">
            <a:off x="9715500" y="6286500"/>
            <a:ext cx="2076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556070"/>
                </a:solidFill>
              </a:defRPr>
            </a:pPr>
            <a:r>
              <a:rPr sz="975" b="0" i="0">
                <a:solidFill>
                  <a:srgbClr val="556070"/>
                </a:solidFill>
              </a:rPr>
              <a:t>4 AUGUST 2026  |  03</a:t>
            </a:r>
          </a:p>
        </p:txBody>
      </p:sp>
      <p:sp>
        <p:nvSpPr>
          <p:cNvPr id="5" name="Rectangle 4">
            <a:extLst xmlns:a="http://schemas.openxmlformats.org/drawingml/2006/main">
              <a:ext uri="{FF2B5EF4-FFF2-40B4-BE49-F238E27FC236}">
                <a16:creationId xmlns:a16="http://schemas.microsoft.com/office/drawing/2014/main" id="{848C6AE5-E49F-4FC1-89D8-0455A89E770A}"/>
              </a:ext>
            </a:extLst>
          </p:cNvPr>
          <p:cNvSpPr>
            <a:spLocks xmlns:a="http://schemas.openxmlformats.org/drawingml/2006/main" noGrp="1"/>
          </p:cNvSpPr>
          <p:nvPr/>
        </p:nvSpPr>
        <p:spPr>
          <a:xfrm xmlns:a="http://schemas.openxmlformats.org/drawingml/2006/main">
            <a:off x="400050" y="1524000"/>
            <a:ext cx="9048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i="0">
                <a:solidFill>
                  <a:srgbClr val="556070"/>
                </a:solidFill>
              </a:defRPr>
            </a:pPr>
            <a:r>
              <a:rPr sz="1800" b="0" i="0">
                <a:solidFill>
                  <a:srgbClr val="556070"/>
                </a:solidFill>
              </a:rPr>
              <a:t>Each completed step gives the next one something solid to build on.</a:t>
            </a:r>
          </a:p>
        </p:txBody>
      </p:sp>
      <p:sp>
        <p:nvSpPr>
          <p:cNvPr id="6" name="Rectangle 5">
            <a:extLst xmlns:a="http://schemas.openxmlformats.org/drawingml/2006/main">
              <a:ext uri="{FF2B5EF4-FFF2-40B4-BE49-F238E27FC236}">
                <a16:creationId xmlns:a16="http://schemas.microsoft.com/office/drawing/2014/main" id="{FAFC58AF-D44E-4494-B720-3AB43449A44E}"/>
              </a:ext>
            </a:extLst>
          </p:cNvPr>
          <p:cNvSpPr>
            <a:spLocks xmlns:a="http://schemas.openxmlformats.org/drawingml/2006/main" noGrp="1"/>
          </p:cNvSpPr>
          <p:nvPr/>
        </p:nvSpPr>
        <p:spPr>
          <a:xfrm xmlns:a="http://schemas.openxmlformats.org/drawingml/2006/main">
            <a:off x="857250" y="3295650"/>
            <a:ext cx="10458450" cy="19050"/>
          </a:xfrm>
          <a:prstGeom xmlns:a="http://schemas.openxmlformats.org/drawingml/2006/main" prst="rect">
            <a:avLst/>
          </a:prstGeom>
          <a:solidFill xmlns:a="http://schemas.openxmlformats.org/drawingml/2006/main">
            <a:srgbClr val="111827"/>
          </a:solidFill>
          <a:ln xmlns:a="http://schemas.openxmlformats.org/drawingml/2006/main" w="0">
            <a:solidFill>
              <a:srgbClr val="11182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Oval 6">
            <a:extLst xmlns:a="http://schemas.openxmlformats.org/drawingml/2006/main">
              <a:ext uri="{FF2B5EF4-FFF2-40B4-BE49-F238E27FC236}">
                <a16:creationId xmlns:a16="http://schemas.microsoft.com/office/drawing/2014/main" id="{934F3F4F-1A15-4F4F-B98A-3B59DE2893D2}"/>
              </a:ext>
            </a:extLst>
          </p:cNvPr>
          <p:cNvSpPr>
            <a:spLocks xmlns:a="http://schemas.openxmlformats.org/drawingml/2006/main" noGrp="1"/>
          </p:cNvSpPr>
          <p:nvPr/>
        </p:nvSpPr>
        <p:spPr>
          <a:xfrm xmlns:a="http://schemas.openxmlformats.org/drawingml/2006/main">
            <a:off x="876300" y="3143250"/>
            <a:ext cx="304800" cy="304800"/>
          </a:xfrm>
          <a:prstGeom xmlns:a="http://schemas.openxmlformats.org/drawingml/2006/main" prst="ellipse">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F1D08456-764B-4770-BC60-854AE8962175}"/>
              </a:ext>
            </a:extLst>
          </p:cNvPr>
          <p:cNvSpPr>
            <a:spLocks xmlns:a="http://schemas.openxmlformats.org/drawingml/2006/main" noGrp="1"/>
          </p:cNvSpPr>
          <p:nvPr/>
        </p:nvSpPr>
        <p:spPr>
          <a:xfrm xmlns:a="http://schemas.openxmlformats.org/drawingml/2006/main">
            <a:off x="876300" y="3190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i="0">
                <a:solidFill>
                  <a:srgbClr val="FFFFFF"/>
                </a:solidFill>
              </a:defRPr>
            </a:pPr>
            <a:r>
              <a:rPr sz="1125" b="1" i="0">
                <a:solidFill>
                  <a:srgbClr val="FFFFFF"/>
                </a:solidFill>
              </a:rPr>
              <a:t>1</a:t>
            </a:r>
          </a:p>
        </p:txBody>
      </p:sp>
      <p:sp>
        <p:nvSpPr>
          <p:cNvPr id="9" name="Rectangle 8">
            <a:extLst xmlns:a="http://schemas.openxmlformats.org/drawingml/2006/main">
              <a:ext uri="{FF2B5EF4-FFF2-40B4-BE49-F238E27FC236}">
                <a16:creationId xmlns:a16="http://schemas.microsoft.com/office/drawing/2014/main" id="{9FDD871E-2155-47B4-9387-6F5503366B56}"/>
              </a:ext>
            </a:extLst>
          </p:cNvPr>
          <p:cNvSpPr>
            <a:spLocks xmlns:a="http://schemas.openxmlformats.org/drawingml/2006/main" noGrp="1"/>
          </p:cNvSpPr>
          <p:nvPr/>
        </p:nvSpPr>
        <p:spPr>
          <a:xfrm xmlns:a="http://schemas.openxmlformats.org/drawingml/2006/main">
            <a:off x="876300" y="2400300"/>
            <a:ext cx="2952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i="0">
                <a:solidFill>
                  <a:srgbClr val="111827"/>
                </a:solidFill>
              </a:defRPr>
            </a:pPr>
            <a:r>
              <a:rPr sz="2025" b="1" i="0">
                <a:solidFill>
                  <a:srgbClr val="111827"/>
                </a:solidFill>
              </a:rPr>
              <a:t>Build the test lab</a:t>
            </a:r>
          </a:p>
        </p:txBody>
      </p:sp>
      <p:sp>
        <p:nvSpPr>
          <p:cNvPr id="10" name="Rectangle 9">
            <a:extLst xmlns:a="http://schemas.openxmlformats.org/drawingml/2006/main">
              <a:ext uri="{FF2B5EF4-FFF2-40B4-BE49-F238E27FC236}">
                <a16:creationId xmlns:a16="http://schemas.microsoft.com/office/drawing/2014/main" id="{4401141E-FE2D-45EF-B3A1-4B84D1277FDC}"/>
              </a:ext>
            </a:extLst>
          </p:cNvPr>
          <p:cNvSpPr>
            <a:spLocks xmlns:a="http://schemas.openxmlformats.org/drawingml/2006/main" noGrp="1"/>
          </p:cNvSpPr>
          <p:nvPr/>
        </p:nvSpPr>
        <p:spPr>
          <a:xfrm xmlns:a="http://schemas.openxmlformats.org/drawingml/2006/main">
            <a:off x="876300" y="3762375"/>
            <a:ext cx="28956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0" i="0">
                <a:solidFill>
                  <a:srgbClr val="556070"/>
                </a:solidFill>
              </a:defRPr>
            </a:pPr>
            <a:r>
              <a:rPr sz="1725" b="0" i="0">
                <a:solidFill>
                  <a:srgbClr val="556070"/>
                </a:solidFill>
              </a:rPr>
              <a:t>Create the safe 5G core network and capture a starting record.</a:t>
            </a:r>
          </a:p>
        </p:txBody>
      </p:sp>
      <p:sp>
        <p:nvSpPr>
          <p:cNvPr id="11" name="Rectangle: Rounded Corners 10">
            <a:extLst xmlns:a="http://schemas.openxmlformats.org/drawingml/2006/main">
              <a:ext uri="{FF2B5EF4-FFF2-40B4-BE49-F238E27FC236}">
                <a16:creationId xmlns:a16="http://schemas.microsoft.com/office/drawing/2014/main" id="{036597CA-D27F-45A4-BD5C-C8A015927BE0}"/>
              </a:ext>
            </a:extLst>
          </p:cNvPr>
          <p:cNvSpPr>
            <a:spLocks xmlns:a="http://schemas.openxmlformats.org/drawingml/2006/main" noGrp="1"/>
          </p:cNvSpPr>
          <p:nvPr/>
        </p:nvSpPr>
        <p:spPr>
          <a:xfrm xmlns:a="http://schemas.openxmlformats.org/drawingml/2006/main">
            <a:off x="876300" y="5181600"/>
            <a:ext cx="1390650" cy="323850"/>
          </a:xfrm>
          <a:prstGeom xmlns:a="http://schemas.openxmlformats.org/drawingml/2006/main" prst="roundRect">
            <a:avLst>
              <a:gd name="adj" fmla="val 23529"/>
            </a:avLst>
          </a:prstGeom>
          <a:solidFill xmlns:a="http://schemas.openxmlformats.org/drawingml/2006/main">
            <a:srgbClr val="EAF5FB"/>
          </a:solidFill>
          <a:ln xmlns:a="http://schemas.openxmlformats.org/drawingml/2006/main" w="0">
            <a:solidFill>
              <a:srgbClr val="EAF5FB"/>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BD3C4AEA-2920-4036-9E6E-7423F6F154C0}"/>
              </a:ext>
            </a:extLst>
          </p:cNvPr>
          <p:cNvSpPr>
            <a:spLocks xmlns:a="http://schemas.openxmlformats.org/drawingml/2006/main" noGrp="1"/>
          </p:cNvSpPr>
          <p:nvPr/>
        </p:nvSpPr>
        <p:spPr>
          <a:xfrm xmlns:a="http://schemas.openxmlformats.org/drawingml/2006/main">
            <a:off x="990600" y="5248275"/>
            <a:ext cx="1162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i="0">
                <a:solidFill>
                  <a:srgbClr val="1E62D0"/>
                </a:solidFill>
              </a:defRPr>
            </a:pPr>
            <a:r>
              <a:rPr sz="1050" b="1" i="0">
                <a:solidFill>
                  <a:srgbClr val="1E62D0"/>
                </a:solidFill>
              </a:rPr>
              <a:t>COMPLETED</a:t>
            </a:r>
          </a:p>
        </p:txBody>
      </p:sp>
      <p:sp>
        <p:nvSpPr>
          <p:cNvPr id="13" name="Oval 12">
            <a:extLst xmlns:a="http://schemas.openxmlformats.org/drawingml/2006/main">
              <a:ext uri="{FF2B5EF4-FFF2-40B4-BE49-F238E27FC236}">
                <a16:creationId xmlns:a16="http://schemas.microsoft.com/office/drawing/2014/main" id="{32B6A1A2-1D23-4119-B147-36EFA5823651}"/>
              </a:ext>
            </a:extLst>
          </p:cNvPr>
          <p:cNvSpPr>
            <a:spLocks xmlns:a="http://schemas.openxmlformats.org/drawingml/2006/main" noGrp="1"/>
          </p:cNvSpPr>
          <p:nvPr/>
        </p:nvSpPr>
        <p:spPr>
          <a:xfrm xmlns:a="http://schemas.openxmlformats.org/drawingml/2006/main">
            <a:off x="4343400" y="3143250"/>
            <a:ext cx="304800" cy="304800"/>
          </a:xfrm>
          <a:prstGeom xmlns:a="http://schemas.openxmlformats.org/drawingml/2006/main" prst="ellipse">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0A98F61E-F044-4F79-AA01-69764E6AA36E}"/>
              </a:ext>
            </a:extLst>
          </p:cNvPr>
          <p:cNvSpPr>
            <a:spLocks xmlns:a="http://schemas.openxmlformats.org/drawingml/2006/main" noGrp="1"/>
          </p:cNvSpPr>
          <p:nvPr/>
        </p:nvSpPr>
        <p:spPr>
          <a:xfrm xmlns:a="http://schemas.openxmlformats.org/drawingml/2006/main">
            <a:off x="4343400" y="3190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i="0">
                <a:solidFill>
                  <a:srgbClr val="FFFFFF"/>
                </a:solidFill>
              </a:defRPr>
            </a:pPr>
            <a:r>
              <a:rPr sz="1125" b="1" i="0">
                <a:solidFill>
                  <a:srgbClr val="FFFFFF"/>
                </a:solidFill>
              </a:rPr>
              <a:t>2</a:t>
            </a:r>
          </a:p>
        </p:txBody>
      </p:sp>
      <p:sp>
        <p:nvSpPr>
          <p:cNvPr id="15" name="Rectangle 14">
            <a:extLst xmlns:a="http://schemas.openxmlformats.org/drawingml/2006/main">
              <a:ext uri="{FF2B5EF4-FFF2-40B4-BE49-F238E27FC236}">
                <a16:creationId xmlns:a16="http://schemas.microsoft.com/office/drawing/2014/main" id="{822F5938-F071-4161-B975-02E5CE714D41}"/>
              </a:ext>
            </a:extLst>
          </p:cNvPr>
          <p:cNvSpPr>
            <a:spLocks xmlns:a="http://schemas.openxmlformats.org/drawingml/2006/main" noGrp="1"/>
          </p:cNvSpPr>
          <p:nvPr/>
        </p:nvSpPr>
        <p:spPr>
          <a:xfrm xmlns:a="http://schemas.openxmlformats.org/drawingml/2006/main">
            <a:off x="4343400" y="2400300"/>
            <a:ext cx="2952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i="0">
                <a:solidFill>
                  <a:srgbClr val="111827"/>
                </a:solidFill>
              </a:defRPr>
            </a:pPr>
            <a:r>
              <a:rPr sz="2025" b="1" i="0">
                <a:solidFill>
                  <a:srgbClr val="111827"/>
                </a:solidFill>
              </a:rPr>
              <a:t>Add virtual devices</a:t>
            </a:r>
          </a:p>
        </p:txBody>
      </p:sp>
      <p:sp>
        <p:nvSpPr>
          <p:cNvPr id="16" name="Rectangle 15">
            <a:extLst xmlns:a="http://schemas.openxmlformats.org/drawingml/2006/main">
              <a:ext uri="{FF2B5EF4-FFF2-40B4-BE49-F238E27FC236}">
                <a16:creationId xmlns:a16="http://schemas.microsoft.com/office/drawing/2014/main" id="{20E4E05B-CBA4-4128-AC25-17457B6738DE}"/>
              </a:ext>
            </a:extLst>
          </p:cNvPr>
          <p:cNvSpPr>
            <a:spLocks xmlns:a="http://schemas.openxmlformats.org/drawingml/2006/main" noGrp="1"/>
          </p:cNvSpPr>
          <p:nvPr/>
        </p:nvSpPr>
        <p:spPr>
          <a:xfrm xmlns:a="http://schemas.openxmlformats.org/drawingml/2006/main">
            <a:off x="4343400" y="3762375"/>
            <a:ext cx="28956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0" i="0">
                <a:solidFill>
                  <a:srgbClr val="556070"/>
                </a:solidFill>
              </a:defRPr>
            </a:pPr>
            <a:r>
              <a:rPr sz="1725" b="0" i="0">
                <a:solidFill>
                  <a:srgbClr val="556070"/>
                </a:solidFill>
              </a:rPr>
              <a:t>Run a virtual base station, virtual phones and controlled traffic.</a:t>
            </a:r>
          </a:p>
        </p:txBody>
      </p:sp>
      <p:sp>
        <p:nvSpPr>
          <p:cNvPr id="17" name="Rectangle: Rounded Corners 16">
            <a:extLst xmlns:a="http://schemas.openxmlformats.org/drawingml/2006/main">
              <a:ext uri="{FF2B5EF4-FFF2-40B4-BE49-F238E27FC236}">
                <a16:creationId xmlns:a16="http://schemas.microsoft.com/office/drawing/2014/main" id="{09A2C90D-0583-4782-BA29-6A072F0DC17B}"/>
              </a:ext>
            </a:extLst>
          </p:cNvPr>
          <p:cNvSpPr>
            <a:spLocks xmlns:a="http://schemas.openxmlformats.org/drawingml/2006/main" noGrp="1"/>
          </p:cNvSpPr>
          <p:nvPr/>
        </p:nvSpPr>
        <p:spPr>
          <a:xfrm xmlns:a="http://schemas.openxmlformats.org/drawingml/2006/main">
            <a:off x="4343400" y="5181600"/>
            <a:ext cx="1390650" cy="323850"/>
          </a:xfrm>
          <a:prstGeom xmlns:a="http://schemas.openxmlformats.org/drawingml/2006/main" prst="roundRect">
            <a:avLst>
              <a:gd name="adj" fmla="val 23529"/>
            </a:avLst>
          </a:prstGeom>
          <a:solidFill xmlns:a="http://schemas.openxmlformats.org/drawingml/2006/main">
            <a:srgbClr val="EAF5FB"/>
          </a:solidFill>
          <a:ln xmlns:a="http://schemas.openxmlformats.org/drawingml/2006/main" w="0">
            <a:solidFill>
              <a:srgbClr val="EAF5FB"/>
            </a:solidFill>
            <a:prstDash val="solid"/>
          </a:ln>
        </p:spPr>
        <p:txBody>
          <a:bodyPr xmlns:a="http://schemas.openxmlformats.org/drawingml/2006/main"/>
          <a:lstStyle xmlns:a="http://schemas.openxmlformats.org/drawingml/2006/main"/>
          <a:p xmlns:a="http://schemas.openxmlformats.org/drawingml/2006/main">
            <a:endParaRPr/>
          </a:p>
        </p:txBody>
      </p:sp>
      <p:sp>
        <p:nvSpPr>
          <p:cNvPr id="18" name="Rectangle 17">
            <a:extLst xmlns:a="http://schemas.openxmlformats.org/drawingml/2006/main">
              <a:ext uri="{FF2B5EF4-FFF2-40B4-BE49-F238E27FC236}">
                <a16:creationId xmlns:a16="http://schemas.microsoft.com/office/drawing/2014/main" id="{ED1C71E3-5D01-4C56-8FB9-5B809597B876}"/>
              </a:ext>
            </a:extLst>
          </p:cNvPr>
          <p:cNvSpPr>
            <a:spLocks xmlns:a="http://schemas.openxmlformats.org/drawingml/2006/main" noGrp="1"/>
          </p:cNvSpPr>
          <p:nvPr/>
        </p:nvSpPr>
        <p:spPr>
          <a:xfrm xmlns:a="http://schemas.openxmlformats.org/drawingml/2006/main">
            <a:off x="4457700" y="5248275"/>
            <a:ext cx="1162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i="0">
                <a:solidFill>
                  <a:srgbClr val="1E62D0"/>
                </a:solidFill>
              </a:defRPr>
            </a:pPr>
            <a:r>
              <a:rPr sz="1050" b="1" i="0">
                <a:solidFill>
                  <a:srgbClr val="1E62D0"/>
                </a:solidFill>
              </a:rPr>
              <a:t>COMPLETED</a:t>
            </a:r>
          </a:p>
        </p:txBody>
      </p:sp>
      <p:sp>
        <p:nvSpPr>
          <p:cNvPr id="19" name="Oval 18">
            <a:extLst xmlns:a="http://schemas.openxmlformats.org/drawingml/2006/main">
              <a:ext uri="{FF2B5EF4-FFF2-40B4-BE49-F238E27FC236}">
                <a16:creationId xmlns:a16="http://schemas.microsoft.com/office/drawing/2014/main" id="{5BDFD525-6EF4-400B-9DC7-8C61AECAAA3D}"/>
              </a:ext>
            </a:extLst>
          </p:cNvPr>
          <p:cNvSpPr>
            <a:spLocks xmlns:a="http://schemas.openxmlformats.org/drawingml/2006/main" noGrp="1"/>
          </p:cNvSpPr>
          <p:nvPr/>
        </p:nvSpPr>
        <p:spPr>
          <a:xfrm xmlns:a="http://schemas.openxmlformats.org/drawingml/2006/main">
            <a:off x="7810500" y="3143250"/>
            <a:ext cx="304800" cy="304800"/>
          </a:xfrm>
          <a:prstGeom xmlns:a="http://schemas.openxmlformats.org/drawingml/2006/main" prst="ellipse">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20" name="Rectangle 19">
            <a:extLst xmlns:a="http://schemas.openxmlformats.org/drawingml/2006/main">
              <a:ext uri="{FF2B5EF4-FFF2-40B4-BE49-F238E27FC236}">
                <a16:creationId xmlns:a16="http://schemas.microsoft.com/office/drawing/2014/main" id="{AF1F9C33-919B-4DD4-A806-3B3773CC4117}"/>
              </a:ext>
            </a:extLst>
          </p:cNvPr>
          <p:cNvSpPr>
            <a:spLocks xmlns:a="http://schemas.openxmlformats.org/drawingml/2006/main" noGrp="1"/>
          </p:cNvSpPr>
          <p:nvPr/>
        </p:nvSpPr>
        <p:spPr>
          <a:xfrm xmlns:a="http://schemas.openxmlformats.org/drawingml/2006/main">
            <a:off x="7810500" y="3190875"/>
            <a:ext cx="304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125" b="1" i="0">
                <a:solidFill>
                  <a:srgbClr val="FFFFFF"/>
                </a:solidFill>
              </a:defRPr>
            </a:pPr>
            <a:r>
              <a:rPr sz="1125" b="1" i="0">
                <a:solidFill>
                  <a:srgbClr val="FFFFFF"/>
                </a:solidFill>
              </a:rPr>
              <a:t>3</a:t>
            </a:r>
          </a:p>
        </p:txBody>
      </p:sp>
      <p:sp>
        <p:nvSpPr>
          <p:cNvPr id="21" name="Rectangle 20">
            <a:extLst xmlns:a="http://schemas.openxmlformats.org/drawingml/2006/main">
              <a:ext uri="{FF2B5EF4-FFF2-40B4-BE49-F238E27FC236}">
                <a16:creationId xmlns:a16="http://schemas.microsoft.com/office/drawing/2014/main" id="{78A10911-82C2-4C4E-B2AC-C3236D25544C}"/>
              </a:ext>
            </a:extLst>
          </p:cNvPr>
          <p:cNvSpPr>
            <a:spLocks xmlns:a="http://schemas.openxmlformats.org/drawingml/2006/main" noGrp="1"/>
          </p:cNvSpPr>
          <p:nvPr/>
        </p:nvSpPr>
        <p:spPr>
          <a:xfrm xmlns:a="http://schemas.openxmlformats.org/drawingml/2006/main">
            <a:off x="7810500" y="2400300"/>
            <a:ext cx="2952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i="0">
                <a:solidFill>
                  <a:srgbClr val="111827"/>
                </a:solidFill>
              </a:defRPr>
            </a:pPr>
            <a:r>
              <a:rPr sz="2025" b="1" i="0">
                <a:solidFill>
                  <a:srgbClr val="111827"/>
                </a:solidFill>
              </a:rPr>
              <a:t>Organise the records</a:t>
            </a:r>
          </a:p>
        </p:txBody>
      </p:sp>
      <p:sp>
        <p:nvSpPr>
          <p:cNvPr id="22" name="Rectangle 21">
            <a:extLst xmlns:a="http://schemas.openxmlformats.org/drawingml/2006/main">
              <a:ext uri="{FF2B5EF4-FFF2-40B4-BE49-F238E27FC236}">
                <a16:creationId xmlns:a16="http://schemas.microsoft.com/office/drawing/2014/main" id="{FFE6E3FF-8D7A-4722-87DA-26B71FE18237}"/>
              </a:ext>
            </a:extLst>
          </p:cNvPr>
          <p:cNvSpPr>
            <a:spLocks xmlns:a="http://schemas.openxmlformats.org/drawingml/2006/main" noGrp="1"/>
          </p:cNvSpPr>
          <p:nvPr/>
        </p:nvSpPr>
        <p:spPr>
          <a:xfrm xmlns:a="http://schemas.openxmlformats.org/drawingml/2006/main">
            <a:off x="7810500" y="3762375"/>
            <a:ext cx="28956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0" i="0">
                <a:solidFill>
                  <a:srgbClr val="556070"/>
                </a:solidFill>
              </a:defRPr>
            </a:pPr>
            <a:r>
              <a:rPr sz="1725" b="0" i="0">
                <a:solidFill>
                  <a:srgbClr val="556070"/>
                </a:solidFill>
              </a:rPr>
              <a:t>Use C# to place selected records into one usable format.</a:t>
            </a:r>
          </a:p>
        </p:txBody>
      </p:sp>
      <p:sp>
        <p:nvSpPr>
          <p:cNvPr id="23" name="Rectangle: Rounded Corners 22">
            <a:extLst xmlns:a="http://schemas.openxmlformats.org/drawingml/2006/main">
              <a:ext uri="{FF2B5EF4-FFF2-40B4-BE49-F238E27FC236}">
                <a16:creationId xmlns:a16="http://schemas.microsoft.com/office/drawing/2014/main" id="{324EC9D9-D9BC-4162-A1DA-C02D86D45429}"/>
              </a:ext>
            </a:extLst>
          </p:cNvPr>
          <p:cNvSpPr>
            <a:spLocks xmlns:a="http://schemas.openxmlformats.org/drawingml/2006/main" noGrp="1"/>
          </p:cNvSpPr>
          <p:nvPr/>
        </p:nvSpPr>
        <p:spPr>
          <a:xfrm xmlns:a="http://schemas.openxmlformats.org/drawingml/2006/main">
            <a:off x="7810500" y="5181600"/>
            <a:ext cx="1390650" cy="323850"/>
          </a:xfrm>
          <a:prstGeom xmlns:a="http://schemas.openxmlformats.org/drawingml/2006/main" prst="roundRect">
            <a:avLst>
              <a:gd name="adj" fmla="val 23529"/>
            </a:avLst>
          </a:prstGeom>
          <a:solidFill xmlns:a="http://schemas.openxmlformats.org/drawingml/2006/main">
            <a:srgbClr val="EAF5FB"/>
          </a:solidFill>
          <a:ln xmlns:a="http://schemas.openxmlformats.org/drawingml/2006/main" w="0">
            <a:solidFill>
              <a:srgbClr val="EAF5FB"/>
            </a:solidFill>
            <a:prstDash val="solid"/>
          </a:ln>
        </p:spPr>
        <p:txBody>
          <a:bodyPr xmlns:a="http://schemas.openxmlformats.org/drawingml/2006/main"/>
          <a:lstStyle xmlns:a="http://schemas.openxmlformats.org/drawingml/2006/main"/>
          <a:p xmlns:a="http://schemas.openxmlformats.org/drawingml/2006/main">
            <a:endParaRPr/>
          </a:p>
        </p:txBody>
      </p:sp>
      <p:sp>
        <p:nvSpPr>
          <p:cNvPr id="24" name="Rectangle 23">
            <a:extLst xmlns:a="http://schemas.openxmlformats.org/drawingml/2006/main">
              <a:ext uri="{FF2B5EF4-FFF2-40B4-BE49-F238E27FC236}">
                <a16:creationId xmlns:a16="http://schemas.microsoft.com/office/drawing/2014/main" id="{1D78163A-92B6-421E-94EF-17B7D5F33A8C}"/>
              </a:ext>
            </a:extLst>
          </p:cNvPr>
          <p:cNvSpPr>
            <a:spLocks xmlns:a="http://schemas.openxmlformats.org/drawingml/2006/main" noGrp="1"/>
          </p:cNvSpPr>
          <p:nvPr/>
        </p:nvSpPr>
        <p:spPr>
          <a:xfrm xmlns:a="http://schemas.openxmlformats.org/drawingml/2006/main">
            <a:off x="7924800" y="5248275"/>
            <a:ext cx="1162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i="0">
                <a:solidFill>
                  <a:srgbClr val="1E62D0"/>
                </a:solidFill>
              </a:defRPr>
            </a:pPr>
            <a:r>
              <a:rPr sz="1050" b="1" i="0">
                <a:solidFill>
                  <a:srgbClr val="1E62D0"/>
                </a:solidFill>
              </a:rPr>
              <a:t>COMPLETED</a:t>
            </a:r>
          </a:p>
        </p:txBody>
      </p:sp>
    </p:spTree>
    <p:extLst>
      <p:ext uri="{BB962C8B-B14F-4D97-AF65-F5344CB8AC3E}">
        <p14:creationId xmlns:p14="http://schemas.microsoft.com/office/powerpoint/2010/main" val="139461416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55A5DA34-C420-49E9-A8D6-D5FE5E224B0E}"/>
              </a:ext>
            </a:extLst>
          </p:cNvPr>
          <p:cNvSpPr>
            <a:spLocks xmlns:a="http://schemas.openxmlformats.org/drawingml/2006/main" noGrp="1"/>
          </p:cNvSpPr>
          <p:nvPr/>
        </p:nvSpPr>
        <p:spPr>
          <a:xfrm xmlns:a="http://schemas.openxmlformats.org/drawingml/2006/main">
            <a:off x="400050" y="3238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E62D0"/>
                </a:solidFill>
              </a:defRPr>
            </a:pPr>
            <a:r>
              <a:rPr sz="1125" b="1" i="0">
                <a:solidFill>
                  <a:srgbClr val="1E62D0"/>
                </a:solidFill>
              </a:rPr>
              <a:t>COMPLETED DEVELOPMENT</a:t>
            </a:r>
          </a:p>
        </p:txBody>
      </p:sp>
      <p:sp>
        <p:nvSpPr>
          <p:cNvPr id="2" name="Rectangle 1">
            <a:extLst xmlns:a="http://schemas.openxmlformats.org/drawingml/2006/main">
              <a:ext uri="{FF2B5EF4-FFF2-40B4-BE49-F238E27FC236}">
                <a16:creationId xmlns:a16="http://schemas.microsoft.com/office/drawing/2014/main" id="{0E27AA63-BD07-46C1-BE21-63EB556A97D6}"/>
              </a:ext>
            </a:extLst>
          </p:cNvPr>
          <p:cNvSpPr>
            <a:spLocks xmlns:a="http://schemas.openxmlformats.org/drawingml/2006/main" noGrp="1"/>
          </p:cNvSpPr>
          <p:nvPr/>
        </p:nvSpPr>
        <p:spPr>
          <a:xfrm xmlns:a="http://schemas.openxmlformats.org/drawingml/2006/main">
            <a:off x="400050" y="62865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925" b="1" i="0">
                <a:solidFill>
                  <a:srgbClr val="111827"/>
                </a:solidFill>
              </a:defRPr>
            </a:pPr>
            <a:r>
              <a:rPr sz="2925" b="1" i="0">
                <a:solidFill>
                  <a:srgbClr val="111827"/>
                </a:solidFill>
              </a:rPr>
              <a:t>Phase 1: I built the 5G test environment</a:t>
            </a:r>
          </a:p>
        </p:txBody>
      </p:sp>
      <p:sp>
        <p:nvSpPr>
          <p:cNvPr id="3" name="Rectangle 2">
            <a:extLst xmlns:a="http://schemas.openxmlformats.org/drawingml/2006/main">
              <a:ext uri="{FF2B5EF4-FFF2-40B4-BE49-F238E27FC236}">
                <a16:creationId xmlns:a16="http://schemas.microsoft.com/office/drawing/2014/main" id="{6C5D6579-5BB8-4728-A410-81FE72EDF754}"/>
              </a:ext>
            </a:extLst>
          </p:cNvPr>
          <p:cNvSpPr>
            <a:spLocks xmlns:a="http://schemas.openxmlformats.org/drawingml/2006/main" noGrp="1"/>
          </p:cNvSpPr>
          <p:nvPr/>
        </p:nvSpPr>
        <p:spPr>
          <a:xfrm xmlns:a="http://schemas.openxmlformats.org/drawingml/2006/main">
            <a:off x="400050" y="1276350"/>
            <a:ext cx="11391900" cy="9525"/>
          </a:xfrm>
          <a:prstGeom xmlns:a="http://schemas.openxmlformats.org/drawingml/2006/main" prst="rect">
            <a:avLst/>
          </a:prstGeom>
          <a:solidFill xmlns:a="http://schemas.openxmlformats.org/drawingml/2006/main">
            <a:srgbClr val="C8CED6"/>
          </a:solidFill>
          <a:ln xmlns:a="http://schemas.openxmlformats.org/drawingml/2006/main" w="0">
            <a:solidFill>
              <a:srgbClr val="C8CED6"/>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63289BDA-C2D1-42E7-A732-82219BCE344D}"/>
              </a:ext>
            </a:extLst>
          </p:cNvPr>
          <p:cNvSpPr>
            <a:spLocks xmlns:a="http://schemas.openxmlformats.org/drawingml/2006/main" noGrp="1"/>
          </p:cNvSpPr>
          <p:nvPr/>
        </p:nvSpPr>
        <p:spPr>
          <a:xfrm xmlns:a="http://schemas.openxmlformats.org/drawingml/2006/main">
            <a:off x="9715500" y="6286500"/>
            <a:ext cx="2076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556070"/>
                </a:solidFill>
              </a:defRPr>
            </a:pPr>
            <a:r>
              <a:rPr sz="975" b="0" i="0">
                <a:solidFill>
                  <a:srgbClr val="556070"/>
                </a:solidFill>
              </a:rPr>
              <a:t>4 AUGUST 2026  |  04</a:t>
            </a:r>
          </a:p>
        </p:txBody>
      </p:sp>
      <p:sp>
        <p:nvSpPr>
          <p:cNvPr id="5" name="Rectangle: Rounded Corners 4">
            <a:extLst xmlns:a="http://schemas.openxmlformats.org/drawingml/2006/main">
              <a:ext uri="{FF2B5EF4-FFF2-40B4-BE49-F238E27FC236}">
                <a16:creationId xmlns:a16="http://schemas.microsoft.com/office/drawing/2014/main" id="{71E6C9CD-7201-47E4-8C0A-6A868688BC76}"/>
              </a:ext>
            </a:extLst>
          </p:cNvPr>
          <p:cNvSpPr>
            <a:spLocks xmlns:a="http://schemas.openxmlformats.org/drawingml/2006/main" noGrp="1"/>
          </p:cNvSpPr>
          <p:nvPr/>
        </p:nvSpPr>
        <p:spPr>
          <a:xfrm xmlns:a="http://schemas.openxmlformats.org/drawingml/2006/main">
            <a:off x="400050" y="1562100"/>
            <a:ext cx="1524000" cy="323850"/>
          </a:xfrm>
          <a:prstGeom xmlns:a="http://schemas.openxmlformats.org/drawingml/2006/main" prst="roundRect">
            <a:avLst>
              <a:gd name="adj" fmla="val 23529"/>
            </a:avLst>
          </a:prstGeom>
          <a:solidFill xmlns:a="http://schemas.openxmlformats.org/drawingml/2006/main">
            <a:srgbClr val="EAF5FB"/>
          </a:solidFill>
          <a:ln xmlns:a="http://schemas.openxmlformats.org/drawingml/2006/main" w="0">
            <a:solidFill>
              <a:srgbClr val="EAF5FB"/>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Rectangle 5">
            <a:extLst xmlns:a="http://schemas.openxmlformats.org/drawingml/2006/main">
              <a:ext uri="{FF2B5EF4-FFF2-40B4-BE49-F238E27FC236}">
                <a16:creationId xmlns:a16="http://schemas.microsoft.com/office/drawing/2014/main" id="{A41FEFA4-FC06-4DEF-A5AD-4BE83AB6C195}"/>
              </a:ext>
            </a:extLst>
          </p:cNvPr>
          <p:cNvSpPr>
            <a:spLocks xmlns:a="http://schemas.openxmlformats.org/drawingml/2006/main" noGrp="1"/>
          </p:cNvSpPr>
          <p:nvPr/>
        </p:nvSpPr>
        <p:spPr>
          <a:xfrm xmlns:a="http://schemas.openxmlformats.org/drawingml/2006/main">
            <a:off x="514350" y="1628775"/>
            <a:ext cx="129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i="0">
                <a:solidFill>
                  <a:srgbClr val="1E62D0"/>
                </a:solidFill>
              </a:defRPr>
            </a:pPr>
            <a:r>
              <a:rPr sz="1050" b="1" i="0">
                <a:solidFill>
                  <a:srgbClr val="1E62D0"/>
                </a:solidFill>
              </a:rPr>
              <a:t>COMPLETED</a:t>
            </a:r>
          </a:p>
        </p:txBody>
      </p:sp>
      <p:sp>
        <p:nvSpPr>
          <p:cNvPr id="7" name="Rectangle 6">
            <a:extLst xmlns:a="http://schemas.openxmlformats.org/drawingml/2006/main">
              <a:ext uri="{FF2B5EF4-FFF2-40B4-BE49-F238E27FC236}">
                <a16:creationId xmlns:a16="http://schemas.microsoft.com/office/drawing/2014/main" id="{A6E7A077-5FAD-432F-AE55-49C207C0D2C4}"/>
              </a:ext>
            </a:extLst>
          </p:cNvPr>
          <p:cNvSpPr>
            <a:spLocks xmlns:a="http://schemas.openxmlformats.org/drawingml/2006/main" noGrp="1"/>
          </p:cNvSpPr>
          <p:nvPr/>
        </p:nvSpPr>
        <p:spPr>
          <a:xfrm xmlns:a="http://schemas.openxmlformats.org/drawingml/2006/main">
            <a:off x="400050" y="213360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i="0">
                <a:solidFill>
                  <a:srgbClr val="111827"/>
                </a:solidFill>
              </a:defRPr>
            </a:pPr>
            <a:r>
              <a:rPr sz="2025" b="1" i="0">
                <a:solidFill>
                  <a:srgbClr val="111827"/>
                </a:solidFill>
              </a:rPr>
              <a:t>What I did</a:t>
            </a:r>
          </a:p>
        </p:txBody>
      </p:sp>
      <p:sp>
        <p:nvSpPr>
          <p:cNvPr id="8" name="Oval 7">
            <a:extLst xmlns:a="http://schemas.openxmlformats.org/drawingml/2006/main">
              <a:ext uri="{FF2B5EF4-FFF2-40B4-BE49-F238E27FC236}">
                <a16:creationId xmlns:a16="http://schemas.microsoft.com/office/drawing/2014/main" id="{466E0E89-9993-4342-8EE6-3E89BC026C25}"/>
              </a:ext>
            </a:extLst>
          </p:cNvPr>
          <p:cNvSpPr>
            <a:spLocks xmlns:a="http://schemas.openxmlformats.org/drawingml/2006/main" noGrp="1"/>
          </p:cNvSpPr>
          <p:nvPr/>
        </p:nvSpPr>
        <p:spPr>
          <a:xfrm xmlns:a="http://schemas.openxmlformats.org/drawingml/2006/main">
            <a:off x="400050" y="2771775"/>
            <a:ext cx="95250" cy="95250"/>
          </a:xfrm>
          <a:prstGeom xmlns:a="http://schemas.openxmlformats.org/drawingml/2006/main" prst="ellipse">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BEA36EFB-F764-4AB5-BCAF-8D612568DF00}"/>
              </a:ext>
            </a:extLst>
          </p:cNvPr>
          <p:cNvSpPr>
            <a:spLocks xmlns:a="http://schemas.openxmlformats.org/drawingml/2006/main" noGrp="1"/>
          </p:cNvSpPr>
          <p:nvPr/>
        </p:nvSpPr>
        <p:spPr>
          <a:xfrm xmlns:a="http://schemas.openxmlformats.org/drawingml/2006/main">
            <a:off x="647700" y="2686050"/>
            <a:ext cx="4895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i="0">
                <a:solidFill>
                  <a:srgbClr val="111827"/>
                </a:solidFill>
              </a:defRPr>
            </a:pPr>
            <a:r>
              <a:rPr sz="1800" b="0" i="0">
                <a:solidFill>
                  <a:srgbClr val="111827"/>
                </a:solidFill>
              </a:rPr>
              <a:t>Set up the core 5G network in Docker.</a:t>
            </a:r>
          </a:p>
        </p:txBody>
      </p:sp>
      <p:sp>
        <p:nvSpPr>
          <p:cNvPr id="10" name="Oval 9">
            <a:extLst xmlns:a="http://schemas.openxmlformats.org/drawingml/2006/main">
              <a:ext uri="{FF2B5EF4-FFF2-40B4-BE49-F238E27FC236}">
                <a16:creationId xmlns:a16="http://schemas.microsoft.com/office/drawing/2014/main" id="{52D4D63B-8258-449A-AE5C-7F3200BA652B}"/>
              </a:ext>
            </a:extLst>
          </p:cNvPr>
          <p:cNvSpPr>
            <a:spLocks xmlns:a="http://schemas.openxmlformats.org/drawingml/2006/main" noGrp="1"/>
          </p:cNvSpPr>
          <p:nvPr/>
        </p:nvSpPr>
        <p:spPr>
          <a:xfrm xmlns:a="http://schemas.openxmlformats.org/drawingml/2006/main">
            <a:off x="400050" y="3438525"/>
            <a:ext cx="95250" cy="95250"/>
          </a:xfrm>
          <a:prstGeom xmlns:a="http://schemas.openxmlformats.org/drawingml/2006/main" prst="ellipse">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2E327876-F121-426E-9133-2F0DFE8DA563}"/>
              </a:ext>
            </a:extLst>
          </p:cNvPr>
          <p:cNvSpPr>
            <a:spLocks xmlns:a="http://schemas.openxmlformats.org/drawingml/2006/main" noGrp="1"/>
          </p:cNvSpPr>
          <p:nvPr/>
        </p:nvSpPr>
        <p:spPr>
          <a:xfrm xmlns:a="http://schemas.openxmlformats.org/drawingml/2006/main">
            <a:off x="647700" y="3352800"/>
            <a:ext cx="4895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i="0">
                <a:solidFill>
                  <a:srgbClr val="111827"/>
                </a:solidFill>
              </a:defRPr>
            </a:pPr>
            <a:r>
              <a:rPr sz="1800" b="0" i="0">
                <a:solidFill>
                  <a:srgbClr val="111827"/>
                </a:solidFill>
              </a:rPr>
              <a:t>Checked that each core service starts correctly.</a:t>
            </a:r>
          </a:p>
        </p:txBody>
      </p:sp>
      <p:sp>
        <p:nvSpPr>
          <p:cNvPr id="12" name="Oval 11">
            <a:extLst xmlns:a="http://schemas.openxmlformats.org/drawingml/2006/main">
              <a:ext uri="{FF2B5EF4-FFF2-40B4-BE49-F238E27FC236}">
                <a16:creationId xmlns:a16="http://schemas.microsoft.com/office/drawing/2014/main" id="{D1B5487E-30CB-412D-BA03-01BFF0590EDB}"/>
              </a:ext>
            </a:extLst>
          </p:cNvPr>
          <p:cNvSpPr>
            <a:spLocks xmlns:a="http://schemas.openxmlformats.org/drawingml/2006/main" noGrp="1"/>
          </p:cNvSpPr>
          <p:nvPr/>
        </p:nvSpPr>
        <p:spPr>
          <a:xfrm xmlns:a="http://schemas.openxmlformats.org/drawingml/2006/main">
            <a:off x="400050" y="4105275"/>
            <a:ext cx="95250" cy="95250"/>
          </a:xfrm>
          <a:prstGeom xmlns:a="http://schemas.openxmlformats.org/drawingml/2006/main" prst="ellipse">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Rectangle 12">
            <a:extLst xmlns:a="http://schemas.openxmlformats.org/drawingml/2006/main">
              <a:ext uri="{FF2B5EF4-FFF2-40B4-BE49-F238E27FC236}">
                <a16:creationId xmlns:a16="http://schemas.microsoft.com/office/drawing/2014/main" id="{1A628F30-08B2-4C7D-9D8E-E5DF94B2A117}"/>
              </a:ext>
            </a:extLst>
          </p:cNvPr>
          <p:cNvSpPr>
            <a:spLocks xmlns:a="http://schemas.openxmlformats.org/drawingml/2006/main" noGrp="1"/>
          </p:cNvSpPr>
          <p:nvPr/>
        </p:nvSpPr>
        <p:spPr>
          <a:xfrm xmlns:a="http://schemas.openxmlformats.org/drawingml/2006/main">
            <a:off x="647700" y="4019550"/>
            <a:ext cx="48958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i="0">
                <a:solidFill>
                  <a:srgbClr val="111827"/>
                </a:solidFill>
              </a:defRPr>
            </a:pPr>
            <a:r>
              <a:rPr sz="1800" b="0" i="0">
                <a:solidFill>
                  <a:srgbClr val="111827"/>
                </a:solidFill>
              </a:rPr>
              <a:t>Saved a baseline record of the healthy lab.</a:t>
            </a:r>
          </a:p>
        </p:txBody>
      </p:sp>
      <p:sp>
        <p:nvSpPr>
          <p:cNvPr id="14" name="Rectangle 13">
            <a:extLst xmlns:a="http://schemas.openxmlformats.org/drawingml/2006/main">
              <a:ext uri="{FF2B5EF4-FFF2-40B4-BE49-F238E27FC236}">
                <a16:creationId xmlns:a16="http://schemas.microsoft.com/office/drawing/2014/main" id="{CFFEA85E-D9F1-44A1-B35E-720016D4257C}"/>
              </a:ext>
            </a:extLst>
          </p:cNvPr>
          <p:cNvSpPr>
            <a:spLocks xmlns:a="http://schemas.openxmlformats.org/drawingml/2006/main" noGrp="1"/>
          </p:cNvSpPr>
          <p:nvPr/>
        </p:nvSpPr>
        <p:spPr>
          <a:xfrm xmlns:a="http://schemas.openxmlformats.org/drawingml/2006/main">
            <a:off x="400050" y="4933950"/>
            <a:ext cx="4095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i="0">
                <a:solidFill>
                  <a:srgbClr val="1E62D0"/>
                </a:solidFill>
              </a:defRPr>
            </a:pPr>
            <a:r>
              <a:rPr sz="1875" b="1" i="0">
                <a:solidFill>
                  <a:srgbClr val="1E62D0"/>
                </a:solidFill>
              </a:rPr>
              <a:t>Why it matters</a:t>
            </a:r>
          </a:p>
        </p:txBody>
      </p:sp>
      <p:sp>
        <p:nvSpPr>
          <p:cNvPr id="15" name="Rectangle 14">
            <a:extLst xmlns:a="http://schemas.openxmlformats.org/drawingml/2006/main">
              <a:ext uri="{FF2B5EF4-FFF2-40B4-BE49-F238E27FC236}">
                <a16:creationId xmlns:a16="http://schemas.microsoft.com/office/drawing/2014/main" id="{21B2D4F7-FA7A-4CF3-BE08-50698B6DEEB5}"/>
              </a:ext>
            </a:extLst>
          </p:cNvPr>
          <p:cNvSpPr>
            <a:spLocks xmlns:a="http://schemas.openxmlformats.org/drawingml/2006/main" noGrp="1"/>
          </p:cNvSpPr>
          <p:nvPr/>
        </p:nvSpPr>
        <p:spPr>
          <a:xfrm xmlns:a="http://schemas.openxmlformats.org/drawingml/2006/main">
            <a:off x="400050" y="5305425"/>
            <a:ext cx="51625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i="0">
                <a:solidFill>
                  <a:srgbClr val="556070"/>
                </a:solidFill>
              </a:defRPr>
            </a:pPr>
            <a:r>
              <a:rPr sz="1650" b="0" i="0">
                <a:solidFill>
                  <a:srgbClr val="556070"/>
                </a:solidFill>
              </a:rPr>
              <a:t>I now have a safe, repeatable test environment instead of relying on a real mobile network.</a:t>
            </a:r>
          </a:p>
        </p:txBody>
      </p:sp>
      <p:sp>
        <p:nvSpPr>
          <p:cNvPr id="16" name="Rectangle: Rounded Corners 15">
            <a:extLst xmlns:a="http://schemas.openxmlformats.org/drawingml/2006/main">
              <a:ext uri="{FF2B5EF4-FFF2-40B4-BE49-F238E27FC236}">
                <a16:creationId xmlns:a16="http://schemas.microsoft.com/office/drawing/2014/main" id="{12BE1093-9EF3-401A-BAFC-D00776662E00}"/>
              </a:ext>
            </a:extLst>
          </p:cNvPr>
          <p:cNvSpPr>
            <a:spLocks xmlns:a="http://schemas.openxmlformats.org/drawingml/2006/main" noGrp="1"/>
          </p:cNvSpPr>
          <p:nvPr/>
        </p:nvSpPr>
        <p:spPr>
          <a:xfrm xmlns:a="http://schemas.openxmlformats.org/drawingml/2006/main">
            <a:off x="6191250" y="1571625"/>
            <a:ext cx="5600700" cy="3762375"/>
          </a:xfrm>
          <a:prstGeom xmlns:a="http://schemas.openxmlformats.org/drawingml/2006/main" prst="roundRect">
            <a:avLst>
              <a:gd name="adj" fmla="val 3038"/>
            </a:avLst>
          </a:prstGeom>
          <a:solidFill xmlns:a="http://schemas.openxmlformats.org/drawingml/2006/main">
            <a:srgbClr val="EAF5FB"/>
          </a:solidFill>
          <a:ln xmlns:a="http://schemas.openxmlformats.org/drawingml/2006/main" w="9525">
            <a:solidFill>
              <a:srgbClr val="C8CED6"/>
            </a:solidFill>
            <a:prstDash val="solid"/>
          </a:ln>
        </p:spPr>
        <p:txBody>
          <a:bodyPr xmlns:a="http://schemas.openxmlformats.org/drawingml/2006/main"/>
          <a:lstStyle xmlns:a="http://schemas.openxmlformats.org/drawingml/2006/main"/>
          <a:p xmlns:a="http://schemas.openxmlformats.org/drawingml/2006/main">
            <a:endParaRPr/>
          </a:p>
        </p:txBody>
      </p:sp>
      <p:pic>
        <p:nvPicPr>
          <p:cNvPr id="37" name="Picture 34"/>
          <p:cNvPicPr>
            <a:picLocks xmlns:a="http://schemas.openxmlformats.org/drawingml/2006/main" noChangeAspect="1"/>
          </p:cNvPicPr>
          <p:nvPr/>
        </p:nvPicPr>
        <p:blipFill>
          <a:blip xmlns:r="http://schemas.openxmlformats.org/officeDocument/2006/relationships" xmlns:a="http://schemas.openxmlformats.org/drawingml/2006/main" r:embed="R543ea0948ccf4e95"/>
          <a:stretch xmlns:a="http://schemas.openxmlformats.org/drawingml/2006/main"/>
        </p:blipFill>
        <p:spPr>
          <a:xfrm xmlns:a="http://schemas.openxmlformats.org/drawingml/2006/main">
            <a:off x="6267450" y="2010116"/>
            <a:ext cx="5448300" cy="2885393"/>
          </a:xfrm>
          <a:prstGeom xmlns:a="http://schemas.openxmlformats.org/drawingml/2006/main" prst="roundRect">
            <a:avLst>
              <a:gd name="adj" fmla="val 3166"/>
            </a:avLst>
          </a:prstGeom>
        </p:spPr>
      </p:pic>
      <p:sp>
        <p:nvSpPr>
          <p:cNvPr id="18" name="Rectangle 17">
            <a:extLst xmlns:a="http://schemas.openxmlformats.org/drawingml/2006/main">
              <a:ext uri="{FF2B5EF4-FFF2-40B4-BE49-F238E27FC236}">
                <a16:creationId xmlns:a16="http://schemas.microsoft.com/office/drawing/2014/main" id="{89D765B5-4DD8-4FC5-B79F-392E395B4A25}"/>
              </a:ext>
            </a:extLst>
          </p:cNvPr>
          <p:cNvSpPr>
            <a:spLocks xmlns:a="http://schemas.openxmlformats.org/drawingml/2006/main" noGrp="1"/>
          </p:cNvSpPr>
          <p:nvPr/>
        </p:nvSpPr>
        <p:spPr>
          <a:xfrm xmlns:a="http://schemas.openxmlformats.org/drawingml/2006/main">
            <a:off x="6191250" y="5524500"/>
            <a:ext cx="552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556070"/>
                </a:solidFill>
              </a:defRPr>
            </a:pPr>
            <a:r>
              <a:rPr sz="1350" b="0" i="0">
                <a:solidFill>
                  <a:srgbClr val="556070"/>
                </a:solidFill>
              </a:rPr>
              <a:t>Docker Desktop: the core 5G services are running (captured 4 August 2026).</a:t>
            </a:r>
          </a:p>
        </p:txBody>
      </p:sp>
    </p:spTree>
    <p:extLst>
      <p:ext uri="{BB962C8B-B14F-4D97-AF65-F5344CB8AC3E}">
        <p14:creationId xmlns:p14="http://schemas.microsoft.com/office/powerpoint/2010/main" val="167633755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94079716-3803-4B49-BCF6-E2EDFFCC92FD}"/>
              </a:ext>
            </a:extLst>
          </p:cNvPr>
          <p:cNvSpPr>
            <a:spLocks xmlns:a="http://schemas.openxmlformats.org/drawingml/2006/main" noGrp="1"/>
          </p:cNvSpPr>
          <p:nvPr/>
        </p:nvSpPr>
        <p:spPr>
          <a:xfrm xmlns:a="http://schemas.openxmlformats.org/drawingml/2006/main">
            <a:off x="400050" y="3238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E62D0"/>
                </a:solidFill>
              </a:defRPr>
            </a:pPr>
            <a:r>
              <a:rPr sz="1125" b="1" i="0">
                <a:solidFill>
                  <a:srgbClr val="1E62D0"/>
                </a:solidFill>
              </a:rPr>
              <a:t>COMPLETED DEVELOPMENT</a:t>
            </a:r>
          </a:p>
        </p:txBody>
      </p:sp>
      <p:sp>
        <p:nvSpPr>
          <p:cNvPr id="2" name="Rectangle 1">
            <a:extLst xmlns:a="http://schemas.openxmlformats.org/drawingml/2006/main">
              <a:ext uri="{FF2B5EF4-FFF2-40B4-BE49-F238E27FC236}">
                <a16:creationId xmlns:a16="http://schemas.microsoft.com/office/drawing/2014/main" id="{3DF600B9-0136-45E9-BB23-1AA919CA96A9}"/>
              </a:ext>
            </a:extLst>
          </p:cNvPr>
          <p:cNvSpPr>
            <a:spLocks xmlns:a="http://schemas.openxmlformats.org/drawingml/2006/main" noGrp="1"/>
          </p:cNvSpPr>
          <p:nvPr/>
        </p:nvSpPr>
        <p:spPr>
          <a:xfrm xmlns:a="http://schemas.openxmlformats.org/drawingml/2006/main">
            <a:off x="400050" y="62865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925" b="1" i="0">
                <a:solidFill>
                  <a:srgbClr val="111827"/>
                </a:solidFill>
              </a:defRPr>
            </a:pPr>
            <a:r>
              <a:rPr sz="2925" b="1" i="0">
                <a:solidFill>
                  <a:srgbClr val="111827"/>
                </a:solidFill>
              </a:rPr>
              <a:t>Phase 2: I added virtual devices and controlled traffic</a:t>
            </a:r>
          </a:p>
        </p:txBody>
      </p:sp>
      <p:sp>
        <p:nvSpPr>
          <p:cNvPr id="3" name="Rectangle 2">
            <a:extLst xmlns:a="http://schemas.openxmlformats.org/drawingml/2006/main">
              <a:ext uri="{FF2B5EF4-FFF2-40B4-BE49-F238E27FC236}">
                <a16:creationId xmlns:a16="http://schemas.microsoft.com/office/drawing/2014/main" id="{DBFEA813-DF52-4163-92AF-78F15AA96505}"/>
              </a:ext>
            </a:extLst>
          </p:cNvPr>
          <p:cNvSpPr>
            <a:spLocks xmlns:a="http://schemas.openxmlformats.org/drawingml/2006/main" noGrp="1"/>
          </p:cNvSpPr>
          <p:nvPr/>
        </p:nvSpPr>
        <p:spPr>
          <a:xfrm xmlns:a="http://schemas.openxmlformats.org/drawingml/2006/main">
            <a:off x="400050" y="1276350"/>
            <a:ext cx="11391900" cy="9525"/>
          </a:xfrm>
          <a:prstGeom xmlns:a="http://schemas.openxmlformats.org/drawingml/2006/main" prst="rect">
            <a:avLst/>
          </a:prstGeom>
          <a:solidFill xmlns:a="http://schemas.openxmlformats.org/drawingml/2006/main">
            <a:srgbClr val="C8CED6"/>
          </a:solidFill>
          <a:ln xmlns:a="http://schemas.openxmlformats.org/drawingml/2006/main" w="0">
            <a:solidFill>
              <a:srgbClr val="C8CED6"/>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F3BA9453-13F1-46AC-86E8-3E951E636DDE}"/>
              </a:ext>
            </a:extLst>
          </p:cNvPr>
          <p:cNvSpPr>
            <a:spLocks xmlns:a="http://schemas.openxmlformats.org/drawingml/2006/main" noGrp="1"/>
          </p:cNvSpPr>
          <p:nvPr/>
        </p:nvSpPr>
        <p:spPr>
          <a:xfrm xmlns:a="http://schemas.openxmlformats.org/drawingml/2006/main">
            <a:off x="9715500" y="6286500"/>
            <a:ext cx="2076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556070"/>
                </a:solidFill>
              </a:defRPr>
            </a:pPr>
            <a:r>
              <a:rPr sz="975" b="0" i="0">
                <a:solidFill>
                  <a:srgbClr val="556070"/>
                </a:solidFill>
              </a:rPr>
              <a:t>4 AUGUST 2026  |  05</a:t>
            </a:r>
          </a:p>
        </p:txBody>
      </p:sp>
      <p:sp>
        <p:nvSpPr>
          <p:cNvPr id="5" name="Rectangle: Rounded Corners 4">
            <a:extLst xmlns:a="http://schemas.openxmlformats.org/drawingml/2006/main">
              <a:ext uri="{FF2B5EF4-FFF2-40B4-BE49-F238E27FC236}">
                <a16:creationId xmlns:a16="http://schemas.microsoft.com/office/drawing/2014/main" id="{9ADDD525-EB49-4DEC-9E00-8571590040ED}"/>
              </a:ext>
            </a:extLst>
          </p:cNvPr>
          <p:cNvSpPr>
            <a:spLocks xmlns:a="http://schemas.openxmlformats.org/drawingml/2006/main" noGrp="1"/>
          </p:cNvSpPr>
          <p:nvPr/>
        </p:nvSpPr>
        <p:spPr>
          <a:xfrm xmlns:a="http://schemas.openxmlformats.org/drawingml/2006/main">
            <a:off x="400050" y="1619250"/>
            <a:ext cx="5905500" cy="3429000"/>
          </a:xfrm>
          <a:prstGeom xmlns:a="http://schemas.openxmlformats.org/drawingml/2006/main" prst="roundRect">
            <a:avLst>
              <a:gd name="adj" fmla="val 3333"/>
            </a:avLst>
          </a:prstGeom>
          <a:solidFill xmlns:a="http://schemas.openxmlformats.org/drawingml/2006/main">
            <a:srgbClr val="EAF5FB"/>
          </a:solidFill>
          <a:ln xmlns:a="http://schemas.openxmlformats.org/drawingml/2006/main" w="9525">
            <a:solidFill>
              <a:srgbClr val="C8CED6"/>
            </a:solidFill>
            <a:prstDash val="solid"/>
          </a:ln>
        </p:spPr>
        <p:txBody>
          <a:bodyPr xmlns:a="http://schemas.openxmlformats.org/drawingml/2006/main"/>
          <a:lstStyle xmlns:a="http://schemas.openxmlformats.org/drawingml/2006/main"/>
          <a:p xmlns:a="http://schemas.openxmlformats.org/drawingml/2006/main">
            <a:endParaRPr/>
          </a:p>
        </p:txBody>
      </p:sp>
      <p:pic>
        <p:nvPicPr>
          <p:cNvPr id="26" name="Picture 23"/>
          <p:cNvPicPr>
            <a:picLocks xmlns:a="http://schemas.openxmlformats.org/drawingml/2006/main" noChangeAspect="1"/>
          </p:cNvPicPr>
          <p:nvPr/>
        </p:nvPicPr>
        <p:blipFill>
          <a:blip xmlns:r="http://schemas.openxmlformats.org/officeDocument/2006/relationships" xmlns:a="http://schemas.openxmlformats.org/drawingml/2006/main" r:embed="Rdf80284841e245d7"/>
          <a:stretch xmlns:a="http://schemas.openxmlformats.org/drawingml/2006/main"/>
        </p:blipFill>
        <p:spPr>
          <a:xfrm xmlns:a="http://schemas.openxmlformats.org/drawingml/2006/main">
            <a:off x="476250" y="1772533"/>
            <a:ext cx="5753100" cy="3122434"/>
          </a:xfrm>
          <a:prstGeom xmlns:a="http://schemas.openxmlformats.org/drawingml/2006/main" prst="roundRect">
            <a:avLst>
              <a:gd name="adj" fmla="val 3488"/>
            </a:avLst>
          </a:prstGeom>
        </p:spPr>
      </p:pic>
      <p:sp>
        <p:nvSpPr>
          <p:cNvPr id="7" name="Rectangle 6">
            <a:extLst xmlns:a="http://schemas.openxmlformats.org/drawingml/2006/main">
              <a:ext uri="{FF2B5EF4-FFF2-40B4-BE49-F238E27FC236}">
                <a16:creationId xmlns:a16="http://schemas.microsoft.com/office/drawing/2014/main" id="{8F535931-5D61-4143-94AB-196696AEEDF4}"/>
              </a:ext>
            </a:extLst>
          </p:cNvPr>
          <p:cNvSpPr>
            <a:spLocks xmlns:a="http://schemas.openxmlformats.org/drawingml/2006/main" noGrp="1"/>
          </p:cNvSpPr>
          <p:nvPr/>
        </p:nvSpPr>
        <p:spPr>
          <a:xfrm xmlns:a="http://schemas.openxmlformats.org/drawingml/2006/main">
            <a:off x="400050" y="5257800"/>
            <a:ext cx="590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i="0">
                <a:solidFill>
                  <a:srgbClr val="556070"/>
                </a:solidFill>
              </a:defRPr>
            </a:pPr>
            <a:r>
              <a:rPr sz="1350" b="0" i="0">
                <a:solidFill>
                  <a:srgbClr val="556070"/>
                </a:solidFill>
              </a:rPr>
              <a:t>Docker Desktop: one virtual base station and two virtual test devices are running.</a:t>
            </a:r>
          </a:p>
        </p:txBody>
      </p:sp>
      <p:sp>
        <p:nvSpPr>
          <p:cNvPr id="8" name="Rectangle: Rounded Corners 7">
            <a:extLst xmlns:a="http://schemas.openxmlformats.org/drawingml/2006/main">
              <a:ext uri="{FF2B5EF4-FFF2-40B4-BE49-F238E27FC236}">
                <a16:creationId xmlns:a16="http://schemas.microsoft.com/office/drawing/2014/main" id="{943810B4-2744-4416-8D07-A3EE39421149}"/>
              </a:ext>
            </a:extLst>
          </p:cNvPr>
          <p:cNvSpPr>
            <a:spLocks xmlns:a="http://schemas.openxmlformats.org/drawingml/2006/main" noGrp="1"/>
          </p:cNvSpPr>
          <p:nvPr/>
        </p:nvSpPr>
        <p:spPr>
          <a:xfrm xmlns:a="http://schemas.openxmlformats.org/drawingml/2006/main">
            <a:off x="6724650" y="1619250"/>
            <a:ext cx="1524000" cy="323850"/>
          </a:xfrm>
          <a:prstGeom xmlns:a="http://schemas.openxmlformats.org/drawingml/2006/main" prst="roundRect">
            <a:avLst>
              <a:gd name="adj" fmla="val 23529"/>
            </a:avLst>
          </a:prstGeom>
          <a:solidFill xmlns:a="http://schemas.openxmlformats.org/drawingml/2006/main">
            <a:srgbClr val="EAF5FB"/>
          </a:solidFill>
          <a:ln xmlns:a="http://schemas.openxmlformats.org/drawingml/2006/main" w="0">
            <a:solidFill>
              <a:srgbClr val="EAF5FB"/>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FDEB8C8A-769E-4572-95AF-A440D70A8E10}"/>
              </a:ext>
            </a:extLst>
          </p:cNvPr>
          <p:cNvSpPr>
            <a:spLocks xmlns:a="http://schemas.openxmlformats.org/drawingml/2006/main" noGrp="1"/>
          </p:cNvSpPr>
          <p:nvPr/>
        </p:nvSpPr>
        <p:spPr>
          <a:xfrm xmlns:a="http://schemas.openxmlformats.org/drawingml/2006/main">
            <a:off x="6838950" y="1685925"/>
            <a:ext cx="1295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050" b="1" i="0">
                <a:solidFill>
                  <a:srgbClr val="1E62D0"/>
                </a:solidFill>
              </a:defRPr>
            </a:pPr>
            <a:r>
              <a:rPr sz="1050" b="1" i="0">
                <a:solidFill>
                  <a:srgbClr val="1E62D0"/>
                </a:solidFill>
              </a:rPr>
              <a:t>COMPLETED</a:t>
            </a:r>
          </a:p>
        </p:txBody>
      </p:sp>
      <p:sp>
        <p:nvSpPr>
          <p:cNvPr id="10" name="Rectangle 9">
            <a:extLst xmlns:a="http://schemas.openxmlformats.org/drawingml/2006/main">
              <a:ext uri="{FF2B5EF4-FFF2-40B4-BE49-F238E27FC236}">
                <a16:creationId xmlns:a16="http://schemas.microsoft.com/office/drawing/2014/main" id="{B556D5C7-0452-4284-93E7-295D8FEA123D}"/>
              </a:ext>
            </a:extLst>
          </p:cNvPr>
          <p:cNvSpPr>
            <a:spLocks xmlns:a="http://schemas.openxmlformats.org/drawingml/2006/main" noGrp="1"/>
          </p:cNvSpPr>
          <p:nvPr/>
        </p:nvSpPr>
        <p:spPr>
          <a:xfrm xmlns:a="http://schemas.openxmlformats.org/drawingml/2006/main">
            <a:off x="6724650" y="2152650"/>
            <a:ext cx="4286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i="0">
                <a:solidFill>
                  <a:srgbClr val="111827"/>
                </a:solidFill>
              </a:defRPr>
            </a:pPr>
            <a:r>
              <a:rPr sz="2025" b="1" i="0">
                <a:solidFill>
                  <a:srgbClr val="111827"/>
                </a:solidFill>
              </a:rPr>
              <a:t>What I did</a:t>
            </a:r>
          </a:p>
        </p:txBody>
      </p:sp>
      <p:sp>
        <p:nvSpPr>
          <p:cNvPr id="11" name="Oval 10">
            <a:extLst xmlns:a="http://schemas.openxmlformats.org/drawingml/2006/main">
              <a:ext uri="{FF2B5EF4-FFF2-40B4-BE49-F238E27FC236}">
                <a16:creationId xmlns:a16="http://schemas.microsoft.com/office/drawing/2014/main" id="{D78B98F6-795A-4E69-9764-05184F1984B5}"/>
              </a:ext>
            </a:extLst>
          </p:cNvPr>
          <p:cNvSpPr>
            <a:spLocks xmlns:a="http://schemas.openxmlformats.org/drawingml/2006/main" noGrp="1"/>
          </p:cNvSpPr>
          <p:nvPr/>
        </p:nvSpPr>
        <p:spPr>
          <a:xfrm xmlns:a="http://schemas.openxmlformats.org/drawingml/2006/main">
            <a:off x="6724650" y="2790825"/>
            <a:ext cx="95250" cy="95250"/>
          </a:xfrm>
          <a:prstGeom xmlns:a="http://schemas.openxmlformats.org/drawingml/2006/main" prst="ellipse">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5ACB0A56-CE93-4005-8D30-31C420B81504}"/>
              </a:ext>
            </a:extLst>
          </p:cNvPr>
          <p:cNvSpPr>
            <a:spLocks xmlns:a="http://schemas.openxmlformats.org/drawingml/2006/main" noGrp="1"/>
          </p:cNvSpPr>
          <p:nvPr/>
        </p:nvSpPr>
        <p:spPr>
          <a:xfrm xmlns:a="http://schemas.openxmlformats.org/drawingml/2006/main">
            <a:off x="6972300" y="2705100"/>
            <a:ext cx="44196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i="0">
                <a:solidFill>
                  <a:srgbClr val="111827"/>
                </a:solidFill>
              </a:defRPr>
            </a:pPr>
            <a:r>
              <a:rPr sz="1800" b="0" i="0">
                <a:solidFill>
                  <a:srgbClr val="111827"/>
                </a:solidFill>
              </a:rPr>
              <a:t>Added one virtual base station.</a:t>
            </a:r>
          </a:p>
        </p:txBody>
      </p:sp>
      <p:sp>
        <p:nvSpPr>
          <p:cNvPr id="13" name="Oval 12">
            <a:extLst xmlns:a="http://schemas.openxmlformats.org/drawingml/2006/main">
              <a:ext uri="{FF2B5EF4-FFF2-40B4-BE49-F238E27FC236}">
                <a16:creationId xmlns:a16="http://schemas.microsoft.com/office/drawing/2014/main" id="{2630AD40-BC40-452D-8031-17FD027D712C}"/>
              </a:ext>
            </a:extLst>
          </p:cNvPr>
          <p:cNvSpPr>
            <a:spLocks xmlns:a="http://schemas.openxmlformats.org/drawingml/2006/main" noGrp="1"/>
          </p:cNvSpPr>
          <p:nvPr/>
        </p:nvSpPr>
        <p:spPr>
          <a:xfrm xmlns:a="http://schemas.openxmlformats.org/drawingml/2006/main">
            <a:off x="6724650" y="3438525"/>
            <a:ext cx="95250" cy="95250"/>
          </a:xfrm>
          <a:prstGeom xmlns:a="http://schemas.openxmlformats.org/drawingml/2006/main" prst="ellipse">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4D624DDF-F6A5-49E4-9EB8-CA413911578C}"/>
              </a:ext>
            </a:extLst>
          </p:cNvPr>
          <p:cNvSpPr>
            <a:spLocks xmlns:a="http://schemas.openxmlformats.org/drawingml/2006/main" noGrp="1"/>
          </p:cNvSpPr>
          <p:nvPr/>
        </p:nvSpPr>
        <p:spPr>
          <a:xfrm xmlns:a="http://schemas.openxmlformats.org/drawingml/2006/main">
            <a:off x="6972300" y="3352800"/>
            <a:ext cx="44196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i="0">
                <a:solidFill>
                  <a:srgbClr val="111827"/>
                </a:solidFill>
              </a:defRPr>
            </a:pPr>
            <a:r>
              <a:rPr sz="1800" b="0" i="0">
                <a:solidFill>
                  <a:srgbClr val="111827"/>
                </a:solidFill>
              </a:rPr>
              <a:t>Added two virtual test devices.</a:t>
            </a:r>
          </a:p>
        </p:txBody>
      </p:sp>
      <p:sp>
        <p:nvSpPr>
          <p:cNvPr id="15" name="Oval 14">
            <a:extLst xmlns:a="http://schemas.openxmlformats.org/drawingml/2006/main">
              <a:ext uri="{FF2B5EF4-FFF2-40B4-BE49-F238E27FC236}">
                <a16:creationId xmlns:a16="http://schemas.microsoft.com/office/drawing/2014/main" id="{07AC91BF-421A-41C1-8DF7-94A48CFBC55E}"/>
              </a:ext>
            </a:extLst>
          </p:cNvPr>
          <p:cNvSpPr>
            <a:spLocks xmlns:a="http://schemas.openxmlformats.org/drawingml/2006/main" noGrp="1"/>
          </p:cNvSpPr>
          <p:nvPr/>
        </p:nvSpPr>
        <p:spPr>
          <a:xfrm xmlns:a="http://schemas.openxmlformats.org/drawingml/2006/main">
            <a:off x="6724650" y="4086225"/>
            <a:ext cx="95250" cy="95250"/>
          </a:xfrm>
          <a:prstGeom xmlns:a="http://schemas.openxmlformats.org/drawingml/2006/main" prst="ellipse">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Rectangle 15">
            <a:extLst xmlns:a="http://schemas.openxmlformats.org/drawingml/2006/main">
              <a:ext uri="{FF2B5EF4-FFF2-40B4-BE49-F238E27FC236}">
                <a16:creationId xmlns:a16="http://schemas.microsoft.com/office/drawing/2014/main" id="{6ABD6E9A-AC05-499A-A67F-1CF8C3ADC68C}"/>
              </a:ext>
            </a:extLst>
          </p:cNvPr>
          <p:cNvSpPr>
            <a:spLocks xmlns:a="http://schemas.openxmlformats.org/drawingml/2006/main" noGrp="1"/>
          </p:cNvSpPr>
          <p:nvPr/>
        </p:nvSpPr>
        <p:spPr>
          <a:xfrm xmlns:a="http://schemas.openxmlformats.org/drawingml/2006/main">
            <a:off x="6972300" y="4000500"/>
            <a:ext cx="44196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i="0">
                <a:solidFill>
                  <a:srgbClr val="111827"/>
                </a:solidFill>
              </a:defRPr>
            </a:pPr>
            <a:r>
              <a:rPr sz="1800" b="0" i="0">
                <a:solidFill>
                  <a:srgbClr val="111827"/>
                </a:solidFill>
              </a:rPr>
              <a:t>Ran two controlled traffic scenarios.</a:t>
            </a:r>
          </a:p>
        </p:txBody>
      </p:sp>
      <p:sp>
        <p:nvSpPr>
          <p:cNvPr id="17" name="Rectangle 16">
            <a:extLst xmlns:a="http://schemas.openxmlformats.org/drawingml/2006/main">
              <a:ext uri="{FF2B5EF4-FFF2-40B4-BE49-F238E27FC236}">
                <a16:creationId xmlns:a16="http://schemas.microsoft.com/office/drawing/2014/main" id="{A735EF61-0621-4122-BE42-FFE341DDCA29}"/>
              </a:ext>
            </a:extLst>
          </p:cNvPr>
          <p:cNvSpPr>
            <a:spLocks xmlns:a="http://schemas.openxmlformats.org/drawingml/2006/main" noGrp="1"/>
          </p:cNvSpPr>
          <p:nvPr/>
        </p:nvSpPr>
        <p:spPr>
          <a:xfrm xmlns:a="http://schemas.openxmlformats.org/drawingml/2006/main">
            <a:off x="6724650" y="4867275"/>
            <a:ext cx="381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i="0">
                <a:solidFill>
                  <a:srgbClr val="1E62D0"/>
                </a:solidFill>
              </a:defRPr>
            </a:pPr>
            <a:r>
              <a:rPr sz="1875" b="1" i="0">
                <a:solidFill>
                  <a:srgbClr val="1E62D0"/>
                </a:solidFill>
              </a:rPr>
              <a:t>Result</a:t>
            </a:r>
          </a:p>
        </p:txBody>
      </p:sp>
      <p:sp>
        <p:nvSpPr>
          <p:cNvPr id="18" name="Rectangle 17">
            <a:extLst xmlns:a="http://schemas.openxmlformats.org/drawingml/2006/main">
              <a:ext uri="{FF2B5EF4-FFF2-40B4-BE49-F238E27FC236}">
                <a16:creationId xmlns:a16="http://schemas.microsoft.com/office/drawing/2014/main" id="{5F04430F-4847-4D66-BF77-B7BBD1A1B182}"/>
              </a:ext>
            </a:extLst>
          </p:cNvPr>
          <p:cNvSpPr>
            <a:spLocks xmlns:a="http://schemas.openxmlformats.org/drawingml/2006/main" noGrp="1"/>
          </p:cNvSpPr>
          <p:nvPr/>
        </p:nvSpPr>
        <p:spPr>
          <a:xfrm xmlns:a="http://schemas.openxmlformats.org/drawingml/2006/main">
            <a:off x="6724650" y="5238750"/>
            <a:ext cx="4476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i="0">
                <a:solidFill>
                  <a:srgbClr val="556070"/>
                </a:solidFill>
              </a:defRPr>
            </a:pPr>
            <a:r>
              <a:rPr sz="1650" b="0" i="0">
                <a:solidFill>
                  <a:srgbClr val="556070"/>
                </a:solidFill>
              </a:rPr>
              <a:t>Both traffic scenarios completed and created records for the next step.</a:t>
            </a:r>
          </a:p>
        </p:txBody>
      </p:sp>
    </p:spTree>
    <p:extLst>
      <p:ext uri="{BB962C8B-B14F-4D97-AF65-F5344CB8AC3E}">
        <p14:creationId xmlns:p14="http://schemas.microsoft.com/office/powerpoint/2010/main" val="56891241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A7608A95-C851-4988-A2A4-6E102600DA72}"/>
              </a:ext>
            </a:extLst>
          </p:cNvPr>
          <p:cNvSpPr>
            <a:spLocks xmlns:a="http://schemas.openxmlformats.org/drawingml/2006/main" noGrp="1"/>
          </p:cNvSpPr>
          <p:nvPr/>
        </p:nvSpPr>
        <p:spPr>
          <a:xfrm xmlns:a="http://schemas.openxmlformats.org/drawingml/2006/main">
            <a:off x="400050" y="3238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E62D0"/>
                </a:solidFill>
              </a:defRPr>
            </a:pPr>
            <a:r>
              <a:rPr sz="1125" b="1" i="0">
                <a:solidFill>
                  <a:srgbClr val="1E62D0"/>
                </a:solidFill>
              </a:rPr>
              <a:t>COMPLETED DEVELOPMENT</a:t>
            </a:r>
          </a:p>
        </p:txBody>
      </p:sp>
      <p:sp>
        <p:nvSpPr>
          <p:cNvPr id="2" name="Rectangle 1">
            <a:extLst xmlns:a="http://schemas.openxmlformats.org/drawingml/2006/main">
              <a:ext uri="{FF2B5EF4-FFF2-40B4-BE49-F238E27FC236}">
                <a16:creationId xmlns:a16="http://schemas.microsoft.com/office/drawing/2014/main" id="{80BED32D-CD00-40A0-B011-893AF4C0AC88}"/>
              </a:ext>
            </a:extLst>
          </p:cNvPr>
          <p:cNvSpPr>
            <a:spLocks xmlns:a="http://schemas.openxmlformats.org/drawingml/2006/main" noGrp="1"/>
          </p:cNvSpPr>
          <p:nvPr/>
        </p:nvSpPr>
        <p:spPr>
          <a:xfrm xmlns:a="http://schemas.openxmlformats.org/drawingml/2006/main">
            <a:off x="400050" y="62865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925" b="1" i="0">
                <a:solidFill>
                  <a:srgbClr val="111827"/>
                </a:solidFill>
              </a:defRPr>
            </a:pPr>
            <a:r>
              <a:rPr sz="2925" b="1" i="0">
                <a:solidFill>
                  <a:srgbClr val="111827"/>
                </a:solidFill>
              </a:rPr>
              <a:t>Phase 3: My C# program organises the records</a:t>
            </a:r>
          </a:p>
        </p:txBody>
      </p:sp>
      <p:sp>
        <p:nvSpPr>
          <p:cNvPr id="3" name="Rectangle 2">
            <a:extLst xmlns:a="http://schemas.openxmlformats.org/drawingml/2006/main">
              <a:ext uri="{FF2B5EF4-FFF2-40B4-BE49-F238E27FC236}">
                <a16:creationId xmlns:a16="http://schemas.microsoft.com/office/drawing/2014/main" id="{55C69A76-3798-4AC1-B2B9-1CA18CE0818C}"/>
              </a:ext>
            </a:extLst>
          </p:cNvPr>
          <p:cNvSpPr>
            <a:spLocks xmlns:a="http://schemas.openxmlformats.org/drawingml/2006/main" noGrp="1"/>
          </p:cNvSpPr>
          <p:nvPr/>
        </p:nvSpPr>
        <p:spPr>
          <a:xfrm xmlns:a="http://schemas.openxmlformats.org/drawingml/2006/main">
            <a:off x="400050" y="1276350"/>
            <a:ext cx="11391900" cy="9525"/>
          </a:xfrm>
          <a:prstGeom xmlns:a="http://schemas.openxmlformats.org/drawingml/2006/main" prst="rect">
            <a:avLst/>
          </a:prstGeom>
          <a:solidFill xmlns:a="http://schemas.openxmlformats.org/drawingml/2006/main">
            <a:srgbClr val="C8CED6"/>
          </a:solidFill>
          <a:ln xmlns:a="http://schemas.openxmlformats.org/drawingml/2006/main" w="0">
            <a:solidFill>
              <a:srgbClr val="C8CED6"/>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EB0F46E6-4920-402F-B8E7-5BE77539F646}"/>
              </a:ext>
            </a:extLst>
          </p:cNvPr>
          <p:cNvSpPr>
            <a:spLocks xmlns:a="http://schemas.openxmlformats.org/drawingml/2006/main" noGrp="1"/>
          </p:cNvSpPr>
          <p:nvPr/>
        </p:nvSpPr>
        <p:spPr>
          <a:xfrm xmlns:a="http://schemas.openxmlformats.org/drawingml/2006/main">
            <a:off x="9715500" y="6286500"/>
            <a:ext cx="2076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556070"/>
                </a:solidFill>
              </a:defRPr>
            </a:pPr>
            <a:r>
              <a:rPr sz="975" b="0" i="0">
                <a:solidFill>
                  <a:srgbClr val="556070"/>
                </a:solidFill>
              </a:rPr>
              <a:t>4 AUGUST 2026  |  06</a:t>
            </a:r>
          </a:p>
        </p:txBody>
      </p:sp>
      <p:sp>
        <p:nvSpPr>
          <p:cNvPr id="5" name="Rectangle 4">
            <a:extLst xmlns:a="http://schemas.openxmlformats.org/drawingml/2006/main">
              <a:ext uri="{FF2B5EF4-FFF2-40B4-BE49-F238E27FC236}">
                <a16:creationId xmlns:a16="http://schemas.microsoft.com/office/drawing/2014/main" id="{4074F0AF-8C79-4B63-9259-2B4E5B257137}"/>
              </a:ext>
            </a:extLst>
          </p:cNvPr>
          <p:cNvSpPr>
            <a:spLocks xmlns:a="http://schemas.openxmlformats.org/drawingml/2006/main" noGrp="1"/>
          </p:cNvSpPr>
          <p:nvPr/>
        </p:nvSpPr>
        <p:spPr>
          <a:xfrm xmlns:a="http://schemas.openxmlformats.org/drawingml/2006/main">
            <a:off x="400050" y="1504950"/>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0" i="0">
                <a:solidFill>
                  <a:srgbClr val="556070"/>
                </a:solidFill>
              </a:defRPr>
            </a:pPr>
            <a:r>
              <a:rPr sz="1875" b="0" i="0">
                <a:solidFill>
                  <a:srgbClr val="556070"/>
                </a:solidFill>
              </a:rPr>
              <a:t>The program reads selected test files and creates a common record for each item. It does not change the original files.</a:t>
            </a:r>
          </a:p>
        </p:txBody>
      </p:sp>
      <p:sp>
        <p:nvSpPr>
          <p:cNvPr id="6" name="Rectangle: Rounded Corners 5">
            <a:extLst xmlns:a="http://schemas.openxmlformats.org/drawingml/2006/main">
              <a:ext uri="{FF2B5EF4-FFF2-40B4-BE49-F238E27FC236}">
                <a16:creationId xmlns:a16="http://schemas.microsoft.com/office/drawing/2014/main" id="{801A2984-2B57-4553-BAC6-A718BFB79F6E}"/>
              </a:ext>
            </a:extLst>
          </p:cNvPr>
          <p:cNvSpPr>
            <a:spLocks xmlns:a="http://schemas.openxmlformats.org/drawingml/2006/main" noGrp="1"/>
          </p:cNvSpPr>
          <p:nvPr/>
        </p:nvSpPr>
        <p:spPr>
          <a:xfrm xmlns:a="http://schemas.openxmlformats.org/drawingml/2006/main">
            <a:off x="400050" y="2305050"/>
            <a:ext cx="6838950" cy="3733800"/>
          </a:xfrm>
          <a:prstGeom xmlns:a="http://schemas.openxmlformats.org/drawingml/2006/main" prst="roundRect">
            <a:avLst>
              <a:gd name="adj" fmla="val 3061"/>
            </a:avLst>
          </a:prstGeom>
          <a:solidFill xmlns:a="http://schemas.openxmlformats.org/drawingml/2006/main">
            <a:srgbClr val="EAF5FB"/>
          </a:solidFill>
          <a:ln xmlns:a="http://schemas.openxmlformats.org/drawingml/2006/main" w="9525">
            <a:solidFill>
              <a:srgbClr val="C8CED6"/>
            </a:solidFill>
            <a:prstDash val="solid"/>
          </a:ln>
        </p:spPr>
        <p:txBody>
          <a:bodyPr xmlns:a="http://schemas.openxmlformats.org/drawingml/2006/main"/>
          <a:lstStyle xmlns:a="http://schemas.openxmlformats.org/drawingml/2006/main"/>
          <a:p xmlns:a="http://schemas.openxmlformats.org/drawingml/2006/main">
            <a:endParaRPr/>
          </a:p>
        </p:txBody>
      </p:sp>
      <p:pic>
        <p:nvPicPr>
          <p:cNvPr id="29" name="Picture 26"/>
          <p:cNvPicPr>
            <a:picLocks xmlns:a="http://schemas.openxmlformats.org/drawingml/2006/main" noChangeAspect="1"/>
          </p:cNvPicPr>
          <p:nvPr/>
        </p:nvPicPr>
        <p:blipFill>
          <a:blip xmlns:r="http://schemas.openxmlformats.org/officeDocument/2006/relationships" xmlns:a="http://schemas.openxmlformats.org/drawingml/2006/main" r:embed="Rb1781ebac90f4255"/>
          <a:stretch xmlns:a="http://schemas.openxmlformats.org/drawingml/2006/main"/>
        </p:blipFill>
        <p:spPr>
          <a:xfrm xmlns:a="http://schemas.openxmlformats.org/drawingml/2006/main">
            <a:off x="511514" y="2381250"/>
            <a:ext cx="6616021" cy="3581400"/>
          </a:xfrm>
          <a:prstGeom xmlns:a="http://schemas.openxmlformats.org/drawingml/2006/main" prst="roundRect">
            <a:avLst>
              <a:gd name="adj" fmla="val 3191"/>
            </a:avLst>
          </a:prstGeom>
        </p:spPr>
      </p:pic>
      <p:sp>
        <p:nvSpPr>
          <p:cNvPr id="8" name="Rectangle 7">
            <a:extLst xmlns:a="http://schemas.openxmlformats.org/drawingml/2006/main">
              <a:ext uri="{FF2B5EF4-FFF2-40B4-BE49-F238E27FC236}">
                <a16:creationId xmlns:a16="http://schemas.microsoft.com/office/drawing/2014/main" id="{BE05CA84-732F-46AE-9CA6-B08B28C8887F}"/>
              </a:ext>
            </a:extLst>
          </p:cNvPr>
          <p:cNvSpPr>
            <a:spLocks xmlns:a="http://schemas.openxmlformats.org/drawingml/2006/main" noGrp="1"/>
          </p:cNvSpPr>
          <p:nvPr/>
        </p:nvSpPr>
        <p:spPr>
          <a:xfrm xmlns:a="http://schemas.openxmlformats.org/drawingml/2006/main">
            <a:off x="7715250" y="23622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i="0">
                <a:solidFill>
                  <a:srgbClr val="111827"/>
                </a:solidFill>
              </a:defRPr>
            </a:pPr>
            <a:r>
              <a:rPr sz="2025" b="1" i="0">
                <a:solidFill>
                  <a:srgbClr val="111827"/>
                </a:solidFill>
              </a:rPr>
              <a:t>A simple record includes</a:t>
            </a:r>
          </a:p>
        </p:txBody>
      </p:sp>
      <p:sp>
        <p:nvSpPr>
          <p:cNvPr id="9" name="Oval 8">
            <a:extLst xmlns:a="http://schemas.openxmlformats.org/drawingml/2006/main">
              <a:ext uri="{FF2B5EF4-FFF2-40B4-BE49-F238E27FC236}">
                <a16:creationId xmlns:a16="http://schemas.microsoft.com/office/drawing/2014/main" id="{F57A33BB-AEFF-4063-8FC7-E6EDC3BDA3B2}"/>
              </a:ext>
            </a:extLst>
          </p:cNvPr>
          <p:cNvSpPr>
            <a:spLocks xmlns:a="http://schemas.openxmlformats.org/drawingml/2006/main" noGrp="1"/>
          </p:cNvSpPr>
          <p:nvPr/>
        </p:nvSpPr>
        <p:spPr>
          <a:xfrm xmlns:a="http://schemas.openxmlformats.org/drawingml/2006/main">
            <a:off x="7715250" y="2943225"/>
            <a:ext cx="95250" cy="95250"/>
          </a:xfrm>
          <a:prstGeom xmlns:a="http://schemas.openxmlformats.org/drawingml/2006/main" prst="ellipse">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Rectangle 9">
            <a:extLst xmlns:a="http://schemas.openxmlformats.org/drawingml/2006/main">
              <a:ext uri="{FF2B5EF4-FFF2-40B4-BE49-F238E27FC236}">
                <a16:creationId xmlns:a16="http://schemas.microsoft.com/office/drawing/2014/main" id="{9918A51D-B2BC-4DCE-8F86-32297C6C44EC}"/>
              </a:ext>
            </a:extLst>
          </p:cNvPr>
          <p:cNvSpPr>
            <a:spLocks xmlns:a="http://schemas.openxmlformats.org/drawingml/2006/main" noGrp="1"/>
          </p:cNvSpPr>
          <p:nvPr/>
        </p:nvSpPr>
        <p:spPr>
          <a:xfrm xmlns:a="http://schemas.openxmlformats.org/drawingml/2006/main">
            <a:off x="7962900" y="2857500"/>
            <a:ext cx="32956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when the event happened</a:t>
            </a:r>
          </a:p>
        </p:txBody>
      </p:sp>
      <p:sp>
        <p:nvSpPr>
          <p:cNvPr id="11" name="Oval 10">
            <a:extLst xmlns:a="http://schemas.openxmlformats.org/drawingml/2006/main">
              <a:ext uri="{FF2B5EF4-FFF2-40B4-BE49-F238E27FC236}">
                <a16:creationId xmlns:a16="http://schemas.microsoft.com/office/drawing/2014/main" id="{4754A631-8934-4493-ACD7-684941461772}"/>
              </a:ext>
            </a:extLst>
          </p:cNvPr>
          <p:cNvSpPr>
            <a:spLocks xmlns:a="http://schemas.openxmlformats.org/drawingml/2006/main" noGrp="1"/>
          </p:cNvSpPr>
          <p:nvPr/>
        </p:nvSpPr>
        <p:spPr>
          <a:xfrm xmlns:a="http://schemas.openxmlformats.org/drawingml/2006/main">
            <a:off x="7715250" y="3467100"/>
            <a:ext cx="95250" cy="95250"/>
          </a:xfrm>
          <a:prstGeom xmlns:a="http://schemas.openxmlformats.org/drawingml/2006/main" prst="ellipse">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Rectangle 11">
            <a:extLst xmlns:a="http://schemas.openxmlformats.org/drawingml/2006/main">
              <a:ext uri="{FF2B5EF4-FFF2-40B4-BE49-F238E27FC236}">
                <a16:creationId xmlns:a16="http://schemas.microsoft.com/office/drawing/2014/main" id="{D83D7FA7-CB34-47EF-B909-7F5FAA851A11}"/>
              </a:ext>
            </a:extLst>
          </p:cNvPr>
          <p:cNvSpPr>
            <a:spLocks xmlns:a="http://schemas.openxmlformats.org/drawingml/2006/main" noGrp="1"/>
          </p:cNvSpPr>
          <p:nvPr/>
        </p:nvSpPr>
        <p:spPr>
          <a:xfrm xmlns:a="http://schemas.openxmlformats.org/drawingml/2006/main">
            <a:off x="7962900" y="3381375"/>
            <a:ext cx="32956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where it came from</a:t>
            </a:r>
          </a:p>
        </p:txBody>
      </p:sp>
      <p:sp>
        <p:nvSpPr>
          <p:cNvPr id="13" name="Oval 12">
            <a:extLst xmlns:a="http://schemas.openxmlformats.org/drawingml/2006/main">
              <a:ext uri="{FF2B5EF4-FFF2-40B4-BE49-F238E27FC236}">
                <a16:creationId xmlns:a16="http://schemas.microsoft.com/office/drawing/2014/main" id="{6989D667-7DF8-409B-9ABA-4F9DDDD574BD}"/>
              </a:ext>
            </a:extLst>
          </p:cNvPr>
          <p:cNvSpPr>
            <a:spLocks xmlns:a="http://schemas.openxmlformats.org/drawingml/2006/main" noGrp="1"/>
          </p:cNvSpPr>
          <p:nvPr/>
        </p:nvSpPr>
        <p:spPr>
          <a:xfrm xmlns:a="http://schemas.openxmlformats.org/drawingml/2006/main">
            <a:off x="7715250" y="3990975"/>
            <a:ext cx="95250" cy="95250"/>
          </a:xfrm>
          <a:prstGeom xmlns:a="http://schemas.openxmlformats.org/drawingml/2006/main" prst="ellipse">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Rectangle 13">
            <a:extLst xmlns:a="http://schemas.openxmlformats.org/drawingml/2006/main">
              <a:ext uri="{FF2B5EF4-FFF2-40B4-BE49-F238E27FC236}">
                <a16:creationId xmlns:a16="http://schemas.microsoft.com/office/drawing/2014/main" id="{FB16FF66-8CE6-4CA4-9450-48AE936734D1}"/>
              </a:ext>
            </a:extLst>
          </p:cNvPr>
          <p:cNvSpPr>
            <a:spLocks xmlns:a="http://schemas.openxmlformats.org/drawingml/2006/main" noGrp="1"/>
          </p:cNvSpPr>
          <p:nvPr/>
        </p:nvSpPr>
        <p:spPr>
          <a:xfrm xmlns:a="http://schemas.openxmlformats.org/drawingml/2006/main">
            <a:off x="7962900" y="3905250"/>
            <a:ext cx="32956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which test scenario it belongs to</a:t>
            </a:r>
          </a:p>
        </p:txBody>
      </p:sp>
      <p:sp>
        <p:nvSpPr>
          <p:cNvPr id="15" name="Oval 14">
            <a:extLst xmlns:a="http://schemas.openxmlformats.org/drawingml/2006/main">
              <a:ext uri="{FF2B5EF4-FFF2-40B4-BE49-F238E27FC236}">
                <a16:creationId xmlns:a16="http://schemas.microsoft.com/office/drawing/2014/main" id="{9B61EC65-726A-42E5-8A14-F88873DDADC8}"/>
              </a:ext>
            </a:extLst>
          </p:cNvPr>
          <p:cNvSpPr>
            <a:spLocks xmlns:a="http://schemas.openxmlformats.org/drawingml/2006/main" noGrp="1"/>
          </p:cNvSpPr>
          <p:nvPr/>
        </p:nvSpPr>
        <p:spPr>
          <a:xfrm xmlns:a="http://schemas.openxmlformats.org/drawingml/2006/main">
            <a:off x="7715250" y="4514850"/>
            <a:ext cx="95250" cy="95250"/>
          </a:xfrm>
          <a:prstGeom xmlns:a="http://schemas.openxmlformats.org/drawingml/2006/main" prst="ellipse">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Rectangle 15">
            <a:extLst xmlns:a="http://schemas.openxmlformats.org/drawingml/2006/main">
              <a:ext uri="{FF2B5EF4-FFF2-40B4-BE49-F238E27FC236}">
                <a16:creationId xmlns:a16="http://schemas.microsoft.com/office/drawing/2014/main" id="{E2FAF044-EC66-4706-B637-C6D60EBB3C5D}"/>
              </a:ext>
            </a:extLst>
          </p:cNvPr>
          <p:cNvSpPr>
            <a:spLocks xmlns:a="http://schemas.openxmlformats.org/drawingml/2006/main" noGrp="1"/>
          </p:cNvSpPr>
          <p:nvPr/>
        </p:nvSpPr>
        <p:spPr>
          <a:xfrm xmlns:a="http://schemas.openxmlformats.org/drawingml/2006/main">
            <a:off x="7962900" y="4429125"/>
            <a:ext cx="32956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an initial slice label</a:t>
            </a:r>
          </a:p>
        </p:txBody>
      </p:sp>
      <p:sp>
        <p:nvSpPr>
          <p:cNvPr id="17" name="Oval 16">
            <a:extLst xmlns:a="http://schemas.openxmlformats.org/drawingml/2006/main">
              <a:ext uri="{FF2B5EF4-FFF2-40B4-BE49-F238E27FC236}">
                <a16:creationId xmlns:a16="http://schemas.microsoft.com/office/drawing/2014/main" id="{968BD3E6-738E-48C7-9E19-224A5B1EC64E}"/>
              </a:ext>
            </a:extLst>
          </p:cNvPr>
          <p:cNvSpPr>
            <a:spLocks xmlns:a="http://schemas.openxmlformats.org/drawingml/2006/main" noGrp="1"/>
          </p:cNvSpPr>
          <p:nvPr/>
        </p:nvSpPr>
        <p:spPr>
          <a:xfrm xmlns:a="http://schemas.openxmlformats.org/drawingml/2006/main">
            <a:off x="7715250" y="5038725"/>
            <a:ext cx="95250" cy="95250"/>
          </a:xfrm>
          <a:prstGeom xmlns:a="http://schemas.openxmlformats.org/drawingml/2006/main" prst="ellipse">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18" name="Rectangle 17">
            <a:extLst xmlns:a="http://schemas.openxmlformats.org/drawingml/2006/main">
              <a:ext uri="{FF2B5EF4-FFF2-40B4-BE49-F238E27FC236}">
                <a16:creationId xmlns:a16="http://schemas.microsoft.com/office/drawing/2014/main" id="{2EE3A2A8-7EED-41BA-AFB2-67B275860726}"/>
              </a:ext>
            </a:extLst>
          </p:cNvPr>
          <p:cNvSpPr>
            <a:spLocks xmlns:a="http://schemas.openxmlformats.org/drawingml/2006/main" noGrp="1"/>
          </p:cNvSpPr>
          <p:nvPr/>
        </p:nvSpPr>
        <p:spPr>
          <a:xfrm xmlns:a="http://schemas.openxmlformats.org/drawingml/2006/main">
            <a:off x="7962900" y="4953000"/>
            <a:ext cx="32956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i="0">
                <a:solidFill>
                  <a:srgbClr val="111827"/>
                </a:solidFill>
              </a:defRPr>
            </a:pPr>
            <a:r>
              <a:rPr sz="1650" b="0" i="0">
                <a:solidFill>
                  <a:srgbClr val="111827"/>
                </a:solidFill>
              </a:rPr>
              <a:t>a link back to the original file</a:t>
            </a:r>
          </a:p>
        </p:txBody>
      </p:sp>
      <p:sp>
        <p:nvSpPr>
          <p:cNvPr id="19" name="Rectangle: Rounded Corners 18">
            <a:extLst xmlns:a="http://schemas.openxmlformats.org/drawingml/2006/main">
              <a:ext uri="{FF2B5EF4-FFF2-40B4-BE49-F238E27FC236}">
                <a16:creationId xmlns:a16="http://schemas.microsoft.com/office/drawing/2014/main" id="{94EAA160-BA7C-4581-A092-2929D4E7AB97}"/>
              </a:ext>
            </a:extLst>
          </p:cNvPr>
          <p:cNvSpPr>
            <a:spLocks xmlns:a="http://schemas.openxmlformats.org/drawingml/2006/main" noGrp="1"/>
          </p:cNvSpPr>
          <p:nvPr/>
        </p:nvSpPr>
        <p:spPr>
          <a:xfrm xmlns:a="http://schemas.openxmlformats.org/drawingml/2006/main">
            <a:off x="7715250" y="5581650"/>
            <a:ext cx="3600450" cy="457200"/>
          </a:xfrm>
          <a:prstGeom xmlns:a="http://schemas.openxmlformats.org/drawingml/2006/main" prst="roundRect">
            <a:avLst>
              <a:gd name="adj" fmla="val 16667"/>
            </a:avLst>
          </a:prstGeom>
          <a:solidFill xmlns:a="http://schemas.openxmlformats.org/drawingml/2006/main">
            <a:srgbClr val="EAF5FB"/>
          </a:solidFill>
          <a:ln xmlns:a="http://schemas.openxmlformats.org/drawingml/2006/main" w="0">
            <a:solidFill>
              <a:srgbClr val="EAF5FB"/>
            </a:solidFill>
            <a:prstDash val="solid"/>
          </a:ln>
        </p:spPr>
        <p:txBody>
          <a:bodyPr xmlns:a="http://schemas.openxmlformats.org/drawingml/2006/main"/>
          <a:lstStyle xmlns:a="http://schemas.openxmlformats.org/drawingml/2006/main"/>
          <a:p xmlns:a="http://schemas.openxmlformats.org/drawingml/2006/main">
            <a:endParaRPr/>
          </a:p>
        </p:txBody>
      </p:sp>
      <p:sp>
        <p:nvSpPr>
          <p:cNvPr id="20" name="Rectangle 19">
            <a:extLst xmlns:a="http://schemas.openxmlformats.org/drawingml/2006/main">
              <a:ext uri="{FF2B5EF4-FFF2-40B4-BE49-F238E27FC236}">
                <a16:creationId xmlns:a16="http://schemas.microsoft.com/office/drawing/2014/main" id="{A2B81BFC-5F19-4C29-9553-F58BBE71F10A}"/>
              </a:ext>
            </a:extLst>
          </p:cNvPr>
          <p:cNvSpPr>
            <a:spLocks xmlns:a="http://schemas.openxmlformats.org/drawingml/2006/main" noGrp="1"/>
          </p:cNvSpPr>
          <p:nvPr/>
        </p:nvSpPr>
        <p:spPr>
          <a:xfrm xmlns:a="http://schemas.openxmlformats.org/drawingml/2006/main">
            <a:off x="7886700" y="56959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i="0">
                <a:solidFill>
                  <a:srgbClr val="1E62D0"/>
                </a:solidFill>
              </a:defRPr>
            </a:pPr>
            <a:r>
              <a:rPr sz="1500" b="1" i="0">
                <a:solidFill>
                  <a:srgbClr val="1E62D0"/>
                </a:solidFill>
              </a:rPr>
              <a:t>27 records from 17 selected inputs</a:t>
            </a:r>
          </a:p>
        </p:txBody>
      </p:sp>
    </p:spTree>
    <p:extLst>
      <p:ext uri="{BB962C8B-B14F-4D97-AF65-F5344CB8AC3E}">
        <p14:creationId xmlns:p14="http://schemas.microsoft.com/office/powerpoint/2010/main" val="53857888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093AC282-58D5-40B7-8E7D-710A25B67C6B}"/>
              </a:ext>
            </a:extLst>
          </p:cNvPr>
          <p:cNvSpPr>
            <a:spLocks xmlns:a="http://schemas.openxmlformats.org/drawingml/2006/main" noGrp="1"/>
          </p:cNvSpPr>
          <p:nvPr/>
        </p:nvSpPr>
        <p:spPr>
          <a:xfrm xmlns:a="http://schemas.openxmlformats.org/drawingml/2006/main">
            <a:off x="400050" y="3238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E62D0"/>
                </a:solidFill>
              </a:defRPr>
            </a:pPr>
            <a:r>
              <a:rPr sz="1125" b="1" i="0">
                <a:solidFill>
                  <a:srgbClr val="1E62D0"/>
                </a:solidFill>
              </a:rPr>
              <a:t>FRESH VALIDATION - 16 AUGUST 2026</a:t>
            </a:r>
          </a:p>
        </p:txBody>
      </p:sp>
      <p:sp>
        <p:nvSpPr>
          <p:cNvPr id="2" name="Rectangle 1">
            <a:extLst xmlns:a="http://schemas.openxmlformats.org/drawingml/2006/main">
              <a:ext uri="{FF2B5EF4-FFF2-40B4-BE49-F238E27FC236}">
                <a16:creationId xmlns:a16="http://schemas.microsoft.com/office/drawing/2014/main" id="{2FC15BA6-BC82-4981-99C4-CE80F366B9DE}"/>
              </a:ext>
            </a:extLst>
          </p:cNvPr>
          <p:cNvSpPr>
            <a:spLocks xmlns:a="http://schemas.openxmlformats.org/drawingml/2006/main" noGrp="1"/>
          </p:cNvSpPr>
          <p:nvPr/>
        </p:nvSpPr>
        <p:spPr>
          <a:xfrm xmlns:a="http://schemas.openxmlformats.org/drawingml/2006/main">
            <a:off x="400050" y="62865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925" b="1" i="0">
                <a:solidFill>
                  <a:srgbClr val="111827"/>
                </a:solidFill>
              </a:defRPr>
            </a:pPr>
            <a:r>
              <a:rPr sz="2925" b="1" i="0">
                <a:solidFill>
                  <a:srgbClr val="111827"/>
                </a:solidFill>
              </a:rPr>
              <a:t>Phases 1-3 were rerun before Phase 4</a:t>
            </a:r>
          </a:p>
        </p:txBody>
      </p:sp>
      <p:sp>
        <p:nvSpPr>
          <p:cNvPr id="3" name="Rectangle 2">
            <a:extLst xmlns:a="http://schemas.openxmlformats.org/drawingml/2006/main">
              <a:ext uri="{FF2B5EF4-FFF2-40B4-BE49-F238E27FC236}">
                <a16:creationId xmlns:a16="http://schemas.microsoft.com/office/drawing/2014/main" id="{AE21976C-8499-45AA-98A4-1EE1CB3569F0}"/>
              </a:ext>
            </a:extLst>
          </p:cNvPr>
          <p:cNvSpPr>
            <a:spLocks xmlns:a="http://schemas.openxmlformats.org/drawingml/2006/main" noGrp="1"/>
          </p:cNvSpPr>
          <p:nvPr/>
        </p:nvSpPr>
        <p:spPr>
          <a:xfrm xmlns:a="http://schemas.openxmlformats.org/drawingml/2006/main">
            <a:off x="400050" y="1276350"/>
            <a:ext cx="11391900" cy="9525"/>
          </a:xfrm>
          <a:prstGeom xmlns:a="http://schemas.openxmlformats.org/drawingml/2006/main" prst="rect">
            <a:avLst/>
          </a:prstGeom>
          <a:solidFill xmlns:a="http://schemas.openxmlformats.org/drawingml/2006/main">
            <a:srgbClr val="C8CED6"/>
          </a:solidFill>
          <a:ln xmlns:a="http://schemas.openxmlformats.org/drawingml/2006/main" w="0">
            <a:solidFill>
              <a:srgbClr val="C8CED6"/>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EBE2EAAD-04A1-4C85-B928-3FDC4F59785E}"/>
              </a:ext>
            </a:extLst>
          </p:cNvPr>
          <p:cNvSpPr>
            <a:spLocks xmlns:a="http://schemas.openxmlformats.org/drawingml/2006/main" noGrp="1"/>
          </p:cNvSpPr>
          <p:nvPr/>
        </p:nvSpPr>
        <p:spPr>
          <a:xfrm xmlns:a="http://schemas.openxmlformats.org/drawingml/2006/main">
            <a:off x="9715500" y="6286500"/>
            <a:ext cx="2076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556070"/>
                </a:solidFill>
              </a:defRPr>
            </a:pPr>
            <a:r>
              <a:rPr sz="975" b="0" i="0">
                <a:solidFill>
                  <a:srgbClr val="556070"/>
                </a:solidFill>
              </a:rPr>
              <a:t>16 AUGUST 2026  |  07</a:t>
            </a:r>
          </a:p>
        </p:txBody>
      </p:sp>
      <p:sp>
        <p:nvSpPr>
          <p:cNvPr id="5" name="Rectangle 4">
            <a:extLst xmlns:a="http://schemas.openxmlformats.org/drawingml/2006/main">
              <a:ext uri="{FF2B5EF4-FFF2-40B4-BE49-F238E27FC236}">
                <a16:creationId xmlns:a16="http://schemas.microsoft.com/office/drawing/2014/main" id="{062A7E23-5AF0-44AC-A21E-B9CC4008E3B8}"/>
              </a:ext>
            </a:extLst>
          </p:cNvPr>
          <p:cNvSpPr>
            <a:spLocks xmlns:a="http://schemas.openxmlformats.org/drawingml/2006/main" noGrp="1"/>
          </p:cNvSpPr>
          <p:nvPr/>
        </p:nvSpPr>
        <p:spPr>
          <a:xfrm xmlns:a="http://schemas.openxmlformats.org/drawingml/2006/main">
            <a:off x="400050" y="154305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i="0">
                <a:solidFill>
                  <a:srgbClr val="556070"/>
                </a:solidFill>
              </a:defRPr>
            </a:pPr>
            <a:r>
              <a:rPr sz="1800" b="0" i="0">
                <a:solidFill>
                  <a:srgbClr val="556070"/>
                </a:solidFill>
              </a:rPr>
              <a:t>The laboratory, controlled traffic and C# evidence ingestion all completed before the attribution step.</a:t>
            </a:r>
          </a:p>
        </p:txBody>
      </p:sp>
      <p:sp>
        <p:nvSpPr>
          <p:cNvPr id="6" name="Rectangle: Rounded Corners 5">
            <a:extLst xmlns:a="http://schemas.openxmlformats.org/drawingml/2006/main">
              <a:ext uri="{FF2B5EF4-FFF2-40B4-BE49-F238E27FC236}">
                <a16:creationId xmlns:a16="http://schemas.microsoft.com/office/drawing/2014/main" id="{3E169C23-5DD8-4164-AFE6-7FC645EA7C75}"/>
              </a:ext>
            </a:extLst>
          </p:cNvPr>
          <p:cNvSpPr>
            <a:spLocks xmlns:a="http://schemas.openxmlformats.org/drawingml/2006/main" noGrp="1"/>
          </p:cNvSpPr>
          <p:nvPr/>
        </p:nvSpPr>
        <p:spPr>
          <a:xfrm xmlns:a="http://schemas.openxmlformats.org/drawingml/2006/main">
            <a:off x="400050" y="3028950"/>
            <a:ext cx="3562350" cy="2476500"/>
          </a:xfrm>
          <a:prstGeom xmlns:a="http://schemas.openxmlformats.org/drawingml/2006/main" prst="roundRect">
            <a:avLst>
              <a:gd name="adj" fmla="val 4615"/>
            </a:avLst>
          </a:prstGeom>
          <a:solidFill xmlns:a="http://schemas.openxmlformats.org/drawingml/2006/main">
            <a:srgbClr val="F2F4F7"/>
          </a:solidFill>
          <a:ln xmlns:a="http://schemas.openxmlformats.org/drawingml/2006/main" w="0">
            <a:solidFill>
              <a:srgbClr val="F2F4F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794368B1-6FEC-4354-8646-E97880C06729}"/>
              </a:ext>
            </a:extLst>
          </p:cNvPr>
          <p:cNvSpPr>
            <a:spLocks xmlns:a="http://schemas.openxmlformats.org/drawingml/2006/main" noGrp="1"/>
          </p:cNvSpPr>
          <p:nvPr/>
        </p:nvSpPr>
        <p:spPr>
          <a:xfrm xmlns:a="http://schemas.openxmlformats.org/drawingml/2006/main">
            <a:off x="685800" y="3333750"/>
            <a:ext cx="29908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125" b="1" i="0">
                <a:solidFill>
                  <a:srgbClr val="1E62D0"/>
                </a:solidFill>
              </a:defRPr>
            </a:pPr>
            <a:r>
              <a:rPr sz="4125" b="1" i="0">
                <a:solidFill>
                  <a:srgbClr val="1E62D0"/>
                </a:solidFill>
              </a:rPr>
              <a:t>13</a:t>
            </a:r>
          </a:p>
        </p:txBody>
      </p:sp>
      <p:sp>
        <p:nvSpPr>
          <p:cNvPr id="8" name="Rectangle 7">
            <a:extLst xmlns:a="http://schemas.openxmlformats.org/drawingml/2006/main">
              <a:ext uri="{FF2B5EF4-FFF2-40B4-BE49-F238E27FC236}">
                <a16:creationId xmlns:a16="http://schemas.microsoft.com/office/drawing/2014/main" id="{EAF1B148-FFE2-427D-8976-FA62BACBF11B}"/>
              </a:ext>
            </a:extLst>
          </p:cNvPr>
          <p:cNvSpPr>
            <a:spLocks xmlns:a="http://schemas.openxmlformats.org/drawingml/2006/main" noGrp="1"/>
          </p:cNvSpPr>
          <p:nvPr/>
        </p:nvSpPr>
        <p:spPr>
          <a:xfrm xmlns:a="http://schemas.openxmlformats.org/drawingml/2006/main">
            <a:off x="685800" y="4257675"/>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i="0">
                <a:solidFill>
                  <a:srgbClr val="111827"/>
                </a:solidFill>
              </a:defRPr>
            </a:pPr>
            <a:r>
              <a:rPr sz="1800" b="1" i="0">
                <a:solidFill>
                  <a:srgbClr val="111827"/>
                </a:solidFill>
              </a:rPr>
              <a:t>healthy Docker containers</a:t>
            </a:r>
          </a:p>
        </p:txBody>
      </p:sp>
      <p:sp>
        <p:nvSpPr>
          <p:cNvPr id="9" name="Rectangle 8">
            <a:extLst xmlns:a="http://schemas.openxmlformats.org/drawingml/2006/main">
              <a:ext uri="{FF2B5EF4-FFF2-40B4-BE49-F238E27FC236}">
                <a16:creationId xmlns:a16="http://schemas.microsoft.com/office/drawing/2014/main" id="{034DB9BB-1ADB-4AFD-A47C-2D98F0FE8DC7}"/>
              </a:ext>
            </a:extLst>
          </p:cNvPr>
          <p:cNvSpPr>
            <a:spLocks xmlns:a="http://schemas.openxmlformats.org/drawingml/2006/main" noGrp="1"/>
          </p:cNvSpPr>
          <p:nvPr/>
        </p:nvSpPr>
        <p:spPr>
          <a:xfrm xmlns:a="http://schemas.openxmlformats.org/drawingml/2006/main">
            <a:off x="685800" y="47053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556070"/>
                </a:solidFill>
              </a:defRPr>
            </a:pPr>
            <a:r>
              <a:rPr sz="1425" b="0" i="0">
                <a:solidFill>
                  <a:srgbClr val="556070"/>
                </a:solidFill>
              </a:rPr>
              <a:t>10 core network containers + 3 virtual-radio containers</a:t>
            </a:r>
          </a:p>
        </p:txBody>
      </p:sp>
      <p:sp>
        <p:nvSpPr>
          <p:cNvPr id="10" name="Rectangle: Rounded Corners 9">
            <a:extLst xmlns:a="http://schemas.openxmlformats.org/drawingml/2006/main">
              <a:ext uri="{FF2B5EF4-FFF2-40B4-BE49-F238E27FC236}">
                <a16:creationId xmlns:a16="http://schemas.microsoft.com/office/drawing/2014/main" id="{95D2F159-90A3-43B4-94DF-E4E13CF06DD8}"/>
              </a:ext>
            </a:extLst>
          </p:cNvPr>
          <p:cNvSpPr>
            <a:spLocks xmlns:a="http://schemas.openxmlformats.org/drawingml/2006/main" noGrp="1"/>
          </p:cNvSpPr>
          <p:nvPr/>
        </p:nvSpPr>
        <p:spPr>
          <a:xfrm xmlns:a="http://schemas.openxmlformats.org/drawingml/2006/main">
            <a:off x="4314825" y="3028950"/>
            <a:ext cx="3562350" cy="2476500"/>
          </a:xfrm>
          <a:prstGeom xmlns:a="http://schemas.openxmlformats.org/drawingml/2006/main" prst="roundRect">
            <a:avLst>
              <a:gd name="adj" fmla="val 4615"/>
            </a:avLst>
          </a:prstGeom>
          <a:solidFill xmlns:a="http://schemas.openxmlformats.org/drawingml/2006/main">
            <a:srgbClr val="F2F4F7"/>
          </a:solidFill>
          <a:ln xmlns:a="http://schemas.openxmlformats.org/drawingml/2006/main" w="0">
            <a:solidFill>
              <a:srgbClr val="F2F4F7"/>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E10F1BDB-673B-4711-A6EC-7469A4302E01}"/>
              </a:ext>
            </a:extLst>
          </p:cNvPr>
          <p:cNvSpPr>
            <a:spLocks xmlns:a="http://schemas.openxmlformats.org/drawingml/2006/main" noGrp="1"/>
          </p:cNvSpPr>
          <p:nvPr/>
        </p:nvSpPr>
        <p:spPr>
          <a:xfrm xmlns:a="http://schemas.openxmlformats.org/drawingml/2006/main">
            <a:off x="4600575" y="3333750"/>
            <a:ext cx="29908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125" b="1" i="0">
                <a:solidFill>
                  <a:srgbClr val="1E62D0"/>
                </a:solidFill>
              </a:defRPr>
            </a:pPr>
            <a:r>
              <a:rPr sz="4125" b="1" i="0">
                <a:solidFill>
                  <a:srgbClr val="1E62D0"/>
                </a:solidFill>
              </a:rPr>
              <a:t>2</a:t>
            </a:r>
          </a:p>
        </p:txBody>
      </p:sp>
      <p:sp>
        <p:nvSpPr>
          <p:cNvPr id="12" name="Rectangle 11">
            <a:extLst xmlns:a="http://schemas.openxmlformats.org/drawingml/2006/main">
              <a:ext uri="{FF2B5EF4-FFF2-40B4-BE49-F238E27FC236}">
                <a16:creationId xmlns:a16="http://schemas.microsoft.com/office/drawing/2014/main" id="{38119460-6E68-4D77-9C69-881C10E9C251}"/>
              </a:ext>
            </a:extLst>
          </p:cNvPr>
          <p:cNvSpPr>
            <a:spLocks xmlns:a="http://schemas.openxmlformats.org/drawingml/2006/main" noGrp="1"/>
          </p:cNvSpPr>
          <p:nvPr/>
        </p:nvSpPr>
        <p:spPr>
          <a:xfrm xmlns:a="http://schemas.openxmlformats.org/drawingml/2006/main">
            <a:off x="4600575" y="4257675"/>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i="0">
                <a:solidFill>
                  <a:srgbClr val="111827"/>
                </a:solidFill>
              </a:defRPr>
            </a:pPr>
            <a:r>
              <a:rPr sz="1800" b="1" i="0">
                <a:solidFill>
                  <a:srgbClr val="111827"/>
                </a:solidFill>
              </a:rPr>
              <a:t>traffic scenarios completed</a:t>
            </a:r>
          </a:p>
        </p:txBody>
      </p:sp>
      <p:sp>
        <p:nvSpPr>
          <p:cNvPr id="13" name="Rectangle 12">
            <a:extLst xmlns:a="http://schemas.openxmlformats.org/drawingml/2006/main">
              <a:ext uri="{FF2B5EF4-FFF2-40B4-BE49-F238E27FC236}">
                <a16:creationId xmlns:a16="http://schemas.microsoft.com/office/drawing/2014/main" id="{48199DA3-8AE1-4F9E-8672-EA69D5D81413}"/>
              </a:ext>
            </a:extLst>
          </p:cNvPr>
          <p:cNvSpPr>
            <a:spLocks xmlns:a="http://schemas.openxmlformats.org/drawingml/2006/main" noGrp="1"/>
          </p:cNvSpPr>
          <p:nvPr/>
        </p:nvSpPr>
        <p:spPr>
          <a:xfrm xmlns:a="http://schemas.openxmlformats.org/drawingml/2006/main">
            <a:off x="4600575" y="47053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556070"/>
                </a:solidFill>
              </a:defRPr>
            </a:pPr>
            <a:r>
              <a:rPr sz="1425" b="0" i="0">
                <a:solidFill>
                  <a:srgbClr val="556070"/>
                </a:solidFill>
              </a:rPr>
              <a:t>Two controlled tests produced usable activity records</a:t>
            </a:r>
          </a:p>
        </p:txBody>
      </p:sp>
      <p:sp>
        <p:nvSpPr>
          <p:cNvPr id="14" name="Rectangle: Rounded Corners 13">
            <a:extLst xmlns:a="http://schemas.openxmlformats.org/drawingml/2006/main">
              <a:ext uri="{FF2B5EF4-FFF2-40B4-BE49-F238E27FC236}">
                <a16:creationId xmlns:a16="http://schemas.microsoft.com/office/drawing/2014/main" id="{01498B58-D6C6-41F2-BB9D-92B7BD427385}"/>
              </a:ext>
            </a:extLst>
          </p:cNvPr>
          <p:cNvSpPr>
            <a:spLocks xmlns:a="http://schemas.openxmlformats.org/drawingml/2006/main" noGrp="1"/>
          </p:cNvSpPr>
          <p:nvPr/>
        </p:nvSpPr>
        <p:spPr>
          <a:xfrm xmlns:a="http://schemas.openxmlformats.org/drawingml/2006/main">
            <a:off x="8239125" y="3028950"/>
            <a:ext cx="3562350" cy="2476500"/>
          </a:xfrm>
          <a:prstGeom xmlns:a="http://schemas.openxmlformats.org/drawingml/2006/main" prst="roundRect">
            <a:avLst>
              <a:gd name="adj" fmla="val 4615"/>
            </a:avLst>
          </a:prstGeom>
          <a:solidFill xmlns:a="http://schemas.openxmlformats.org/drawingml/2006/main">
            <a:srgbClr val="F2F4F7"/>
          </a:solidFill>
          <a:ln xmlns:a="http://schemas.openxmlformats.org/drawingml/2006/main" w="0">
            <a:solidFill>
              <a:srgbClr val="F2F4F7"/>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4A0098F9-8167-4529-A006-E0B9FC3492FF}"/>
              </a:ext>
            </a:extLst>
          </p:cNvPr>
          <p:cNvSpPr>
            <a:spLocks xmlns:a="http://schemas.openxmlformats.org/drawingml/2006/main" noGrp="1"/>
          </p:cNvSpPr>
          <p:nvPr/>
        </p:nvSpPr>
        <p:spPr>
          <a:xfrm xmlns:a="http://schemas.openxmlformats.org/drawingml/2006/main">
            <a:off x="8524875" y="3333750"/>
            <a:ext cx="29908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125" b="1" i="0">
                <a:solidFill>
                  <a:srgbClr val="1E62D0"/>
                </a:solidFill>
              </a:defRPr>
            </a:pPr>
            <a:r>
              <a:rPr sz="4125" b="1" i="0">
                <a:solidFill>
                  <a:srgbClr val="1E62D0"/>
                </a:solidFill>
              </a:rPr>
              <a:t>27</a:t>
            </a:r>
          </a:p>
        </p:txBody>
      </p:sp>
      <p:sp>
        <p:nvSpPr>
          <p:cNvPr id="16" name="Rectangle 15">
            <a:extLst xmlns:a="http://schemas.openxmlformats.org/drawingml/2006/main">
              <a:ext uri="{FF2B5EF4-FFF2-40B4-BE49-F238E27FC236}">
                <a16:creationId xmlns:a16="http://schemas.microsoft.com/office/drawing/2014/main" id="{BB9E1175-CF47-45C3-B187-A7CCBF4852F9}"/>
              </a:ext>
            </a:extLst>
          </p:cNvPr>
          <p:cNvSpPr>
            <a:spLocks xmlns:a="http://schemas.openxmlformats.org/drawingml/2006/main" noGrp="1"/>
          </p:cNvSpPr>
          <p:nvPr/>
        </p:nvSpPr>
        <p:spPr>
          <a:xfrm xmlns:a="http://schemas.openxmlformats.org/drawingml/2006/main">
            <a:off x="8524875" y="4257675"/>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i="0">
                <a:solidFill>
                  <a:srgbClr val="111827"/>
                </a:solidFill>
              </a:defRPr>
            </a:pPr>
            <a:r>
              <a:rPr sz="1800" b="1" i="0">
                <a:solidFill>
                  <a:srgbClr val="111827"/>
                </a:solidFill>
              </a:rPr>
              <a:t>queryable evidence records</a:t>
            </a:r>
          </a:p>
        </p:txBody>
      </p:sp>
      <p:sp>
        <p:nvSpPr>
          <p:cNvPr id="17" name="Rectangle 16">
            <a:extLst xmlns:a="http://schemas.openxmlformats.org/drawingml/2006/main">
              <a:ext uri="{FF2B5EF4-FFF2-40B4-BE49-F238E27FC236}">
                <a16:creationId xmlns:a16="http://schemas.microsoft.com/office/drawing/2014/main" id="{E5E1FF9F-0ED6-414F-9AA3-716D3AFB53FC}"/>
              </a:ext>
            </a:extLst>
          </p:cNvPr>
          <p:cNvSpPr>
            <a:spLocks xmlns:a="http://schemas.openxmlformats.org/drawingml/2006/main" noGrp="1"/>
          </p:cNvSpPr>
          <p:nvPr/>
        </p:nvSpPr>
        <p:spPr>
          <a:xfrm xmlns:a="http://schemas.openxmlformats.org/drawingml/2006/main">
            <a:off x="8524875" y="47053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556070"/>
                </a:solidFill>
              </a:defRPr>
            </a:pPr>
            <a:r>
              <a:rPr sz="1425" b="0" i="0">
                <a:solidFill>
                  <a:srgbClr val="556070"/>
                </a:solidFill>
              </a:rPr>
              <a:t>Created from 17 approved inputs; source files unchanged</a:t>
            </a:r>
          </a:p>
        </p:txBody>
      </p:sp>
      <p:sp>
        <p:nvSpPr>
          <p:cNvPr id="18" name="Rectangle 17">
            <a:extLst xmlns:a="http://schemas.openxmlformats.org/drawingml/2006/main">
              <a:ext uri="{FF2B5EF4-FFF2-40B4-BE49-F238E27FC236}">
                <a16:creationId xmlns:a16="http://schemas.microsoft.com/office/drawing/2014/main" id="{FFAD0E28-F7CE-43F6-AC0B-16E8BE280208}"/>
              </a:ext>
            </a:extLst>
          </p:cNvPr>
          <p:cNvSpPr>
            <a:spLocks xmlns:a="http://schemas.openxmlformats.org/drawingml/2006/main" noGrp="1"/>
          </p:cNvSpPr>
          <p:nvPr/>
        </p:nvSpPr>
        <p:spPr>
          <a:xfrm xmlns:a="http://schemas.openxmlformats.org/drawingml/2006/main">
            <a:off x="400050" y="5857875"/>
            <a:ext cx="828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i="0">
                <a:solidFill>
                  <a:srgbClr val="111827"/>
                </a:solidFill>
              </a:defRPr>
            </a:pPr>
            <a:r>
              <a:rPr sz="2100" b="1" i="0">
                <a:solidFill>
                  <a:srgbClr val="111827"/>
                </a:solidFill>
              </a:rPr>
              <a:t>Test lab  →  traffic  →  organised evidence</a:t>
            </a:r>
          </a:p>
        </p:txBody>
      </p:sp>
    </p:spTree>
    <p:extLst>
      <p:ext uri="{BB962C8B-B14F-4D97-AF65-F5344CB8AC3E}">
        <p14:creationId xmlns:p14="http://schemas.microsoft.com/office/powerpoint/2010/main" val="12803482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093AC282-58D5-40B7-8E7D-710A25B67C6B}"/>
              </a:ext>
            </a:extLst>
          </p:cNvPr>
          <p:cNvSpPr>
            <a:spLocks xmlns:a="http://schemas.openxmlformats.org/drawingml/2006/main" noGrp="1"/>
          </p:cNvSpPr>
          <p:nvPr/>
        </p:nvSpPr>
        <p:spPr>
          <a:xfrm xmlns:a="http://schemas.openxmlformats.org/drawingml/2006/main">
            <a:off x="400050" y="3238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E62D0"/>
                </a:solidFill>
              </a:defRPr>
            </a:pPr>
            <a:r>
              <a:rPr sz="1125" b="1" i="0">
                <a:solidFill>
                  <a:srgbClr val="1E62D0"/>
                </a:solidFill>
              </a:rPr>
              <a:t>PHASE 4 ACCEPTANCE</a:t>
            </a:r>
          </a:p>
        </p:txBody>
      </p:sp>
      <p:sp>
        <p:nvSpPr>
          <p:cNvPr id="2" name="Rectangle 1">
            <a:extLst xmlns:a="http://schemas.openxmlformats.org/drawingml/2006/main">
              <a:ext uri="{FF2B5EF4-FFF2-40B4-BE49-F238E27FC236}">
                <a16:creationId xmlns:a16="http://schemas.microsoft.com/office/drawing/2014/main" id="{2FC15BA6-BC82-4981-99C4-CE80F366B9DE}"/>
              </a:ext>
            </a:extLst>
          </p:cNvPr>
          <p:cNvSpPr>
            <a:spLocks xmlns:a="http://schemas.openxmlformats.org/drawingml/2006/main" noGrp="1"/>
          </p:cNvSpPr>
          <p:nvPr/>
        </p:nvSpPr>
        <p:spPr>
          <a:xfrm xmlns:a="http://schemas.openxmlformats.org/drawingml/2006/main">
            <a:off x="400050" y="62865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925" b="1" i="0">
                <a:solidFill>
                  <a:srgbClr val="111827"/>
                </a:solidFill>
              </a:defRPr>
            </a:pPr>
            <a:r>
              <a:rPr sz="2925" b="1" i="0">
                <a:solidFill>
                  <a:srgbClr val="111827"/>
                </a:solidFill>
              </a:rPr>
              <a:t>Every evidence record now has a traceable decision</a:t>
            </a:r>
          </a:p>
        </p:txBody>
      </p:sp>
      <p:sp>
        <p:nvSpPr>
          <p:cNvPr id="3" name="Rectangle 2">
            <a:extLst xmlns:a="http://schemas.openxmlformats.org/drawingml/2006/main">
              <a:ext uri="{FF2B5EF4-FFF2-40B4-BE49-F238E27FC236}">
                <a16:creationId xmlns:a16="http://schemas.microsoft.com/office/drawing/2014/main" id="{AE21976C-8499-45AA-98A4-1EE1CB3569F0}"/>
              </a:ext>
            </a:extLst>
          </p:cNvPr>
          <p:cNvSpPr>
            <a:spLocks xmlns:a="http://schemas.openxmlformats.org/drawingml/2006/main" noGrp="1"/>
          </p:cNvSpPr>
          <p:nvPr/>
        </p:nvSpPr>
        <p:spPr>
          <a:xfrm xmlns:a="http://schemas.openxmlformats.org/drawingml/2006/main">
            <a:off x="400050" y="1276350"/>
            <a:ext cx="11391900" cy="9525"/>
          </a:xfrm>
          <a:prstGeom xmlns:a="http://schemas.openxmlformats.org/drawingml/2006/main" prst="rect">
            <a:avLst/>
          </a:prstGeom>
          <a:solidFill xmlns:a="http://schemas.openxmlformats.org/drawingml/2006/main">
            <a:srgbClr val="C8CED6"/>
          </a:solidFill>
          <a:ln xmlns:a="http://schemas.openxmlformats.org/drawingml/2006/main" w="0">
            <a:solidFill>
              <a:srgbClr val="C8CED6"/>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EBE2EAAD-04A1-4C85-B928-3FDC4F59785E}"/>
              </a:ext>
            </a:extLst>
          </p:cNvPr>
          <p:cNvSpPr>
            <a:spLocks xmlns:a="http://schemas.openxmlformats.org/drawingml/2006/main" noGrp="1"/>
          </p:cNvSpPr>
          <p:nvPr/>
        </p:nvSpPr>
        <p:spPr>
          <a:xfrm xmlns:a="http://schemas.openxmlformats.org/drawingml/2006/main">
            <a:off x="9715500" y="6286500"/>
            <a:ext cx="2076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556070"/>
                </a:solidFill>
              </a:defRPr>
            </a:pPr>
            <a:r>
              <a:rPr sz="975" b="0" i="0">
                <a:solidFill>
                  <a:srgbClr val="556070"/>
                </a:solidFill>
              </a:rPr>
              <a:t>16 AUGUST 2026  |  08</a:t>
            </a:r>
          </a:p>
        </p:txBody>
      </p:sp>
      <p:sp>
        <p:nvSpPr>
          <p:cNvPr id="5" name="Rectangle 4">
            <a:extLst xmlns:a="http://schemas.openxmlformats.org/drawingml/2006/main">
              <a:ext uri="{FF2B5EF4-FFF2-40B4-BE49-F238E27FC236}">
                <a16:creationId xmlns:a16="http://schemas.microsoft.com/office/drawing/2014/main" id="{062A7E23-5AF0-44AC-A21E-B9CC4008E3B8}"/>
              </a:ext>
            </a:extLst>
          </p:cNvPr>
          <p:cNvSpPr>
            <a:spLocks xmlns:a="http://schemas.openxmlformats.org/drawingml/2006/main" noGrp="1"/>
          </p:cNvSpPr>
          <p:nvPr/>
        </p:nvSpPr>
        <p:spPr>
          <a:xfrm xmlns:a="http://schemas.openxmlformats.org/drawingml/2006/main">
            <a:off x="400050" y="154305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i="0">
                <a:solidFill>
                  <a:srgbClr val="556070"/>
                </a:solidFill>
              </a:defRPr>
            </a:pPr>
            <a:r>
              <a:rPr sz="1800" b="0" i="0">
                <a:solidFill>
                  <a:srgbClr val="556070"/>
                </a:solidFill>
              </a:rPr>
              <a:t>Rules assign a slice only where the context supports it. Shared and missing context is not guessed.</a:t>
            </a:r>
          </a:p>
        </p:txBody>
      </p:sp>
      <p:sp>
        <p:nvSpPr>
          <p:cNvPr id="6" name="Rectangle: Rounded Corners 5">
            <a:extLst xmlns:a="http://schemas.openxmlformats.org/drawingml/2006/main">
              <a:ext uri="{FF2B5EF4-FFF2-40B4-BE49-F238E27FC236}">
                <a16:creationId xmlns:a16="http://schemas.microsoft.com/office/drawing/2014/main" id="{3E169C23-5DD8-4164-AFE6-7FC645EA7C75}"/>
              </a:ext>
            </a:extLst>
          </p:cNvPr>
          <p:cNvSpPr>
            <a:spLocks xmlns:a="http://schemas.openxmlformats.org/drawingml/2006/main" noGrp="1"/>
          </p:cNvSpPr>
          <p:nvPr/>
        </p:nvSpPr>
        <p:spPr>
          <a:xfrm xmlns:a="http://schemas.openxmlformats.org/drawingml/2006/main">
            <a:off x="400050" y="3028950"/>
            <a:ext cx="3562350" cy="2476500"/>
          </a:xfrm>
          <a:prstGeom xmlns:a="http://schemas.openxmlformats.org/drawingml/2006/main" prst="roundRect">
            <a:avLst>
              <a:gd name="adj" fmla="val 4615"/>
            </a:avLst>
          </a:prstGeom>
          <a:solidFill xmlns:a="http://schemas.openxmlformats.org/drawingml/2006/main">
            <a:srgbClr val="F2F4F7"/>
          </a:solidFill>
          <a:ln xmlns:a="http://schemas.openxmlformats.org/drawingml/2006/main" w="0">
            <a:solidFill>
              <a:srgbClr val="F2F4F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794368B1-6FEC-4354-8646-E97880C06729}"/>
              </a:ext>
            </a:extLst>
          </p:cNvPr>
          <p:cNvSpPr>
            <a:spLocks xmlns:a="http://schemas.openxmlformats.org/drawingml/2006/main" noGrp="1"/>
          </p:cNvSpPr>
          <p:nvPr/>
        </p:nvSpPr>
        <p:spPr>
          <a:xfrm xmlns:a="http://schemas.openxmlformats.org/drawingml/2006/main">
            <a:off x="685800" y="3333750"/>
            <a:ext cx="29908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125" b="1" i="0">
                <a:solidFill>
                  <a:srgbClr val="1E62D0"/>
                </a:solidFill>
              </a:defRPr>
            </a:pPr>
            <a:r>
              <a:rPr sz="4125" b="1" i="0">
                <a:solidFill>
                  <a:srgbClr val="1E62D0"/>
                </a:solidFill>
              </a:rPr>
              <a:t>27</a:t>
            </a:r>
          </a:p>
        </p:txBody>
      </p:sp>
      <p:sp>
        <p:nvSpPr>
          <p:cNvPr id="8" name="Rectangle 7">
            <a:extLst xmlns:a="http://schemas.openxmlformats.org/drawingml/2006/main">
              <a:ext uri="{FF2B5EF4-FFF2-40B4-BE49-F238E27FC236}">
                <a16:creationId xmlns:a16="http://schemas.microsoft.com/office/drawing/2014/main" id="{EAF1B148-FFE2-427D-8976-FA62BACBF11B}"/>
              </a:ext>
            </a:extLst>
          </p:cNvPr>
          <p:cNvSpPr>
            <a:spLocks xmlns:a="http://schemas.openxmlformats.org/drawingml/2006/main" noGrp="1"/>
          </p:cNvSpPr>
          <p:nvPr/>
        </p:nvSpPr>
        <p:spPr>
          <a:xfrm xmlns:a="http://schemas.openxmlformats.org/drawingml/2006/main">
            <a:off x="685800" y="4257675"/>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i="0">
                <a:solidFill>
                  <a:srgbClr val="111827"/>
                </a:solidFill>
              </a:defRPr>
            </a:pPr>
            <a:r>
              <a:rPr sz="1800" b="1" i="0">
                <a:solidFill>
                  <a:srgbClr val="111827"/>
                </a:solidFill>
              </a:rPr>
              <a:t>record decisions</a:t>
            </a:r>
          </a:p>
        </p:txBody>
      </p:sp>
      <p:sp>
        <p:nvSpPr>
          <p:cNvPr id="9" name="Rectangle 8">
            <a:extLst xmlns:a="http://schemas.openxmlformats.org/drawingml/2006/main">
              <a:ext uri="{FF2B5EF4-FFF2-40B4-BE49-F238E27FC236}">
                <a16:creationId xmlns:a16="http://schemas.microsoft.com/office/drawing/2014/main" id="{034DB9BB-1ADB-4AFD-A47C-2D98F0FE8DC7}"/>
              </a:ext>
            </a:extLst>
          </p:cNvPr>
          <p:cNvSpPr>
            <a:spLocks xmlns:a="http://schemas.openxmlformats.org/drawingml/2006/main" noGrp="1"/>
          </p:cNvSpPr>
          <p:nvPr/>
        </p:nvSpPr>
        <p:spPr>
          <a:xfrm xmlns:a="http://schemas.openxmlformats.org/drawingml/2006/main">
            <a:off x="685800" y="47053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556070"/>
                </a:solidFill>
              </a:defRPr>
            </a:pPr>
            <a:r>
              <a:rPr sz="1425" b="0" i="0">
                <a:solidFill>
                  <a:srgbClr val="556070"/>
                </a:solidFill>
              </a:rPr>
              <a:t>A decision is stored for every Phase 3 record.</a:t>
            </a:r>
          </a:p>
        </p:txBody>
      </p:sp>
      <p:sp>
        <p:nvSpPr>
          <p:cNvPr id="10" name="Rectangle: Rounded Corners 9">
            <a:extLst xmlns:a="http://schemas.openxmlformats.org/drawingml/2006/main">
              <a:ext uri="{FF2B5EF4-FFF2-40B4-BE49-F238E27FC236}">
                <a16:creationId xmlns:a16="http://schemas.microsoft.com/office/drawing/2014/main" id="{95D2F159-90A3-43B4-94DF-E4E13CF06DD8}"/>
              </a:ext>
            </a:extLst>
          </p:cNvPr>
          <p:cNvSpPr>
            <a:spLocks xmlns:a="http://schemas.openxmlformats.org/drawingml/2006/main" noGrp="1"/>
          </p:cNvSpPr>
          <p:nvPr/>
        </p:nvSpPr>
        <p:spPr>
          <a:xfrm xmlns:a="http://schemas.openxmlformats.org/drawingml/2006/main">
            <a:off x="4314825" y="3028950"/>
            <a:ext cx="3562350" cy="2476500"/>
          </a:xfrm>
          <a:prstGeom xmlns:a="http://schemas.openxmlformats.org/drawingml/2006/main" prst="roundRect">
            <a:avLst>
              <a:gd name="adj" fmla="val 4615"/>
            </a:avLst>
          </a:prstGeom>
          <a:solidFill xmlns:a="http://schemas.openxmlformats.org/drawingml/2006/main">
            <a:srgbClr val="F2F4F7"/>
          </a:solidFill>
          <a:ln xmlns:a="http://schemas.openxmlformats.org/drawingml/2006/main" w="0">
            <a:solidFill>
              <a:srgbClr val="F2F4F7"/>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E10F1BDB-673B-4711-A6EC-7469A4302E01}"/>
              </a:ext>
            </a:extLst>
          </p:cNvPr>
          <p:cNvSpPr>
            <a:spLocks xmlns:a="http://schemas.openxmlformats.org/drawingml/2006/main" noGrp="1"/>
          </p:cNvSpPr>
          <p:nvPr/>
        </p:nvSpPr>
        <p:spPr>
          <a:xfrm xmlns:a="http://schemas.openxmlformats.org/drawingml/2006/main">
            <a:off x="4600575" y="3333750"/>
            <a:ext cx="29908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125" b="1" i="0">
                <a:solidFill>
                  <a:srgbClr val="1E62D0"/>
                </a:solidFill>
              </a:defRPr>
            </a:pPr>
            <a:r>
              <a:rPr sz="4125" b="1" i="0">
                <a:solidFill>
                  <a:srgbClr val="1E62D0"/>
                </a:solidFill>
              </a:rPr>
              <a:t>8/8</a:t>
            </a:r>
          </a:p>
        </p:txBody>
      </p:sp>
      <p:sp>
        <p:nvSpPr>
          <p:cNvPr id="12" name="Rectangle 11">
            <a:extLst xmlns:a="http://schemas.openxmlformats.org/drawingml/2006/main">
              <a:ext uri="{FF2B5EF4-FFF2-40B4-BE49-F238E27FC236}">
                <a16:creationId xmlns:a16="http://schemas.microsoft.com/office/drawing/2014/main" id="{38119460-6E68-4D77-9C69-881C10E9C251}"/>
              </a:ext>
            </a:extLst>
          </p:cNvPr>
          <p:cNvSpPr>
            <a:spLocks xmlns:a="http://schemas.openxmlformats.org/drawingml/2006/main" noGrp="1"/>
          </p:cNvSpPr>
          <p:nvPr/>
        </p:nvSpPr>
        <p:spPr>
          <a:xfrm xmlns:a="http://schemas.openxmlformats.org/drawingml/2006/main">
            <a:off x="4600575" y="4257675"/>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i="0">
                <a:solidFill>
                  <a:srgbClr val="111827"/>
                </a:solidFill>
              </a:defRPr>
            </a:pPr>
            <a:r>
              <a:rPr sz="1800" b="1" i="0">
                <a:solidFill>
                  <a:srgbClr val="111827"/>
                </a:solidFill>
              </a:rPr>
              <a:t>labelled records correct</a:t>
            </a:r>
          </a:p>
        </p:txBody>
      </p:sp>
      <p:sp>
        <p:nvSpPr>
          <p:cNvPr id="13" name="Rectangle 12">
            <a:extLst xmlns:a="http://schemas.openxmlformats.org/drawingml/2006/main">
              <a:ext uri="{FF2B5EF4-FFF2-40B4-BE49-F238E27FC236}">
                <a16:creationId xmlns:a16="http://schemas.microsoft.com/office/drawing/2014/main" id="{48199DA3-8AE1-4F9E-8672-EA69D5D81413}"/>
              </a:ext>
            </a:extLst>
          </p:cNvPr>
          <p:cNvSpPr>
            <a:spLocks xmlns:a="http://schemas.openxmlformats.org/drawingml/2006/main" noGrp="1"/>
          </p:cNvSpPr>
          <p:nvPr/>
        </p:nvSpPr>
        <p:spPr>
          <a:xfrm xmlns:a="http://schemas.openxmlformats.org/drawingml/2006/main">
            <a:off x="4600575" y="47053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556070"/>
                </a:solidFill>
              </a:defRPr>
            </a:pPr>
            <a:r>
              <a:rPr sz="1425" b="0" i="0">
                <a:solidFill>
                  <a:srgbClr val="556070"/>
                </a:solidFill>
              </a:rPr>
              <a:t>All known eMBB and mMTC test records matched.</a:t>
            </a:r>
          </a:p>
        </p:txBody>
      </p:sp>
      <p:sp>
        <p:nvSpPr>
          <p:cNvPr id="14" name="Rectangle: Rounded Corners 13">
            <a:extLst xmlns:a="http://schemas.openxmlformats.org/drawingml/2006/main">
              <a:ext uri="{FF2B5EF4-FFF2-40B4-BE49-F238E27FC236}">
                <a16:creationId xmlns:a16="http://schemas.microsoft.com/office/drawing/2014/main" id="{01498B58-D6C6-41F2-BB9D-92B7BD427385}"/>
              </a:ext>
            </a:extLst>
          </p:cNvPr>
          <p:cNvSpPr>
            <a:spLocks xmlns:a="http://schemas.openxmlformats.org/drawingml/2006/main" noGrp="1"/>
          </p:cNvSpPr>
          <p:nvPr/>
        </p:nvSpPr>
        <p:spPr>
          <a:xfrm xmlns:a="http://schemas.openxmlformats.org/drawingml/2006/main">
            <a:off x="8239125" y="3028950"/>
            <a:ext cx="3562350" cy="2476500"/>
          </a:xfrm>
          <a:prstGeom xmlns:a="http://schemas.openxmlformats.org/drawingml/2006/main" prst="roundRect">
            <a:avLst>
              <a:gd name="adj" fmla="val 4615"/>
            </a:avLst>
          </a:prstGeom>
          <a:solidFill xmlns:a="http://schemas.openxmlformats.org/drawingml/2006/main">
            <a:srgbClr val="F2F4F7"/>
          </a:solidFill>
          <a:ln xmlns:a="http://schemas.openxmlformats.org/drawingml/2006/main" w="0">
            <a:solidFill>
              <a:srgbClr val="F2F4F7"/>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4A0098F9-8167-4529-A006-E0B9FC3492FF}"/>
              </a:ext>
            </a:extLst>
          </p:cNvPr>
          <p:cNvSpPr>
            <a:spLocks xmlns:a="http://schemas.openxmlformats.org/drawingml/2006/main" noGrp="1"/>
          </p:cNvSpPr>
          <p:nvPr/>
        </p:nvSpPr>
        <p:spPr>
          <a:xfrm xmlns:a="http://schemas.openxmlformats.org/drawingml/2006/main">
            <a:off x="8524875" y="3333750"/>
            <a:ext cx="29908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125" b="1" i="0">
                <a:solidFill>
                  <a:srgbClr val="1E62D0"/>
                </a:solidFill>
              </a:defRPr>
            </a:pPr>
            <a:r>
              <a:rPr sz="4125" b="1" i="0">
                <a:solidFill>
                  <a:srgbClr val="1E62D0"/>
                </a:solidFill>
              </a:rPr>
              <a:t>7 + 12</a:t>
            </a:r>
          </a:p>
        </p:txBody>
      </p:sp>
      <p:sp>
        <p:nvSpPr>
          <p:cNvPr id="16" name="Rectangle 15">
            <a:extLst xmlns:a="http://schemas.openxmlformats.org/drawingml/2006/main">
              <a:ext uri="{FF2B5EF4-FFF2-40B4-BE49-F238E27FC236}">
                <a16:creationId xmlns:a16="http://schemas.microsoft.com/office/drawing/2014/main" id="{BB9E1175-CF47-45C3-B187-A7CCBF4852F9}"/>
              </a:ext>
            </a:extLst>
          </p:cNvPr>
          <p:cNvSpPr>
            <a:spLocks xmlns:a="http://schemas.openxmlformats.org/drawingml/2006/main" noGrp="1"/>
          </p:cNvSpPr>
          <p:nvPr/>
        </p:nvSpPr>
        <p:spPr>
          <a:xfrm xmlns:a="http://schemas.openxmlformats.org/drawingml/2006/main">
            <a:off x="8524875" y="4257675"/>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i="0">
                <a:solidFill>
                  <a:srgbClr val="111827"/>
                </a:solidFill>
              </a:defRPr>
            </a:pPr>
            <a:r>
              <a:rPr sz="1800" b="1" i="0">
                <a:solidFill>
                  <a:srgbClr val="111827"/>
                </a:solidFill>
              </a:rPr>
              <a:t>held safely</a:t>
            </a:r>
          </a:p>
        </p:txBody>
      </p:sp>
      <p:sp>
        <p:nvSpPr>
          <p:cNvPr id="17" name="Rectangle 16">
            <a:extLst xmlns:a="http://schemas.openxmlformats.org/drawingml/2006/main">
              <a:ext uri="{FF2B5EF4-FFF2-40B4-BE49-F238E27FC236}">
                <a16:creationId xmlns:a16="http://schemas.microsoft.com/office/drawing/2014/main" id="{E5E1FF9F-0ED6-414F-9AA3-716D3AFB53FC}"/>
              </a:ext>
            </a:extLst>
          </p:cNvPr>
          <p:cNvSpPr>
            <a:spLocks xmlns:a="http://schemas.openxmlformats.org/drawingml/2006/main" noGrp="1"/>
          </p:cNvSpPr>
          <p:nvPr/>
        </p:nvSpPr>
        <p:spPr>
          <a:xfrm xmlns:a="http://schemas.openxmlformats.org/drawingml/2006/main">
            <a:off x="8524875" y="47053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556070"/>
                </a:solidFill>
              </a:defRPr>
            </a:pPr>
            <a:r>
              <a:rPr sz="1425" b="0" i="0">
                <a:solidFill>
                  <a:srgbClr val="556070"/>
                </a:solidFill>
              </a:rPr>
              <a:t>7 ambiguous; 12 left unattributed.</a:t>
            </a:r>
          </a:p>
        </p:txBody>
      </p:sp>
      <p:sp>
        <p:nvSpPr>
          <p:cNvPr id="18" name="Rectangle 17">
            <a:extLst xmlns:a="http://schemas.openxmlformats.org/drawingml/2006/main">
              <a:ext uri="{FF2B5EF4-FFF2-40B4-BE49-F238E27FC236}">
                <a16:creationId xmlns:a16="http://schemas.microsoft.com/office/drawing/2014/main" id="{FFAD0E28-F7CE-43F6-AC0B-16E8BE280208}"/>
              </a:ext>
            </a:extLst>
          </p:cNvPr>
          <p:cNvSpPr>
            <a:spLocks xmlns:a="http://schemas.openxmlformats.org/drawingml/2006/main" noGrp="1"/>
          </p:cNvSpPr>
          <p:nvPr/>
        </p:nvSpPr>
        <p:spPr>
          <a:xfrm xmlns:a="http://schemas.openxmlformats.org/drawingml/2006/main">
            <a:off x="400050" y="5857875"/>
            <a:ext cx="828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i="0">
                <a:solidFill>
                  <a:srgbClr val="111827"/>
                </a:solidFill>
              </a:defRPr>
            </a:pPr>
            <a:r>
              <a:rPr sz="2100" b="1" i="0">
                <a:solidFill>
                  <a:srgbClr val="111827"/>
                </a:solidFill>
              </a:rPr>
              <a:t>Test lab  →  evidence index  →  rule + rationale</a:t>
            </a:r>
          </a:p>
        </p:txBody>
      </p:sp>
    </p:spTree>
    <p:extLst>
      <p:ext uri="{BB962C8B-B14F-4D97-AF65-F5344CB8AC3E}">
        <p14:creationId xmlns:p14="http://schemas.microsoft.com/office/powerpoint/2010/main" val="12803482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DB76CAE0-D039-4080-8FCF-3B37CEB87D71}"/>
              </a:ext>
            </a:extLst>
          </p:cNvPr>
          <p:cNvSpPr>
            <a:spLocks xmlns:a="http://schemas.openxmlformats.org/drawingml/2006/main" noGrp="1"/>
          </p:cNvSpPr>
          <p:nvPr/>
        </p:nvSpPr>
        <p:spPr>
          <a:xfrm xmlns:a="http://schemas.openxmlformats.org/drawingml/2006/main">
            <a:off x="400050" y="3238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E62D0"/>
                </a:solidFill>
              </a:defRPr>
            </a:pPr>
            <a:r>
              <a:rPr sz="1125" b="1" i="0">
                <a:solidFill>
                  <a:srgbClr val="1E62D0"/>
                </a:solidFill>
              </a:rPr>
              <a:t>TRACEABILITY AND SHARING</a:t>
            </a:r>
          </a:p>
        </p:txBody>
      </p:sp>
      <p:sp>
        <p:nvSpPr>
          <p:cNvPr id="2" name="Rectangle 1">
            <a:extLst xmlns:a="http://schemas.openxmlformats.org/drawingml/2006/main">
              <a:ext uri="{FF2B5EF4-FFF2-40B4-BE49-F238E27FC236}">
                <a16:creationId xmlns:a16="http://schemas.microsoft.com/office/drawing/2014/main" id="{6AE18982-C516-4C2A-985C-F46DA4239472}"/>
              </a:ext>
            </a:extLst>
          </p:cNvPr>
          <p:cNvSpPr>
            <a:spLocks xmlns:a="http://schemas.openxmlformats.org/drawingml/2006/main" noGrp="1"/>
          </p:cNvSpPr>
          <p:nvPr/>
        </p:nvSpPr>
        <p:spPr>
          <a:xfrm xmlns:a="http://schemas.openxmlformats.org/drawingml/2006/main">
            <a:off x="400050" y="62865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925" b="1" i="0">
                <a:solidFill>
                  <a:srgbClr val="111827"/>
                </a:solidFill>
              </a:defRPr>
            </a:pPr>
            <a:r>
              <a:rPr sz="2925" b="1" i="0">
                <a:solidFill>
                  <a:srgbClr val="111827"/>
                </a:solidFill>
              </a:rPr>
              <a:t>Phase 4 is now saved and visible in GitHub</a:t>
            </a:r>
          </a:p>
        </p:txBody>
      </p:sp>
      <p:sp>
        <p:nvSpPr>
          <p:cNvPr id="3" name="Rectangle 2">
            <a:extLst xmlns:a="http://schemas.openxmlformats.org/drawingml/2006/main">
              <a:ext uri="{FF2B5EF4-FFF2-40B4-BE49-F238E27FC236}">
                <a16:creationId xmlns:a16="http://schemas.microsoft.com/office/drawing/2014/main" id="{C4FDA7EF-14AA-44CF-9D62-9294A0DB9227}"/>
              </a:ext>
            </a:extLst>
          </p:cNvPr>
          <p:cNvSpPr>
            <a:spLocks xmlns:a="http://schemas.openxmlformats.org/drawingml/2006/main" noGrp="1"/>
          </p:cNvSpPr>
          <p:nvPr/>
        </p:nvSpPr>
        <p:spPr>
          <a:xfrm xmlns:a="http://schemas.openxmlformats.org/drawingml/2006/main">
            <a:off x="400050" y="1276350"/>
            <a:ext cx="11391900" cy="9525"/>
          </a:xfrm>
          <a:prstGeom xmlns:a="http://schemas.openxmlformats.org/drawingml/2006/main" prst="rect">
            <a:avLst/>
          </a:prstGeom>
          <a:solidFill xmlns:a="http://schemas.openxmlformats.org/drawingml/2006/main">
            <a:srgbClr val="C8CED6"/>
          </a:solidFill>
          <a:ln xmlns:a="http://schemas.openxmlformats.org/drawingml/2006/main" w="0">
            <a:solidFill>
              <a:srgbClr val="C8CED6"/>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8DE2814A-EFC0-4DCC-A719-2FEF6DC3BEF0}"/>
              </a:ext>
            </a:extLst>
          </p:cNvPr>
          <p:cNvSpPr>
            <a:spLocks xmlns:a="http://schemas.openxmlformats.org/drawingml/2006/main" noGrp="1"/>
          </p:cNvSpPr>
          <p:nvPr/>
        </p:nvSpPr>
        <p:spPr>
          <a:xfrm xmlns:a="http://schemas.openxmlformats.org/drawingml/2006/main">
            <a:off x="9715500" y="6286500"/>
            <a:ext cx="2076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556070"/>
                </a:solidFill>
              </a:defRPr>
            </a:pPr>
            <a:r>
              <a:rPr sz="975" b="0" i="0">
                <a:solidFill>
                  <a:srgbClr val="556070"/>
                </a:solidFill>
              </a:rPr>
              <a:t>16 AUGUST 2026  |  09</a:t>
            </a:r>
          </a:p>
        </p:txBody>
      </p:sp>
      <p:sp>
        <p:nvSpPr>
          <p:cNvPr id="5" name="Rectangle: Rounded Corners 4">
            <a:extLst xmlns:a="http://schemas.openxmlformats.org/drawingml/2006/main">
              <a:ext uri="{FF2B5EF4-FFF2-40B4-BE49-F238E27FC236}">
                <a16:creationId xmlns:a16="http://schemas.microsoft.com/office/drawing/2014/main" id="{B9212818-96BE-430E-8F17-E3944808C673}"/>
              </a:ext>
            </a:extLst>
          </p:cNvPr>
          <p:cNvSpPr>
            <a:spLocks xmlns:a="http://schemas.openxmlformats.org/drawingml/2006/main" noGrp="1"/>
          </p:cNvSpPr>
          <p:nvPr/>
        </p:nvSpPr>
        <p:spPr>
          <a:xfrm xmlns:a="http://schemas.openxmlformats.org/drawingml/2006/main">
            <a:off x="400050" y="1581150"/>
            <a:ext cx="7620000" cy="4248150"/>
          </a:xfrm>
          <a:prstGeom xmlns:a="http://schemas.openxmlformats.org/drawingml/2006/main" prst="roundRect">
            <a:avLst>
              <a:gd name="adj" fmla="val 2691"/>
            </a:avLst>
          </a:prstGeom>
          <a:solidFill xmlns:a="http://schemas.openxmlformats.org/drawingml/2006/main">
            <a:srgbClr val="EAF5FB"/>
          </a:solidFill>
          <a:ln xmlns:a="http://schemas.openxmlformats.org/drawingml/2006/main" w="9525">
            <a:solidFill>
              <a:srgbClr val="C8CED6"/>
            </a:solidFill>
            <a:prstDash val="solid"/>
          </a:ln>
        </p:spPr>
        <p:txBody>
          <a:bodyPr xmlns:a="http://schemas.openxmlformats.org/drawingml/2006/main"/>
          <a:lstStyle xmlns:a="http://schemas.openxmlformats.org/drawingml/2006/main"/>
          <a:p xmlns:a="http://schemas.openxmlformats.org/drawingml/2006/main">
            <a:endParaRPr/>
          </a:p>
        </p:txBody>
      </p:sp>
      <p:pic>
        <p:nvPicPr>
          <p:cNvPr id="26" name="Picture 23"/>
          <p:cNvPicPr>
            <a:picLocks xmlns:a="http://schemas.openxmlformats.org/drawingml/2006/main" noChangeAspect="1"/>
          </p:cNvPicPr>
          <p:nvPr/>
        </p:nvPicPr>
        <p:blipFill>
          <a:blip xmlns:r="http://schemas.openxmlformats.org/officeDocument/2006/relationships" xmlns:a="http://schemas.openxmlformats.org/drawingml/2006/main" r:embed="R855899d590eb48a4"/>
          <a:stretch xmlns:a="http://schemas.openxmlformats.org/drawingml/2006/main"/>
        </p:blipFill>
        <p:spPr>
          <a:xfrm xmlns:a="http://schemas.openxmlformats.org/drawingml/2006/main">
            <a:off x="571620" y="1657350"/>
            <a:ext cx="7276859" cy="4095750"/>
          </a:xfrm>
          <a:prstGeom xmlns:a="http://schemas.openxmlformats.org/drawingml/2006/main" prst="roundRect">
            <a:avLst>
              <a:gd name="adj" fmla="val 2791"/>
            </a:avLst>
          </a:prstGeom>
        </p:spPr>
      </p:pic>
      <p:sp>
        <p:nvSpPr>
          <p:cNvPr id="7" name="Rectangle 6">
            <a:extLst xmlns:a="http://schemas.openxmlformats.org/drawingml/2006/main">
              <a:ext uri="{FF2B5EF4-FFF2-40B4-BE49-F238E27FC236}">
                <a16:creationId xmlns:a16="http://schemas.microsoft.com/office/drawing/2014/main" id="{4C3C28CA-21FA-4938-BAF8-D64DED89127B}"/>
              </a:ext>
            </a:extLst>
          </p:cNvPr>
          <p:cNvSpPr>
            <a:spLocks xmlns:a="http://schemas.openxmlformats.org/drawingml/2006/main" noGrp="1"/>
          </p:cNvSpPr>
          <p:nvPr/>
        </p:nvSpPr>
        <p:spPr>
          <a:xfrm xmlns:a="http://schemas.openxmlformats.org/drawingml/2006/main">
            <a:off x="8420100" y="17145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i="0">
                <a:solidFill>
                  <a:srgbClr val="111827"/>
                </a:solidFill>
              </a:defRPr>
            </a:pPr>
            <a:r>
              <a:rPr sz="2025" b="1" i="0">
                <a:solidFill>
                  <a:srgbClr val="111827"/>
                </a:solidFill>
              </a:rPr>
              <a:t>What is in the repository</a:t>
            </a:r>
          </a:p>
        </p:txBody>
      </p:sp>
      <p:sp>
        <p:nvSpPr>
          <p:cNvPr id="8" name="Oval 7">
            <a:extLst xmlns:a="http://schemas.openxmlformats.org/drawingml/2006/main">
              <a:ext uri="{FF2B5EF4-FFF2-40B4-BE49-F238E27FC236}">
                <a16:creationId xmlns:a16="http://schemas.microsoft.com/office/drawing/2014/main" id="{B732B104-BE50-4C8B-A9D4-F2DCF5BE9076}"/>
              </a:ext>
            </a:extLst>
          </p:cNvPr>
          <p:cNvSpPr>
            <a:spLocks xmlns:a="http://schemas.openxmlformats.org/drawingml/2006/main" noGrp="1"/>
          </p:cNvSpPr>
          <p:nvPr/>
        </p:nvSpPr>
        <p:spPr>
          <a:xfrm xmlns:a="http://schemas.openxmlformats.org/drawingml/2006/main">
            <a:off x="8420100" y="2324100"/>
            <a:ext cx="95250" cy="95250"/>
          </a:xfrm>
          <a:prstGeom xmlns:a="http://schemas.openxmlformats.org/drawingml/2006/main" prst="ellipse">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9" name="Rectangle 8">
            <a:extLst xmlns:a="http://schemas.openxmlformats.org/drawingml/2006/main">
              <a:ext uri="{FF2B5EF4-FFF2-40B4-BE49-F238E27FC236}">
                <a16:creationId xmlns:a16="http://schemas.microsoft.com/office/drawing/2014/main" id="{FF7E56C7-F6CA-4546-8CBB-CB6854CEB545}"/>
              </a:ext>
            </a:extLst>
          </p:cNvPr>
          <p:cNvSpPr>
            <a:spLocks xmlns:a="http://schemas.openxmlformats.org/drawingml/2006/main" noGrp="1"/>
          </p:cNvSpPr>
          <p:nvPr/>
        </p:nvSpPr>
        <p:spPr>
          <a:xfrm xmlns:a="http://schemas.openxmlformats.org/drawingml/2006/main">
            <a:off x="8667750" y="2238375"/>
            <a:ext cx="2743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0" i="0">
                <a:solidFill>
                  <a:srgbClr val="111827"/>
                </a:solidFill>
              </a:defRPr>
            </a:pPr>
            <a:r>
              <a:rPr sz="1725" b="0" i="0">
                <a:solidFill>
                  <a:srgbClr val="111827"/>
                </a:solidFill>
              </a:rPr>
              <a:t>the C# project</a:t>
            </a:r>
          </a:p>
        </p:txBody>
      </p:sp>
      <p:sp>
        <p:nvSpPr>
          <p:cNvPr id="10" name="Oval 9">
            <a:extLst xmlns:a="http://schemas.openxmlformats.org/drawingml/2006/main">
              <a:ext uri="{FF2B5EF4-FFF2-40B4-BE49-F238E27FC236}">
                <a16:creationId xmlns:a16="http://schemas.microsoft.com/office/drawing/2014/main" id="{6447790F-6453-43FD-B717-3E9CB3702CAB}"/>
              </a:ext>
            </a:extLst>
          </p:cNvPr>
          <p:cNvSpPr>
            <a:spLocks xmlns:a="http://schemas.openxmlformats.org/drawingml/2006/main" noGrp="1"/>
          </p:cNvSpPr>
          <p:nvPr/>
        </p:nvSpPr>
        <p:spPr>
          <a:xfrm xmlns:a="http://schemas.openxmlformats.org/drawingml/2006/main">
            <a:off x="8420100" y="2914650"/>
            <a:ext cx="95250" cy="95250"/>
          </a:xfrm>
          <a:prstGeom xmlns:a="http://schemas.openxmlformats.org/drawingml/2006/main" prst="ellipse">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5E845DB9-19D5-4447-A9E1-474B57895838}"/>
              </a:ext>
            </a:extLst>
          </p:cNvPr>
          <p:cNvSpPr>
            <a:spLocks xmlns:a="http://schemas.openxmlformats.org/drawingml/2006/main" noGrp="1"/>
          </p:cNvSpPr>
          <p:nvPr/>
        </p:nvSpPr>
        <p:spPr>
          <a:xfrm xmlns:a="http://schemas.openxmlformats.org/drawingml/2006/main">
            <a:off x="8667750" y="2828925"/>
            <a:ext cx="2743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0" i="0">
                <a:solidFill>
                  <a:srgbClr val="111827"/>
                </a:solidFill>
              </a:defRPr>
            </a:pPr>
            <a:r>
              <a:rPr sz="1725" b="0" i="0">
                <a:solidFill>
                  <a:srgbClr val="111827"/>
                </a:solidFill>
              </a:rPr>
              <a:t>Docker configuration</a:t>
            </a:r>
          </a:p>
        </p:txBody>
      </p:sp>
      <p:sp>
        <p:nvSpPr>
          <p:cNvPr id="12" name="Oval 11">
            <a:extLst xmlns:a="http://schemas.openxmlformats.org/drawingml/2006/main">
              <a:ext uri="{FF2B5EF4-FFF2-40B4-BE49-F238E27FC236}">
                <a16:creationId xmlns:a16="http://schemas.microsoft.com/office/drawing/2014/main" id="{19EF8E5E-4FCD-4EBB-8B57-8298E5CEEA88}"/>
              </a:ext>
            </a:extLst>
          </p:cNvPr>
          <p:cNvSpPr>
            <a:spLocks xmlns:a="http://schemas.openxmlformats.org/drawingml/2006/main" noGrp="1"/>
          </p:cNvSpPr>
          <p:nvPr/>
        </p:nvSpPr>
        <p:spPr>
          <a:xfrm xmlns:a="http://schemas.openxmlformats.org/drawingml/2006/main">
            <a:off x="8420100" y="3505200"/>
            <a:ext cx="95250" cy="95250"/>
          </a:xfrm>
          <a:prstGeom xmlns:a="http://schemas.openxmlformats.org/drawingml/2006/main" prst="ellipse">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13" name="Rectangle 12">
            <a:extLst xmlns:a="http://schemas.openxmlformats.org/drawingml/2006/main">
              <a:ext uri="{FF2B5EF4-FFF2-40B4-BE49-F238E27FC236}">
                <a16:creationId xmlns:a16="http://schemas.microsoft.com/office/drawing/2014/main" id="{C8C87E73-7342-47B4-90F0-76B1F1D6BB4A}"/>
              </a:ext>
            </a:extLst>
          </p:cNvPr>
          <p:cNvSpPr>
            <a:spLocks xmlns:a="http://schemas.openxmlformats.org/drawingml/2006/main" noGrp="1"/>
          </p:cNvSpPr>
          <p:nvPr/>
        </p:nvSpPr>
        <p:spPr>
          <a:xfrm xmlns:a="http://schemas.openxmlformats.org/drawingml/2006/main">
            <a:off x="8667750" y="3419475"/>
            <a:ext cx="2743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0" i="0">
                <a:solidFill>
                  <a:srgbClr val="111827"/>
                </a:solidFill>
              </a:defRPr>
            </a:pPr>
            <a:r>
              <a:rPr sz="1725" b="0" i="0">
                <a:solidFill>
                  <a:srgbClr val="111827"/>
                </a:solidFill>
              </a:rPr>
              <a:t>Phase 4 rules and reports</a:t>
            </a:r>
          </a:p>
        </p:txBody>
      </p:sp>
      <p:sp>
        <p:nvSpPr>
          <p:cNvPr id="14" name="Oval 13">
            <a:extLst xmlns:a="http://schemas.openxmlformats.org/drawingml/2006/main">
              <a:ext uri="{FF2B5EF4-FFF2-40B4-BE49-F238E27FC236}">
                <a16:creationId xmlns:a16="http://schemas.microsoft.com/office/drawing/2014/main" id="{936FFB70-4C7B-4DF5-8DC0-3C1F54AAB3FF}"/>
              </a:ext>
            </a:extLst>
          </p:cNvPr>
          <p:cNvSpPr>
            <a:spLocks xmlns:a="http://schemas.openxmlformats.org/drawingml/2006/main" noGrp="1"/>
          </p:cNvSpPr>
          <p:nvPr/>
        </p:nvSpPr>
        <p:spPr>
          <a:xfrm xmlns:a="http://schemas.openxmlformats.org/drawingml/2006/main">
            <a:off x="8420100" y="4095750"/>
            <a:ext cx="95250" cy="95250"/>
          </a:xfrm>
          <a:prstGeom xmlns:a="http://schemas.openxmlformats.org/drawingml/2006/main" prst="ellipse">
            <a:avLst/>
          </a:prstGeom>
          <a:solidFill xmlns:a="http://schemas.openxmlformats.org/drawingml/2006/main">
            <a:srgbClr val="1E62D0"/>
          </a:solidFill>
          <a:ln xmlns:a="http://schemas.openxmlformats.org/drawingml/2006/main" w="0">
            <a:solidFill>
              <a:srgbClr val="1E62D0"/>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36698555-D78F-4B1D-B904-AF3A7EB6CD70}"/>
              </a:ext>
            </a:extLst>
          </p:cNvPr>
          <p:cNvSpPr>
            <a:spLocks xmlns:a="http://schemas.openxmlformats.org/drawingml/2006/main" noGrp="1"/>
          </p:cNvSpPr>
          <p:nvPr/>
        </p:nvSpPr>
        <p:spPr>
          <a:xfrm xmlns:a="http://schemas.openxmlformats.org/drawingml/2006/main">
            <a:off x="8667750" y="4010025"/>
            <a:ext cx="2743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0" i="0">
                <a:solidFill>
                  <a:srgbClr val="111827"/>
                </a:solidFill>
              </a:defRPr>
            </a:pPr>
            <a:r>
              <a:rPr sz="1725" b="0" i="0">
                <a:solidFill>
                  <a:srgbClr val="111827"/>
                </a:solidFill>
              </a:rPr>
              <a:t>simple run instructions</a:t>
            </a:r>
          </a:p>
        </p:txBody>
      </p:sp>
      <p:sp>
        <p:nvSpPr>
          <p:cNvPr id="16" name="Rectangle 15">
            <a:extLst xmlns:a="http://schemas.openxmlformats.org/drawingml/2006/main">
              <a:ext uri="{FF2B5EF4-FFF2-40B4-BE49-F238E27FC236}">
                <a16:creationId xmlns:a16="http://schemas.microsoft.com/office/drawing/2014/main" id="{8BB4E273-D5A3-41F9-843C-86B7B17F86A4}"/>
              </a:ext>
            </a:extLst>
          </p:cNvPr>
          <p:cNvSpPr>
            <a:spLocks xmlns:a="http://schemas.openxmlformats.org/drawingml/2006/main" noGrp="1"/>
          </p:cNvSpPr>
          <p:nvPr/>
        </p:nvSpPr>
        <p:spPr>
          <a:xfrm xmlns:a="http://schemas.openxmlformats.org/drawingml/2006/main">
            <a:off x="8420100" y="4762500"/>
            <a:ext cx="2857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i="0">
                <a:solidFill>
                  <a:srgbClr val="1E62D0"/>
                </a:solidFill>
              </a:defRPr>
            </a:pPr>
            <a:r>
              <a:rPr sz="1875" b="1" i="0">
                <a:solidFill>
                  <a:srgbClr val="1E62D0"/>
                </a:solidFill>
              </a:rPr>
              <a:t>Latest update</a:t>
            </a:r>
          </a:p>
        </p:txBody>
      </p:sp>
      <p:sp>
        <p:nvSpPr>
          <p:cNvPr id="17" name="Rectangle 16">
            <a:extLst xmlns:a="http://schemas.openxmlformats.org/drawingml/2006/main">
              <a:ext uri="{FF2B5EF4-FFF2-40B4-BE49-F238E27FC236}">
                <a16:creationId xmlns:a16="http://schemas.microsoft.com/office/drawing/2014/main" id="{29DDF0E0-C283-4917-A048-469A428A3916}"/>
              </a:ext>
            </a:extLst>
          </p:cNvPr>
          <p:cNvSpPr>
            <a:spLocks xmlns:a="http://schemas.openxmlformats.org/drawingml/2006/main" noGrp="1"/>
          </p:cNvSpPr>
          <p:nvPr/>
        </p:nvSpPr>
        <p:spPr>
          <a:xfrm xmlns:a="http://schemas.openxmlformats.org/drawingml/2006/main">
            <a:off x="8420100" y="5143500"/>
            <a:ext cx="2762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i="0">
                <a:solidFill>
                  <a:srgbClr val="556070"/>
                </a:solidFill>
              </a:defRPr>
            </a:pPr>
            <a:r>
              <a:rPr sz="1575" b="0" i="0">
                <a:solidFill>
                  <a:srgbClr val="556070"/>
                </a:solidFill>
              </a:rPr>
              <a:t>Commit 938d1cf on main includes the Phase 4 implementation.</a:t>
            </a:r>
          </a:p>
        </p:txBody>
      </p:sp>
      <p:sp>
        <p:nvSpPr>
          <p:cNvPr id="18" name="Rectangle 17">
            <a:extLst xmlns:a="http://schemas.openxmlformats.org/drawingml/2006/main">
              <a:ext uri="{FF2B5EF4-FFF2-40B4-BE49-F238E27FC236}">
                <a16:creationId xmlns:a16="http://schemas.microsoft.com/office/drawing/2014/main" id="{8521E8B0-1016-4938-B714-35DE83791A32}"/>
              </a:ext>
            </a:extLst>
          </p:cNvPr>
          <p:cNvSpPr>
            <a:spLocks xmlns:a="http://schemas.openxmlformats.org/drawingml/2006/main" noGrp="1"/>
          </p:cNvSpPr>
          <p:nvPr/>
        </p:nvSpPr>
        <p:spPr>
          <a:xfrm xmlns:a="http://schemas.openxmlformats.org/drawingml/2006/main">
            <a:off x="400050" y="6000750"/>
            <a:ext cx="1000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00" b="0" i="0">
                <a:solidFill>
                  <a:srgbClr val="1E62D0"/>
                </a:solidFill>
              </a:defRPr>
            </a:pPr>
            <a:r>
              <a:rPr sz="1200" b="0" i="0">
                <a:solidFill>
                  <a:srgbClr val="1E62D0"/>
                </a:solidFill>
              </a:rPr>
              <a:t>github.com/glen-mukota/adaptive-forensic-framework-5g-network-slicing</a:t>
            </a:r>
          </a:p>
        </p:txBody>
      </p:sp>
    </p:spTree>
    <p:extLst>
      <p:ext uri="{BB962C8B-B14F-4D97-AF65-F5344CB8AC3E}">
        <p14:creationId xmlns:p14="http://schemas.microsoft.com/office/powerpoint/2010/main" val="13787452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0E253805-AF26-46DE-910C-E97438ED8C83}"/>
              </a:ext>
            </a:extLst>
          </p:cNvPr>
          <p:cNvSpPr>
            <a:spLocks xmlns:a="http://schemas.openxmlformats.org/drawingml/2006/main" noGrp="1"/>
          </p:cNvSpPr>
          <p:nvPr/>
        </p:nvSpPr>
        <p:spPr>
          <a:xfrm xmlns:a="http://schemas.openxmlformats.org/drawingml/2006/main">
            <a:off x="400050" y="3238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E62D0"/>
                </a:solidFill>
              </a:defRPr>
            </a:pPr>
            <a:r>
              <a:rPr sz="1125" b="1" i="0">
                <a:solidFill>
                  <a:srgbClr val="1E62D0"/>
                </a:solidFill>
              </a:rPr>
              <a:t>CURRENT POSITION AND NEXT WORK</a:t>
            </a:r>
          </a:p>
        </p:txBody>
      </p:sp>
      <p:sp>
        <p:nvSpPr>
          <p:cNvPr id="2" name="Rectangle 1">
            <a:extLst xmlns:a="http://schemas.openxmlformats.org/drawingml/2006/main">
              <a:ext uri="{FF2B5EF4-FFF2-40B4-BE49-F238E27FC236}">
                <a16:creationId xmlns:a16="http://schemas.microsoft.com/office/drawing/2014/main" id="{5CF8825C-4755-4552-95DB-43DB8027CDCD}"/>
              </a:ext>
            </a:extLst>
          </p:cNvPr>
          <p:cNvSpPr>
            <a:spLocks xmlns:a="http://schemas.openxmlformats.org/drawingml/2006/main" noGrp="1"/>
          </p:cNvSpPr>
          <p:nvPr/>
        </p:nvSpPr>
        <p:spPr>
          <a:xfrm xmlns:a="http://schemas.openxmlformats.org/drawingml/2006/main">
            <a:off x="400050" y="62865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925" b="1" i="0">
                <a:solidFill>
                  <a:srgbClr val="111827"/>
                </a:solidFill>
              </a:defRPr>
            </a:pPr>
            <a:r>
              <a:rPr sz="2925" b="1" i="0">
                <a:solidFill>
                  <a:srgbClr val="111827"/>
                </a:solidFill>
              </a:rPr>
              <a:t>Phase 4 is complete; the next work is clearly defined</a:t>
            </a:r>
          </a:p>
        </p:txBody>
      </p:sp>
      <p:sp>
        <p:nvSpPr>
          <p:cNvPr id="3" name="Rectangle 2">
            <a:extLst xmlns:a="http://schemas.openxmlformats.org/drawingml/2006/main">
              <a:ext uri="{FF2B5EF4-FFF2-40B4-BE49-F238E27FC236}">
                <a16:creationId xmlns:a16="http://schemas.microsoft.com/office/drawing/2014/main" id="{D1E06D69-DA64-43AD-BA7F-6F559D4A1E01}"/>
              </a:ext>
            </a:extLst>
          </p:cNvPr>
          <p:cNvSpPr>
            <a:spLocks xmlns:a="http://schemas.openxmlformats.org/drawingml/2006/main" noGrp="1"/>
          </p:cNvSpPr>
          <p:nvPr/>
        </p:nvSpPr>
        <p:spPr>
          <a:xfrm xmlns:a="http://schemas.openxmlformats.org/drawingml/2006/main">
            <a:off x="400050" y="1276350"/>
            <a:ext cx="11391900" cy="9525"/>
          </a:xfrm>
          <a:prstGeom xmlns:a="http://schemas.openxmlformats.org/drawingml/2006/main" prst="rect">
            <a:avLst/>
          </a:prstGeom>
          <a:solidFill xmlns:a="http://schemas.openxmlformats.org/drawingml/2006/main">
            <a:srgbClr val="C8CED6"/>
          </a:solidFill>
          <a:ln xmlns:a="http://schemas.openxmlformats.org/drawingml/2006/main" w="0">
            <a:solidFill>
              <a:srgbClr val="C8CED6"/>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6C489429-138D-421F-AC9A-07FF081F2A3F}"/>
              </a:ext>
            </a:extLst>
          </p:cNvPr>
          <p:cNvSpPr>
            <a:spLocks xmlns:a="http://schemas.openxmlformats.org/drawingml/2006/main" noGrp="1"/>
          </p:cNvSpPr>
          <p:nvPr/>
        </p:nvSpPr>
        <p:spPr>
          <a:xfrm xmlns:a="http://schemas.openxmlformats.org/drawingml/2006/main">
            <a:off x="9715500" y="6286500"/>
            <a:ext cx="2076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556070"/>
                </a:solidFill>
              </a:defRPr>
            </a:pPr>
            <a:r>
              <a:rPr sz="975" b="0" i="0">
                <a:solidFill>
                  <a:srgbClr val="556070"/>
                </a:solidFill>
              </a:rPr>
              <a:t>16 AUGUST 2026  |  10</a:t>
            </a:r>
          </a:p>
        </p:txBody>
      </p:sp>
      <p:sp>
        <p:nvSpPr>
          <p:cNvPr id="5" name="Rectangle 4">
            <a:extLst xmlns:a="http://schemas.openxmlformats.org/drawingml/2006/main">
              <a:ext uri="{FF2B5EF4-FFF2-40B4-BE49-F238E27FC236}">
                <a16:creationId xmlns:a16="http://schemas.microsoft.com/office/drawing/2014/main" id="{DB1AB030-53C0-4613-ADB1-AFD2C348A31C}"/>
              </a:ext>
            </a:extLst>
          </p:cNvPr>
          <p:cNvSpPr>
            <a:spLocks xmlns:a="http://schemas.openxmlformats.org/drawingml/2006/main" noGrp="1"/>
          </p:cNvSpPr>
          <p:nvPr/>
        </p:nvSpPr>
        <p:spPr>
          <a:xfrm xmlns:a="http://schemas.openxmlformats.org/drawingml/2006/main">
            <a:off x="400050" y="1476375"/>
            <a:ext cx="1047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i="0">
                <a:solidFill>
                  <a:srgbClr val="556070"/>
                </a:solidFill>
              </a:defRPr>
            </a:pPr>
            <a:r>
              <a:rPr sz="1800" b="0" i="0">
                <a:solidFill>
                  <a:srgbClr val="556070"/>
                </a:solidFill>
              </a:rPr>
              <a:t>Phase 4 connects records to slice context using transparent rules. Phases 5 and 6 remain the approved next steps.</a:t>
            </a:r>
          </a:p>
        </p:txBody>
      </p:sp>
      <p:graphicFrame>
        <p:nvGraphicFramePr>
          <p:cNvPr id="16" name="Table 13"/>
          <p:cNvGraphicFramePr/>
          <p:nvPr/>
        </p:nvGraphicFramePr>
        <p:xfrm>
          <a:off xmlns:a="http://schemas.openxmlformats.org/drawingml/2006/main" x="400050" y="2238375"/>
          <a:ext xmlns:a="http://schemas.openxmlformats.org/drawingml/2006/main" cx="11391900" cy="3143252"/>
        </p:xfrm>
        <a:graphic xmlns:a="http://schemas.openxmlformats.org/drawingml/2006/main">
          <a:graphicData uri="http://schemas.openxmlformats.org/drawingml/2006/table">
            <a:tbl>
              <a:tblPr firstRow="1" bandRow="1"/>
              <a:tblGrid>
                <a:gridCol w="2476500"/>
                <a:gridCol w="4905375"/>
                <a:gridCol w="4010025"/>
              </a:tblGrid>
              <a:tr h="785813">
                <a:tc>
                  <a:txBody>
                    <a:bodyPr/>
                    <a:lstStyle/>
                    <a:p>
                      <a:r>
                        <a:rPr sz="1650" b="1">
                          <a:solidFill>
                            <a:srgbClr val="FFFFFF"/>
                          </a:solidFill>
                        </a:rPr>
                        <a:t>Planned step</a:t>
                      </a:r>
                    </a:p>
                  </a:txBody>
                  <a:tcPr marL="91440" marR="91440" marT="45720" marB="45720">
                    <a:solidFill>
                      <a:srgbClr val="1E62D0"/>
                    </a:solidFill>
                  </a:tcPr>
                </a:tc>
                <a:tc>
                  <a:txBody>
                    <a:bodyPr/>
                    <a:lstStyle/>
                    <a:p>
                      <a:r>
                        <a:rPr sz="1650" b="1">
                          <a:solidFill>
                            <a:srgbClr val="FFFFFF"/>
                          </a:solidFill>
                        </a:rPr>
                        <a:t> </a:t>
                      </a:r>
                      <a:r>
                        <a:rPr sz="1650" b="1">
                          <a:solidFill>
                            <a:srgbClr val="FFFFFF"/>
                          </a:solidFill>
                        </a:rPr>
                        <a:t>M</a:t>
                      </a:r>
                      <a:r>
                        <a:rPr sz="1650" b="1">
                          <a:solidFill>
                            <a:srgbClr val="FFFFFF"/>
                          </a:solidFill>
                        </a:rPr>
                        <a:t>eaning</a:t>
                      </a:r>
                    </a:p>
                  </a:txBody>
                  <a:tcPr marL="91440" marR="91440" marT="45720" marB="45720">
                    <a:solidFill>
                      <a:srgbClr val="1E62D0"/>
                    </a:solidFill>
                  </a:tcPr>
                </a:tc>
                <a:tc>
                  <a:txBody>
                    <a:bodyPr/>
                    <a:lstStyle/>
                    <a:p>
                      <a:r>
                        <a:rPr sz="1650" b="1">
                          <a:solidFill>
                            <a:srgbClr val="FFFFFF"/>
                          </a:solidFill>
                        </a:rPr>
                        <a:t>What I will show</a:t>
                      </a:r>
                    </a:p>
                  </a:txBody>
                  <a:tcPr marL="91440" marR="91440" marT="45720" marB="45720">
                    <a:solidFill>
                      <a:srgbClr val="1E62D0"/>
                    </a:solidFill>
                  </a:tcPr>
                </a:tc>
              </a:tr>
              <a:tr h="785813">
                <a:tc>
                  <a:txBody>
                    <a:bodyPr/>
                    <a:lstStyle/>
                    <a:p>
                      <a:r>
                        <a:rPr sz="1575">
                          <a:solidFill>
                            <a:srgbClr val="111827"/>
                          </a:solidFill>
                        </a:rPr>
                        <a:t>Phase 4 - complete</a:t>
                      </a:r>
                    </a:p>
                  </a:txBody>
                  <a:tcPr marL="91440" marR="91440" marT="45720" marB="45720"/>
                </a:tc>
                <a:tc>
                  <a:txBody>
                    <a:bodyPr/>
                    <a:lstStyle/>
                    <a:p>
                      <a:r>
                        <a:rPr sz="1575">
                          <a:solidFill>
                            <a:srgbClr val="111827"/>
                          </a:solidFill>
                        </a:rPr>
                        <a:t>Assign a slice with a recorded rule and reason</a:t>
                      </a:r>
                    </a:p>
                  </a:txBody>
                  <a:tcPr marL="91440" marR="91440" marT="45720" marB="45720"/>
                </a:tc>
                <a:tc>
                  <a:txBody>
                    <a:bodyPr/>
                    <a:lstStyle/>
                    <a:p>
                      <a:r>
                        <a:rPr sz="1575">
                          <a:solidFill>
                            <a:srgbClr val="111827"/>
                          </a:solidFill>
                        </a:rPr>
                        <a:t>27 decisions; 8/8 known correct</a:t>
                      </a:r>
                    </a:p>
                  </a:txBody>
                  <a:tcPr marL="91440" marR="91440" marT="45720" marB="45720"/>
                </a:tc>
              </a:tr>
              <a:tr h="785813">
                <a:tc>
                  <a:txBody>
                    <a:bodyPr/>
                    <a:lstStyle/>
                    <a:p>
                      <a:r>
                        <a:rPr sz="1575">
                          <a:solidFill>
                            <a:srgbClr val="111827"/>
                          </a:solidFill>
                        </a:rPr>
                        <a:t>Phase 5 - next</a:t>
                      </a:r>
                    </a:p>
                  </a:txBody>
                  <a:tcPr marL="91440" marR="91440" marT="45720" marB="45720"/>
                </a:tc>
                <a:tc>
                  <a:txBody>
                    <a:bodyPr/>
                    <a:lstStyle/>
                    <a:p>
                      <a:r>
                        <a:rPr sz="1575">
                          <a:solidFill>
                            <a:srgbClr val="111827"/>
                          </a:solidFill>
                        </a:rPr>
                        <a:t>Adapt collection using an approved rule</a:t>
                      </a:r>
                    </a:p>
                  </a:txBody>
                  <a:tcPr marL="91440" marR="91440" marT="45720" marB="45720"/>
                </a:tc>
                <a:tc>
                  <a:txBody>
                    <a:bodyPr/>
                    <a:lstStyle/>
                    <a:p>
                      <a:r>
                        <a:rPr sz="1575">
                          <a:solidFill>
                            <a:srgbClr val="111827"/>
                          </a:solidFill>
                        </a:rPr>
                        <a:t>Show the control decision</a:t>
                      </a:r>
                    </a:p>
                  </a:txBody>
                  <a:tcPr marL="91440" marR="91440" marT="45720" marB="45720"/>
                </a:tc>
              </a:tr>
              <a:tr h="785813">
                <a:tc>
                  <a:txBody>
                    <a:bodyPr/>
                    <a:lstStyle/>
                    <a:p>
                      <a:r>
                        <a:rPr sz="1575">
                          <a:solidFill>
                            <a:srgbClr val="111827"/>
                          </a:solidFill>
                        </a:rPr>
                        <a:t>Phase 6 - next</a:t>
                      </a:r>
                    </a:p>
                  </a:txBody>
                  <a:tcPr marL="91440" marR="91440" marT="45720" marB="45720"/>
                </a:tc>
                <a:tc>
                  <a:txBody>
                    <a:bodyPr/>
                    <a:lstStyle/>
                    <a:p>
                      <a:r>
                        <a:rPr sz="1575">
                          <a:solidFill>
                            <a:srgbClr val="111827"/>
                          </a:solidFill>
                        </a:rPr>
                        <a:t>Protect history and measure results</a:t>
                      </a:r>
                    </a:p>
                  </a:txBody>
                  <a:tcPr marL="91440" marR="91440" marT="45720" marB="45720"/>
                </a:tc>
                <a:tc>
                  <a:txBody>
                    <a:bodyPr/>
                    <a:lstStyle/>
                    <a:p>
                      <a:r>
                        <a:rPr sz="1575">
                          <a:solidFill>
                            <a:srgbClr val="111827"/>
                          </a:solidFill>
                        </a:rPr>
                        <a:t>Show integrity and evaluation</a:t>
                      </a:r>
                    </a:p>
                  </a:txBody>
                  <a:tcPr marL="91440" marR="91440" marT="45720" marB="45720"/>
                </a:tc>
              </a:tr>
            </a:tbl>
          </a:graphicData>
        </a:graphic>
      </p:graphicFrame>
      <p:sp>
        <p:nvSpPr>
          <p:cNvPr id="7" name="Rectangle: Rounded Corners 6">
            <a:extLst xmlns:a="http://schemas.openxmlformats.org/drawingml/2006/main">
              <a:ext uri="{FF2B5EF4-FFF2-40B4-BE49-F238E27FC236}">
                <a16:creationId xmlns:a16="http://schemas.microsoft.com/office/drawing/2014/main" id="{DBE0B6CD-2055-426F-9DB5-FBD1FDB0F472}"/>
              </a:ext>
            </a:extLst>
          </p:cNvPr>
          <p:cNvSpPr>
            <a:spLocks xmlns:a="http://schemas.openxmlformats.org/drawingml/2006/main" noGrp="1"/>
          </p:cNvSpPr>
          <p:nvPr/>
        </p:nvSpPr>
        <p:spPr>
          <a:xfrm xmlns:a="http://schemas.openxmlformats.org/drawingml/2006/main">
            <a:off x="400050" y="5676900"/>
            <a:ext cx="11391900" cy="400050"/>
          </a:xfrm>
          <a:prstGeom xmlns:a="http://schemas.openxmlformats.org/drawingml/2006/main" prst="roundRect">
            <a:avLst>
              <a:gd name="adj" fmla="val 19048"/>
            </a:avLst>
          </a:prstGeom>
          <a:solidFill xmlns:a="http://schemas.openxmlformats.org/drawingml/2006/main">
            <a:srgbClr val="EAF5FB"/>
          </a:solidFill>
          <a:ln xmlns:a="http://schemas.openxmlformats.org/drawingml/2006/main" w="0">
            <a:solidFill>
              <a:srgbClr val="EAF5FB"/>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A07F7DFD-AF08-4A84-BFCD-F9ED814B9988}"/>
              </a:ext>
            </a:extLst>
          </p:cNvPr>
          <p:cNvSpPr>
            <a:spLocks xmlns:a="http://schemas.openxmlformats.org/drawingml/2006/main" noGrp="1"/>
          </p:cNvSpPr>
          <p:nvPr/>
        </p:nvSpPr>
        <p:spPr>
          <a:xfrm xmlns:a="http://schemas.openxmlformats.org/drawingml/2006/main">
            <a:off x="590550" y="5781675"/>
            <a:ext cx="10572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i="0">
                <a:solidFill>
                  <a:srgbClr val="1E62D0"/>
                </a:solidFill>
              </a:defRPr>
            </a:pPr>
            <a:r>
              <a:rPr sz="1500" b="1" i="0">
                <a:solidFill>
                  <a:srgbClr val="1E62D0"/>
                </a:solidFill>
              </a:rPr>
              <a:t>Next meeting focus: Phase 5 - adapt collection safely and protect the evidence history.</a:t>
            </a:r>
          </a:p>
        </p:txBody>
      </p:sp>
    </p:spTree>
    <p:extLst>
      <p:ext uri="{BB962C8B-B14F-4D97-AF65-F5344CB8AC3E}">
        <p14:creationId xmlns:p14="http://schemas.microsoft.com/office/powerpoint/2010/main" val="213706595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093AC282-58D5-40B7-8E7D-710A25B67C6B}"/>
              </a:ext>
            </a:extLst>
          </p:cNvPr>
          <p:cNvSpPr>
            <a:spLocks xmlns:a="http://schemas.openxmlformats.org/drawingml/2006/main" noGrp="1"/>
          </p:cNvSpPr>
          <p:nvPr/>
        </p:nvSpPr>
        <p:spPr>
          <a:xfrm xmlns:a="http://schemas.openxmlformats.org/drawingml/2006/main">
            <a:off x="400050" y="3238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E62D0"/>
                </a:solidFill>
              </a:defRPr>
            </a:pPr>
            <a:r>
              <a:rPr sz="1125" b="1" i="0">
                <a:solidFill>
                  <a:srgbClr val="1E62D0"/>
                </a:solidFill>
              </a:rPr>
              <a:t>PHASE 5 ACCEPTANCE</a:t>
            </a:r>
          </a:p>
        </p:txBody>
      </p:sp>
      <p:sp>
        <p:nvSpPr>
          <p:cNvPr id="2" name="Rectangle 1">
            <a:extLst xmlns:a="http://schemas.openxmlformats.org/drawingml/2006/main">
              <a:ext uri="{FF2B5EF4-FFF2-40B4-BE49-F238E27FC236}">
                <a16:creationId xmlns:a16="http://schemas.microsoft.com/office/drawing/2014/main" id="{2FC15BA6-BC82-4981-99C4-CE80F366B9DE}"/>
              </a:ext>
            </a:extLst>
          </p:cNvPr>
          <p:cNvSpPr>
            <a:spLocks xmlns:a="http://schemas.openxmlformats.org/drawingml/2006/main" noGrp="1"/>
          </p:cNvSpPr>
          <p:nvPr/>
        </p:nvSpPr>
        <p:spPr>
          <a:xfrm xmlns:a="http://schemas.openxmlformats.org/drawingml/2006/main">
            <a:off x="400050" y="62865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925" b="1" i="0">
                <a:solidFill>
                  <a:srgbClr val="111827"/>
                </a:solidFill>
              </a:defRPr>
            </a:pPr>
            <a:r>
              <a:rPr sz="2925" b="1" i="0">
                <a:solidFill>
                  <a:srgbClr val="111827"/>
                </a:solidFill>
              </a:rPr>
              <a:t>Phase 5 adapts collection and protects each record</a:t>
            </a:r>
          </a:p>
        </p:txBody>
      </p:sp>
      <p:sp>
        <p:nvSpPr>
          <p:cNvPr id="3" name="Rectangle 2">
            <a:extLst xmlns:a="http://schemas.openxmlformats.org/drawingml/2006/main">
              <a:ext uri="{FF2B5EF4-FFF2-40B4-BE49-F238E27FC236}">
                <a16:creationId xmlns:a16="http://schemas.microsoft.com/office/drawing/2014/main" id="{AE21976C-8499-45AA-98A4-1EE1CB3569F0}"/>
              </a:ext>
            </a:extLst>
          </p:cNvPr>
          <p:cNvSpPr>
            <a:spLocks xmlns:a="http://schemas.openxmlformats.org/drawingml/2006/main" noGrp="1"/>
          </p:cNvSpPr>
          <p:nvPr/>
        </p:nvSpPr>
        <p:spPr>
          <a:xfrm xmlns:a="http://schemas.openxmlformats.org/drawingml/2006/main">
            <a:off x="400050" y="1276350"/>
            <a:ext cx="11391900" cy="9525"/>
          </a:xfrm>
          <a:prstGeom xmlns:a="http://schemas.openxmlformats.org/drawingml/2006/main" prst="rect">
            <a:avLst/>
          </a:prstGeom>
          <a:solidFill xmlns:a="http://schemas.openxmlformats.org/drawingml/2006/main">
            <a:srgbClr val="C8CED6"/>
          </a:solidFill>
          <a:ln xmlns:a="http://schemas.openxmlformats.org/drawingml/2006/main" w="0">
            <a:solidFill>
              <a:srgbClr val="C8CED6"/>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EBE2EAAD-04A1-4C85-B928-3FDC4F59785E}"/>
              </a:ext>
            </a:extLst>
          </p:cNvPr>
          <p:cNvSpPr>
            <a:spLocks xmlns:a="http://schemas.openxmlformats.org/drawingml/2006/main" noGrp="1"/>
          </p:cNvSpPr>
          <p:nvPr/>
        </p:nvSpPr>
        <p:spPr>
          <a:xfrm xmlns:a="http://schemas.openxmlformats.org/drawingml/2006/main">
            <a:off x="9715500" y="6286500"/>
            <a:ext cx="2076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556070"/>
                </a:solidFill>
              </a:defRPr>
            </a:pPr>
            <a:r>
              <a:rPr sz="975" b="0" i="0">
                <a:solidFill>
                  <a:srgbClr val="556070"/>
                </a:solidFill>
              </a:rPr>
              <a:t>22 AUGUST 2026  |  11</a:t>
            </a:r>
          </a:p>
        </p:txBody>
      </p:sp>
      <p:sp>
        <p:nvSpPr>
          <p:cNvPr id="5" name="Rectangle 4">
            <a:extLst xmlns:a="http://schemas.openxmlformats.org/drawingml/2006/main">
              <a:ext uri="{FF2B5EF4-FFF2-40B4-BE49-F238E27FC236}">
                <a16:creationId xmlns:a16="http://schemas.microsoft.com/office/drawing/2014/main" id="{062A7E23-5AF0-44AC-A21E-B9CC4008E3B8}"/>
              </a:ext>
            </a:extLst>
          </p:cNvPr>
          <p:cNvSpPr>
            <a:spLocks xmlns:a="http://schemas.openxmlformats.org/drawingml/2006/main" noGrp="1"/>
          </p:cNvSpPr>
          <p:nvPr/>
        </p:nvSpPr>
        <p:spPr>
          <a:xfrm xmlns:a="http://schemas.openxmlformats.org/drawingml/2006/main">
            <a:off x="400050" y="1543050"/>
            <a:ext cx="1028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i="0">
                <a:solidFill>
                  <a:srgbClr val="556070"/>
                </a:solidFill>
              </a:defRPr>
            </a:pPr>
            <a:r>
              <a:rPr sz="1800" b="0" i="0">
                <a:solidFill>
                  <a:srgbClr val="556070"/>
                </a:solidFill>
              </a:rPr>
              <a:t>An approved rule raises collection priority only for attributed traffic. Original evidence is not changed.</a:t>
            </a:r>
          </a:p>
        </p:txBody>
      </p:sp>
      <p:sp>
        <p:nvSpPr>
          <p:cNvPr id="6" name="Rectangle: Rounded Corners 5">
            <a:extLst xmlns:a="http://schemas.openxmlformats.org/drawingml/2006/main">
              <a:ext uri="{FF2B5EF4-FFF2-40B4-BE49-F238E27FC236}">
                <a16:creationId xmlns:a16="http://schemas.microsoft.com/office/drawing/2014/main" id="{3E169C23-5DD8-4164-AFE6-7FC645EA7C75}"/>
              </a:ext>
            </a:extLst>
          </p:cNvPr>
          <p:cNvSpPr>
            <a:spLocks xmlns:a="http://schemas.openxmlformats.org/drawingml/2006/main" noGrp="1"/>
          </p:cNvSpPr>
          <p:nvPr/>
        </p:nvSpPr>
        <p:spPr>
          <a:xfrm xmlns:a="http://schemas.openxmlformats.org/drawingml/2006/main">
            <a:off x="400050" y="3028950"/>
            <a:ext cx="3562350" cy="2476500"/>
          </a:xfrm>
          <a:prstGeom xmlns:a="http://schemas.openxmlformats.org/drawingml/2006/main" prst="roundRect">
            <a:avLst>
              <a:gd name="adj" fmla="val 4615"/>
            </a:avLst>
          </a:prstGeom>
          <a:solidFill xmlns:a="http://schemas.openxmlformats.org/drawingml/2006/main">
            <a:srgbClr val="F2F4F7"/>
          </a:solidFill>
          <a:ln xmlns:a="http://schemas.openxmlformats.org/drawingml/2006/main" w="0">
            <a:solidFill>
              <a:srgbClr val="F2F4F7"/>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Rectangle 6">
            <a:extLst xmlns:a="http://schemas.openxmlformats.org/drawingml/2006/main">
              <a:ext uri="{FF2B5EF4-FFF2-40B4-BE49-F238E27FC236}">
                <a16:creationId xmlns:a16="http://schemas.microsoft.com/office/drawing/2014/main" id="{794368B1-6FEC-4354-8646-E97880C06729}"/>
              </a:ext>
            </a:extLst>
          </p:cNvPr>
          <p:cNvSpPr>
            <a:spLocks xmlns:a="http://schemas.openxmlformats.org/drawingml/2006/main" noGrp="1"/>
          </p:cNvSpPr>
          <p:nvPr/>
        </p:nvSpPr>
        <p:spPr>
          <a:xfrm xmlns:a="http://schemas.openxmlformats.org/drawingml/2006/main">
            <a:off x="685800" y="3333750"/>
            <a:ext cx="29908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125" b="1" i="0">
                <a:solidFill>
                  <a:srgbClr val="1E62D0"/>
                </a:solidFill>
              </a:defRPr>
            </a:pPr>
            <a:r>
              <a:rPr sz="4125" b="1" i="0">
                <a:solidFill>
                  <a:srgbClr val="1E62D0"/>
                </a:solidFill>
              </a:rPr>
              <a:t>2</a:t>
            </a:r>
          </a:p>
        </p:txBody>
      </p:sp>
      <p:sp>
        <p:nvSpPr>
          <p:cNvPr id="8" name="Rectangle 7">
            <a:extLst xmlns:a="http://schemas.openxmlformats.org/drawingml/2006/main">
              <a:ext uri="{FF2B5EF4-FFF2-40B4-BE49-F238E27FC236}">
                <a16:creationId xmlns:a16="http://schemas.microsoft.com/office/drawing/2014/main" id="{EAF1B148-FFE2-427D-8976-FA62BACBF11B}"/>
              </a:ext>
            </a:extLst>
          </p:cNvPr>
          <p:cNvSpPr>
            <a:spLocks xmlns:a="http://schemas.openxmlformats.org/drawingml/2006/main" noGrp="1"/>
          </p:cNvSpPr>
          <p:nvPr/>
        </p:nvSpPr>
        <p:spPr>
          <a:xfrm xmlns:a="http://schemas.openxmlformats.org/drawingml/2006/main">
            <a:off x="685800" y="4257675"/>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i="0">
                <a:solidFill>
                  <a:srgbClr val="111827"/>
                </a:solidFill>
              </a:defRPr>
            </a:pPr>
            <a:r>
              <a:rPr sz="1800" b="1" i="0">
                <a:solidFill>
                  <a:srgbClr val="111827"/>
                </a:solidFill>
              </a:rPr>
              <a:t>approved priority updates</a:t>
            </a:r>
          </a:p>
        </p:txBody>
      </p:sp>
      <p:sp>
        <p:nvSpPr>
          <p:cNvPr id="9" name="Rectangle 8">
            <a:extLst xmlns:a="http://schemas.openxmlformats.org/drawingml/2006/main">
              <a:ext uri="{FF2B5EF4-FFF2-40B4-BE49-F238E27FC236}">
                <a16:creationId xmlns:a16="http://schemas.microsoft.com/office/drawing/2014/main" id="{034DB9BB-1ADB-4AFD-A47C-2D98F0FE8DC7}"/>
              </a:ext>
            </a:extLst>
          </p:cNvPr>
          <p:cNvSpPr>
            <a:spLocks xmlns:a="http://schemas.openxmlformats.org/drawingml/2006/main" noGrp="1"/>
          </p:cNvSpPr>
          <p:nvPr/>
        </p:nvSpPr>
        <p:spPr>
          <a:xfrm xmlns:a="http://schemas.openxmlformats.org/drawingml/2006/main">
            <a:off x="685800" y="47053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556070"/>
                </a:solidFill>
              </a:defRPr>
            </a:pPr>
            <a:r>
              <a:rPr sz="1425" b="0" i="0">
                <a:solidFill>
                  <a:srgbClr val="556070"/>
                </a:solidFill>
              </a:rPr>
              <a:t>eMBB and mMTC traffic each triggered the approved rule.</a:t>
            </a:r>
          </a:p>
        </p:txBody>
      </p:sp>
      <p:sp>
        <p:nvSpPr>
          <p:cNvPr id="10" name="Rectangle: Rounded Corners 9">
            <a:extLst xmlns:a="http://schemas.openxmlformats.org/drawingml/2006/main">
              <a:ext uri="{FF2B5EF4-FFF2-40B4-BE49-F238E27FC236}">
                <a16:creationId xmlns:a16="http://schemas.microsoft.com/office/drawing/2014/main" id="{95D2F159-90A3-43B4-94DF-E4E13CF06DD8}"/>
              </a:ext>
            </a:extLst>
          </p:cNvPr>
          <p:cNvSpPr>
            <a:spLocks xmlns:a="http://schemas.openxmlformats.org/drawingml/2006/main" noGrp="1"/>
          </p:cNvSpPr>
          <p:nvPr/>
        </p:nvSpPr>
        <p:spPr>
          <a:xfrm xmlns:a="http://schemas.openxmlformats.org/drawingml/2006/main">
            <a:off x="4314825" y="3028950"/>
            <a:ext cx="3562350" cy="2476500"/>
          </a:xfrm>
          <a:prstGeom xmlns:a="http://schemas.openxmlformats.org/drawingml/2006/main" prst="roundRect">
            <a:avLst>
              <a:gd name="adj" fmla="val 4615"/>
            </a:avLst>
          </a:prstGeom>
          <a:solidFill xmlns:a="http://schemas.openxmlformats.org/drawingml/2006/main">
            <a:srgbClr val="F2F4F7"/>
          </a:solidFill>
          <a:ln xmlns:a="http://schemas.openxmlformats.org/drawingml/2006/main" w="0">
            <a:solidFill>
              <a:srgbClr val="F2F4F7"/>
            </a:solidFill>
            <a:prstDash val="solid"/>
          </a:ln>
        </p:spPr>
        <p:txBody>
          <a:bodyPr xmlns:a="http://schemas.openxmlformats.org/drawingml/2006/main"/>
          <a:lstStyle xmlns:a="http://schemas.openxmlformats.org/drawingml/2006/main"/>
          <a:p xmlns:a="http://schemas.openxmlformats.org/drawingml/2006/main">
            <a:endParaRPr/>
          </a:p>
        </p:txBody>
      </p:sp>
      <p:sp>
        <p:nvSpPr>
          <p:cNvPr id="11" name="Rectangle 10">
            <a:extLst xmlns:a="http://schemas.openxmlformats.org/drawingml/2006/main">
              <a:ext uri="{FF2B5EF4-FFF2-40B4-BE49-F238E27FC236}">
                <a16:creationId xmlns:a16="http://schemas.microsoft.com/office/drawing/2014/main" id="{E10F1BDB-673B-4711-A6EC-7469A4302E01}"/>
              </a:ext>
            </a:extLst>
          </p:cNvPr>
          <p:cNvSpPr>
            <a:spLocks xmlns:a="http://schemas.openxmlformats.org/drawingml/2006/main" noGrp="1"/>
          </p:cNvSpPr>
          <p:nvPr/>
        </p:nvSpPr>
        <p:spPr>
          <a:xfrm xmlns:a="http://schemas.openxmlformats.org/drawingml/2006/main">
            <a:off x="4600575" y="3333750"/>
            <a:ext cx="29908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125" b="1" i="0">
                <a:solidFill>
                  <a:srgbClr val="1E62D0"/>
                </a:solidFill>
              </a:defRPr>
            </a:pPr>
            <a:r>
              <a:rPr sz="4125" b="1" i="0">
                <a:solidFill>
                  <a:srgbClr val="1E62D0"/>
                </a:solidFill>
              </a:rPr>
              <a:t>27/27</a:t>
            </a:r>
          </a:p>
        </p:txBody>
      </p:sp>
      <p:sp>
        <p:nvSpPr>
          <p:cNvPr id="12" name="Rectangle 11">
            <a:extLst xmlns:a="http://schemas.openxmlformats.org/drawingml/2006/main">
              <a:ext uri="{FF2B5EF4-FFF2-40B4-BE49-F238E27FC236}">
                <a16:creationId xmlns:a16="http://schemas.microsoft.com/office/drawing/2014/main" id="{38119460-6E68-4D77-9C69-881C10E9C251}"/>
              </a:ext>
            </a:extLst>
          </p:cNvPr>
          <p:cNvSpPr>
            <a:spLocks xmlns:a="http://schemas.openxmlformats.org/drawingml/2006/main" noGrp="1"/>
          </p:cNvSpPr>
          <p:nvPr/>
        </p:nvSpPr>
        <p:spPr>
          <a:xfrm xmlns:a="http://schemas.openxmlformats.org/drawingml/2006/main">
            <a:off x="4600575" y="4257675"/>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i="0">
                <a:solidFill>
                  <a:srgbClr val="111827"/>
                </a:solidFill>
              </a:defRPr>
            </a:pPr>
            <a:r>
              <a:rPr sz="1800" b="1" i="0">
                <a:solidFill>
                  <a:srgbClr val="111827"/>
                </a:solidFill>
              </a:rPr>
              <a:t>SHA-256 checks matched</a:t>
            </a:r>
          </a:p>
        </p:txBody>
      </p:sp>
      <p:sp>
        <p:nvSpPr>
          <p:cNvPr id="13" name="Rectangle 12">
            <a:extLst xmlns:a="http://schemas.openxmlformats.org/drawingml/2006/main">
              <a:ext uri="{FF2B5EF4-FFF2-40B4-BE49-F238E27FC236}">
                <a16:creationId xmlns:a16="http://schemas.microsoft.com/office/drawing/2014/main" id="{48199DA3-8AE1-4F9E-8672-EA69D5D81413}"/>
              </a:ext>
            </a:extLst>
          </p:cNvPr>
          <p:cNvSpPr>
            <a:spLocks xmlns:a="http://schemas.openxmlformats.org/drawingml/2006/main" noGrp="1"/>
          </p:cNvSpPr>
          <p:nvPr/>
        </p:nvSpPr>
        <p:spPr>
          <a:xfrm xmlns:a="http://schemas.openxmlformats.org/drawingml/2006/main">
            <a:off x="4600575" y="47053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556070"/>
                </a:solidFill>
              </a:defRPr>
            </a:pPr>
            <a:r>
              <a:rPr sz="1425" b="0" i="0">
                <a:solidFill>
                  <a:srgbClr val="556070"/>
                </a:solidFill>
              </a:rPr>
              <a:t>Each source matched when it was checked after collection.</a:t>
            </a:r>
          </a:p>
        </p:txBody>
      </p:sp>
      <p:sp>
        <p:nvSpPr>
          <p:cNvPr id="14" name="Rectangle: Rounded Corners 13">
            <a:extLst xmlns:a="http://schemas.openxmlformats.org/drawingml/2006/main">
              <a:ext uri="{FF2B5EF4-FFF2-40B4-BE49-F238E27FC236}">
                <a16:creationId xmlns:a16="http://schemas.microsoft.com/office/drawing/2014/main" id="{01498B58-D6C6-41F2-BB9D-92B7BD427385}"/>
              </a:ext>
            </a:extLst>
          </p:cNvPr>
          <p:cNvSpPr>
            <a:spLocks xmlns:a="http://schemas.openxmlformats.org/drawingml/2006/main" noGrp="1"/>
          </p:cNvSpPr>
          <p:nvPr/>
        </p:nvSpPr>
        <p:spPr>
          <a:xfrm xmlns:a="http://schemas.openxmlformats.org/drawingml/2006/main">
            <a:off x="8239125" y="3028950"/>
            <a:ext cx="3562350" cy="2476500"/>
          </a:xfrm>
          <a:prstGeom xmlns:a="http://schemas.openxmlformats.org/drawingml/2006/main" prst="roundRect">
            <a:avLst>
              <a:gd name="adj" fmla="val 4615"/>
            </a:avLst>
          </a:prstGeom>
          <a:solidFill xmlns:a="http://schemas.openxmlformats.org/drawingml/2006/main">
            <a:srgbClr val="F2F4F7"/>
          </a:solidFill>
          <a:ln xmlns:a="http://schemas.openxmlformats.org/drawingml/2006/main" w="0">
            <a:solidFill>
              <a:srgbClr val="F2F4F7"/>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Rectangle 14">
            <a:extLst xmlns:a="http://schemas.openxmlformats.org/drawingml/2006/main">
              <a:ext uri="{FF2B5EF4-FFF2-40B4-BE49-F238E27FC236}">
                <a16:creationId xmlns:a16="http://schemas.microsoft.com/office/drawing/2014/main" id="{4A0098F9-8167-4529-A006-E0B9FC3492FF}"/>
              </a:ext>
            </a:extLst>
          </p:cNvPr>
          <p:cNvSpPr>
            <a:spLocks xmlns:a="http://schemas.openxmlformats.org/drawingml/2006/main" noGrp="1"/>
          </p:cNvSpPr>
          <p:nvPr/>
        </p:nvSpPr>
        <p:spPr>
          <a:xfrm xmlns:a="http://schemas.openxmlformats.org/drawingml/2006/main">
            <a:off x="8524875" y="3333750"/>
            <a:ext cx="29908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125" b="1" i="0">
                <a:solidFill>
                  <a:srgbClr val="1E62D0"/>
                </a:solidFill>
              </a:defRPr>
            </a:pPr>
            <a:r>
              <a:rPr sz="4125" b="1" i="0">
                <a:solidFill>
                  <a:srgbClr val="1E62D0"/>
                </a:solidFill>
              </a:rPr>
              <a:t>27/27</a:t>
            </a:r>
          </a:p>
        </p:txBody>
      </p:sp>
      <p:sp>
        <p:nvSpPr>
          <p:cNvPr id="16" name="Rectangle 15">
            <a:extLst xmlns:a="http://schemas.openxmlformats.org/drawingml/2006/main">
              <a:ext uri="{FF2B5EF4-FFF2-40B4-BE49-F238E27FC236}">
                <a16:creationId xmlns:a16="http://schemas.microsoft.com/office/drawing/2014/main" id="{BB9E1175-CF47-45C3-B187-A7CCBF4852F9}"/>
              </a:ext>
            </a:extLst>
          </p:cNvPr>
          <p:cNvSpPr>
            <a:spLocks xmlns:a="http://schemas.openxmlformats.org/drawingml/2006/main" noGrp="1"/>
          </p:cNvSpPr>
          <p:nvPr/>
        </p:nvSpPr>
        <p:spPr>
          <a:xfrm xmlns:a="http://schemas.openxmlformats.org/drawingml/2006/main">
            <a:off x="8524875" y="4257675"/>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i="0">
                <a:solidFill>
                  <a:srgbClr val="111827"/>
                </a:solidFill>
              </a:defRPr>
            </a:pPr>
            <a:r>
              <a:rPr sz="1800" b="1" i="0">
                <a:solidFill>
                  <a:srgbClr val="111827"/>
                </a:solidFill>
              </a:rPr>
              <a:t>complete custody records</a:t>
            </a:r>
          </a:p>
        </p:txBody>
      </p:sp>
      <p:sp>
        <p:nvSpPr>
          <p:cNvPr id="17" name="Rectangle 16">
            <a:extLst xmlns:a="http://schemas.openxmlformats.org/drawingml/2006/main">
              <a:ext uri="{FF2B5EF4-FFF2-40B4-BE49-F238E27FC236}">
                <a16:creationId xmlns:a16="http://schemas.microsoft.com/office/drawing/2014/main" id="{E5E1FF9F-0ED6-414F-9AA3-716D3AFB53FC}"/>
              </a:ext>
            </a:extLst>
          </p:cNvPr>
          <p:cNvSpPr>
            <a:spLocks xmlns:a="http://schemas.openxmlformats.org/drawingml/2006/main" noGrp="1"/>
          </p:cNvSpPr>
          <p:nvPr/>
        </p:nvSpPr>
        <p:spPr>
          <a:xfrm xmlns:a="http://schemas.openxmlformats.org/drawingml/2006/main">
            <a:off x="8524875" y="4705350"/>
            <a:ext cx="29908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i="0">
                <a:solidFill>
                  <a:srgbClr val="556070"/>
                </a:solidFill>
              </a:defRPr>
            </a:pPr>
            <a:r>
              <a:rPr sz="1425" b="0" i="0">
                <a:solidFill>
                  <a:srgbClr val="556070"/>
                </a:solidFill>
              </a:rPr>
              <a:t>Each record has source, collector, action, time, hash and storage location.</a:t>
            </a:r>
          </a:p>
        </p:txBody>
      </p:sp>
      <p:sp>
        <p:nvSpPr>
          <p:cNvPr id="18" name="Rectangle 17">
            <a:extLst xmlns:a="http://schemas.openxmlformats.org/drawingml/2006/main">
              <a:ext uri="{FF2B5EF4-FFF2-40B4-BE49-F238E27FC236}">
                <a16:creationId xmlns:a16="http://schemas.microsoft.com/office/drawing/2014/main" id="{FFAD0E28-F7CE-43F6-AC0B-16E8BE280208}"/>
              </a:ext>
            </a:extLst>
          </p:cNvPr>
          <p:cNvSpPr>
            <a:spLocks xmlns:a="http://schemas.openxmlformats.org/drawingml/2006/main" noGrp="1"/>
          </p:cNvSpPr>
          <p:nvPr/>
        </p:nvSpPr>
        <p:spPr>
          <a:xfrm xmlns:a="http://schemas.openxmlformats.org/drawingml/2006/main">
            <a:off x="400050" y="5857875"/>
            <a:ext cx="8286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i="0">
                <a:solidFill>
                  <a:srgbClr val="111827"/>
                </a:solidFill>
              </a:defRPr>
            </a:pPr>
            <a:r>
              <a:rPr sz="2100" b="1" i="0">
                <a:solidFill>
                  <a:srgbClr val="111827"/>
                </a:solidFill>
              </a:rPr>
              <a:t>Test lab  →  attribution  →  approved rule  →  hash + custody</a:t>
            </a:r>
          </a:p>
        </p:txBody>
      </p:sp>
    </p:spTree>
    <p:extLst>
      <p:ext uri="{BB962C8B-B14F-4D97-AF65-F5344CB8AC3E}">
        <p14:creationId xmlns:p14="http://schemas.microsoft.com/office/powerpoint/2010/main" val="128034828"/>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0E253805-AF26-46DE-910C-E97438ED8C83}"/>
              </a:ext>
            </a:extLst>
          </p:cNvPr>
          <p:cNvSpPr>
            <a:spLocks xmlns:a="http://schemas.openxmlformats.org/drawingml/2006/main" noGrp="1"/>
          </p:cNvSpPr>
          <p:nvPr/>
        </p:nvSpPr>
        <p:spPr>
          <a:xfrm xmlns:a="http://schemas.openxmlformats.org/drawingml/2006/main">
            <a:off x="400050" y="3238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125" b="1" i="0">
                <a:solidFill>
                  <a:srgbClr val="1E62D0"/>
                </a:solidFill>
              </a:defRPr>
            </a:pPr>
            <a:r>
              <a:rPr sz="1125" b="1" i="0">
                <a:solidFill>
                  <a:srgbClr val="1E62D0"/>
                </a:solidFill>
              </a:rPr>
              <a:t>CURRENT POSITION AND NEXT WORK</a:t>
            </a:r>
          </a:p>
        </p:txBody>
      </p:sp>
      <p:sp>
        <p:nvSpPr>
          <p:cNvPr id="2" name="Rectangle 1">
            <a:extLst xmlns:a="http://schemas.openxmlformats.org/drawingml/2006/main">
              <a:ext uri="{FF2B5EF4-FFF2-40B4-BE49-F238E27FC236}">
                <a16:creationId xmlns:a16="http://schemas.microsoft.com/office/drawing/2014/main" id="{5CF8825C-4755-4552-95DB-43DB8027CDCD}"/>
              </a:ext>
            </a:extLst>
          </p:cNvPr>
          <p:cNvSpPr>
            <a:spLocks xmlns:a="http://schemas.openxmlformats.org/drawingml/2006/main" noGrp="1"/>
          </p:cNvSpPr>
          <p:nvPr/>
        </p:nvSpPr>
        <p:spPr>
          <a:xfrm xmlns:a="http://schemas.openxmlformats.org/drawingml/2006/main">
            <a:off x="400050" y="628650"/>
            <a:ext cx="10668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925" b="1" i="0">
                <a:solidFill>
                  <a:srgbClr val="111827"/>
                </a:solidFill>
              </a:defRPr>
            </a:pPr>
            <a:r>
              <a:rPr sz="2925" b="1" i="0">
                <a:solidFill>
                  <a:srgbClr val="111827"/>
                </a:solidFill>
              </a:rPr>
              <a:t>Phase 5 complete. Phase 6 is next.</a:t>
            </a:r>
          </a:p>
        </p:txBody>
      </p:sp>
      <p:sp>
        <p:nvSpPr>
          <p:cNvPr id="3" name="Rectangle 2">
            <a:extLst xmlns:a="http://schemas.openxmlformats.org/drawingml/2006/main">
              <a:ext uri="{FF2B5EF4-FFF2-40B4-BE49-F238E27FC236}">
                <a16:creationId xmlns:a16="http://schemas.microsoft.com/office/drawing/2014/main" id="{D1E06D69-DA64-43AD-BA7F-6F559D4A1E01}"/>
              </a:ext>
            </a:extLst>
          </p:cNvPr>
          <p:cNvSpPr>
            <a:spLocks xmlns:a="http://schemas.openxmlformats.org/drawingml/2006/main" noGrp="1"/>
          </p:cNvSpPr>
          <p:nvPr/>
        </p:nvSpPr>
        <p:spPr>
          <a:xfrm xmlns:a="http://schemas.openxmlformats.org/drawingml/2006/main">
            <a:off x="400050" y="1276350"/>
            <a:ext cx="11391900" cy="9525"/>
          </a:xfrm>
          <a:prstGeom xmlns:a="http://schemas.openxmlformats.org/drawingml/2006/main" prst="rect">
            <a:avLst/>
          </a:prstGeom>
          <a:solidFill xmlns:a="http://schemas.openxmlformats.org/drawingml/2006/main">
            <a:srgbClr val="C8CED6"/>
          </a:solidFill>
          <a:ln xmlns:a="http://schemas.openxmlformats.org/drawingml/2006/main" w="0">
            <a:solidFill>
              <a:srgbClr val="C8CED6"/>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Rectangle 3">
            <a:extLst xmlns:a="http://schemas.openxmlformats.org/drawingml/2006/main">
              <a:ext uri="{FF2B5EF4-FFF2-40B4-BE49-F238E27FC236}">
                <a16:creationId xmlns:a16="http://schemas.microsoft.com/office/drawing/2014/main" id="{6C489429-138D-421F-AC9A-07FF081F2A3F}"/>
              </a:ext>
            </a:extLst>
          </p:cNvPr>
          <p:cNvSpPr>
            <a:spLocks xmlns:a="http://schemas.openxmlformats.org/drawingml/2006/main" noGrp="1"/>
          </p:cNvSpPr>
          <p:nvPr/>
        </p:nvSpPr>
        <p:spPr>
          <a:xfrm xmlns:a="http://schemas.openxmlformats.org/drawingml/2006/main">
            <a:off x="9715500" y="6286500"/>
            <a:ext cx="2076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975" b="0" i="0">
                <a:solidFill>
                  <a:srgbClr val="556070"/>
                </a:solidFill>
              </a:defRPr>
            </a:pPr>
            <a:r>
              <a:rPr sz="975" b="0" i="0">
                <a:solidFill>
                  <a:srgbClr val="556070"/>
                </a:solidFill>
              </a:rPr>
              <a:t>22 AUGUST 2026  |  12</a:t>
            </a:r>
          </a:p>
        </p:txBody>
      </p:sp>
      <p:sp>
        <p:nvSpPr>
          <p:cNvPr id="5" name="Rectangle 4">
            <a:extLst xmlns:a="http://schemas.openxmlformats.org/drawingml/2006/main">
              <a:ext uri="{FF2B5EF4-FFF2-40B4-BE49-F238E27FC236}">
                <a16:creationId xmlns:a16="http://schemas.microsoft.com/office/drawing/2014/main" id="{DB1AB030-53C0-4613-ADB1-AFD2C348A31C}"/>
              </a:ext>
            </a:extLst>
          </p:cNvPr>
          <p:cNvSpPr>
            <a:spLocks xmlns:a="http://schemas.openxmlformats.org/drawingml/2006/main" noGrp="1"/>
          </p:cNvSpPr>
          <p:nvPr/>
        </p:nvSpPr>
        <p:spPr>
          <a:xfrm xmlns:a="http://schemas.openxmlformats.org/drawingml/2006/main">
            <a:off x="400050" y="1476375"/>
            <a:ext cx="1047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i="0">
                <a:solidFill>
                  <a:srgbClr val="556070"/>
                </a:solidFill>
              </a:defRPr>
            </a:pPr>
            <a:r>
              <a:rPr sz="1800" b="0" i="0">
                <a:solidFill>
                  <a:srgbClr val="556070"/>
                </a:solidFill>
              </a:rPr>
              <a:t>Phase 5 applied an approved rule, verified each hash and preserved the custody history. Phase 6 will evaluate the results.</a:t>
            </a:r>
          </a:p>
        </p:txBody>
      </p:sp>
      <p:graphicFrame>
        <p:nvGraphicFramePr>
          <p:cNvPr id="16" name="Table 13"/>
          <p:cNvGraphicFramePr/>
          <p:nvPr/>
        </p:nvGraphicFramePr>
        <p:xfrm>
          <a:off xmlns:a="http://schemas.openxmlformats.org/drawingml/2006/main" x="400050" y="2238375"/>
          <a:ext xmlns:a="http://schemas.openxmlformats.org/drawingml/2006/main" cx="11391900" cy="3143252"/>
        </p:xfrm>
        <a:graphic xmlns:a="http://schemas.openxmlformats.org/drawingml/2006/main">
          <a:graphicData uri="http://schemas.openxmlformats.org/drawingml/2006/table">
            <a:tbl>
              <a:tblPr firstRow="1" bandRow="1"/>
              <a:tblGrid>
                <a:gridCol w="2476500"/>
                <a:gridCol w="4905375"/>
                <a:gridCol w="4010025"/>
              </a:tblGrid>
              <a:tr h="785813">
                <a:tc>
                  <a:txBody>
                    <a:bodyPr/>
                    <a:lstStyle/>
                    <a:p>
                      <a:r>
                        <a:rPr sz="1650" b="1">
                          <a:solidFill>
                            <a:srgbClr val="FFFFFF"/>
                          </a:solidFill>
                        </a:rPr>
                        <a:t>Phase</a:t>
                      </a:r>
                    </a:p>
                  </a:txBody>
                  <a:tcPr marL="91440" marR="91440" marT="45720" marB="45720">
                    <a:solidFill>
                      <a:srgbClr val="1E62D0"/>
                    </a:solidFill>
                  </a:tcPr>
                </a:tc>
                <a:tc>
                  <a:txBody>
                    <a:bodyPr/>
                    <a:lstStyle/>
                    <a:p>
                      <a:r>
                        <a:rPr sz="1650" b="1">
                          <a:solidFill>
                            <a:srgbClr val="FFFFFF"/>
                          </a:solidFill>
                        </a:rPr>
                        <a:t>Meaning</a:t>
                      </a:r>
                    </a:p>
                  </a:txBody>
                  <a:tcPr marL="91440" marR="91440" marT="45720" marB="45720">
                    <a:solidFill>
                      <a:srgbClr val="1E62D0"/>
                    </a:solidFill>
                  </a:tcPr>
                </a:tc>
                <a:tc>
                  <a:txBody>
                    <a:bodyPr/>
                    <a:lstStyle/>
                    <a:p>
                      <a:r>
                        <a:rPr sz="1650" b="1">
                          <a:solidFill>
                            <a:srgbClr val="FFFFFF"/>
                          </a:solidFill>
                        </a:rPr>
                        <a:t>What I can show</a:t>
                      </a:r>
                    </a:p>
                  </a:txBody>
                  <a:tcPr marL="91440" marR="91440" marT="45720" marB="45720">
                    <a:solidFill>
                      <a:srgbClr val="1E62D0"/>
                    </a:solidFill>
                  </a:tcPr>
                </a:tc>
              </a:tr>
              <a:tr h="785813">
                <a:tc>
                  <a:txBody>
                    <a:bodyPr/>
                    <a:lstStyle/>
                    <a:p>
                      <a:r>
                        <a:rPr sz="1575">
                          <a:solidFill>
                            <a:srgbClr val="111827"/>
                          </a:solidFill>
                        </a:rPr>
                        <a:t>Phase 4 - complete</a:t>
                      </a:r>
                    </a:p>
                  </a:txBody>
                  <a:tcPr marL="91440" marR="91440" marT="45720" marB="45720"/>
                </a:tc>
                <a:tc>
                  <a:txBody>
                    <a:bodyPr/>
                    <a:lstStyle/>
                    <a:p>
                      <a:r>
                        <a:rPr sz="1575">
                          <a:solidFill>
                            <a:srgbClr val="111827"/>
                          </a:solidFill>
                        </a:rPr>
                        <a:t>Assign a slice with a recorded rule and reason</a:t>
                      </a:r>
                    </a:p>
                  </a:txBody>
                  <a:tcPr marL="91440" marR="91440" marT="45720" marB="45720"/>
                </a:tc>
                <a:tc>
                  <a:txBody>
                    <a:bodyPr/>
                    <a:lstStyle/>
                    <a:p>
                      <a:r>
                        <a:rPr sz="1575">
                          <a:solidFill>
                            <a:srgbClr val="111827"/>
                          </a:solidFill>
                        </a:rPr>
                        <a:t>27 decisions; 8/8 known correct</a:t>
                      </a:r>
                    </a:p>
                  </a:txBody>
                  <a:tcPr marL="91440" marR="91440" marT="45720" marB="45720"/>
                </a:tc>
              </a:tr>
              <a:tr h="785813">
                <a:tc>
                  <a:txBody>
                    <a:bodyPr/>
                    <a:lstStyle/>
                    <a:p>
                      <a:r>
                        <a:rPr sz="1575">
                          <a:solidFill>
                            <a:srgbClr val="111827"/>
                          </a:solidFill>
                        </a:rPr>
                        <a:t>Phase 5 - complete</a:t>
                      </a:r>
                    </a:p>
                  </a:txBody>
                  <a:tcPr marL="91440" marR="91440" marT="45720" marB="45720"/>
                </a:tc>
                <a:tc>
                  <a:txBody>
                    <a:bodyPr/>
                    <a:lstStyle/>
                    <a:p>
                      <a:r>
                        <a:rPr sz="1575">
                          <a:solidFill>
                            <a:srgbClr val="111827"/>
                          </a:solidFill>
                        </a:rPr>
                        <a:t>Approved collection, hash and custody</a:t>
                      </a:r>
                    </a:p>
                  </a:txBody>
                  <a:tcPr marL="91440" marR="91440" marT="45720" marB="45720"/>
                </a:tc>
                <a:tc>
                  <a:txBody>
                    <a:bodyPr/>
                    <a:lstStyle/>
                    <a:p>
                      <a:r>
                        <a:rPr sz="1575">
                          <a:solidFill>
                            <a:srgbClr val="111827"/>
                          </a:solidFill>
                        </a:rPr>
                        <a:t>2 updates; 27/27 verified</a:t>
                      </a:r>
                    </a:p>
                  </a:txBody>
                  <a:tcPr marL="91440" marR="91440" marT="45720" marB="45720"/>
                </a:tc>
              </a:tr>
              <a:tr h="785813">
                <a:tc>
                  <a:txBody>
                    <a:bodyPr/>
                    <a:lstStyle/>
                    <a:p>
                      <a:r>
                        <a:rPr sz="1575">
                          <a:solidFill>
                            <a:srgbClr val="111827"/>
                          </a:solidFill>
                        </a:rPr>
                        <a:t>Phase 6 - next</a:t>
                      </a:r>
                    </a:p>
                  </a:txBody>
                  <a:tcPr marL="91440" marR="91440" marT="45720" marB="45720"/>
                </a:tc>
                <a:tc>
                  <a:txBody>
                    <a:bodyPr/>
                    <a:lstStyle/>
                    <a:p>
                      <a:r>
                        <a:rPr sz="1575">
                          <a:solidFill>
                            <a:srgbClr val="111827"/>
                          </a:solidFill>
                        </a:rPr>
                        <a:t>Evaluate scenarios and measure results</a:t>
                      </a:r>
                    </a:p>
                  </a:txBody>
                  <a:tcPr marL="91440" marR="91440" marT="45720" marB="45720"/>
                </a:tc>
                <a:tc>
                  <a:txBody>
                    <a:bodyPr/>
                    <a:lstStyle/>
                    <a:p>
                      <a:r>
                        <a:rPr sz="1575">
                          <a:solidFill>
                            <a:srgbClr val="111827"/>
                          </a:solidFill>
                        </a:rPr>
                        <a:t>Show completeness and overhead</a:t>
                      </a:r>
                    </a:p>
                  </a:txBody>
                  <a:tcPr marL="91440" marR="91440" marT="45720" marB="45720"/>
                </a:tc>
              </a:tr>
            </a:tbl>
          </a:graphicData>
        </a:graphic>
      </p:graphicFrame>
      <p:sp>
        <p:nvSpPr>
          <p:cNvPr id="7" name="Rectangle: Rounded Corners 6">
            <a:extLst xmlns:a="http://schemas.openxmlformats.org/drawingml/2006/main">
              <a:ext uri="{FF2B5EF4-FFF2-40B4-BE49-F238E27FC236}">
                <a16:creationId xmlns:a16="http://schemas.microsoft.com/office/drawing/2014/main" id="{DBE0B6CD-2055-426F-9DB5-FBD1FDB0F472}"/>
              </a:ext>
            </a:extLst>
          </p:cNvPr>
          <p:cNvSpPr>
            <a:spLocks xmlns:a="http://schemas.openxmlformats.org/drawingml/2006/main" noGrp="1"/>
          </p:cNvSpPr>
          <p:nvPr/>
        </p:nvSpPr>
        <p:spPr>
          <a:xfrm xmlns:a="http://schemas.openxmlformats.org/drawingml/2006/main">
            <a:off x="400050" y="5676900"/>
            <a:ext cx="11391900" cy="400050"/>
          </a:xfrm>
          <a:prstGeom xmlns:a="http://schemas.openxmlformats.org/drawingml/2006/main" prst="roundRect">
            <a:avLst>
              <a:gd name="adj" fmla="val 19048"/>
            </a:avLst>
          </a:prstGeom>
          <a:solidFill xmlns:a="http://schemas.openxmlformats.org/drawingml/2006/main">
            <a:srgbClr val="EAF5FB"/>
          </a:solidFill>
          <a:ln xmlns:a="http://schemas.openxmlformats.org/drawingml/2006/main" w="0">
            <a:solidFill>
              <a:srgbClr val="EAF5FB"/>
            </a:solidFill>
            <a:prstDash val="solid"/>
          </a:ln>
        </p:spPr>
        <p:txBody>
          <a:bodyPr xmlns:a="http://schemas.openxmlformats.org/drawingml/2006/main"/>
          <a:lstStyle xmlns:a="http://schemas.openxmlformats.org/drawingml/2006/main"/>
          <a:p xmlns:a="http://schemas.openxmlformats.org/drawingml/2006/main">
            <a:endParaRPr/>
          </a:p>
        </p:txBody>
      </p:sp>
      <p:sp>
        <p:nvSpPr>
          <p:cNvPr id="8" name="Rectangle 7">
            <a:extLst xmlns:a="http://schemas.openxmlformats.org/drawingml/2006/main">
              <a:ext uri="{FF2B5EF4-FFF2-40B4-BE49-F238E27FC236}">
                <a16:creationId xmlns:a16="http://schemas.microsoft.com/office/drawing/2014/main" id="{A07F7DFD-AF08-4A84-BFCD-F9ED814B9988}"/>
              </a:ext>
            </a:extLst>
          </p:cNvPr>
          <p:cNvSpPr>
            <a:spLocks xmlns:a="http://schemas.openxmlformats.org/drawingml/2006/main" noGrp="1"/>
          </p:cNvSpPr>
          <p:nvPr/>
        </p:nvSpPr>
        <p:spPr>
          <a:xfrm xmlns:a="http://schemas.openxmlformats.org/drawingml/2006/main">
            <a:off x="590550" y="5781675"/>
            <a:ext cx="10572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i="0">
                <a:solidFill>
                  <a:srgbClr val="1E62D0"/>
                </a:solidFill>
              </a:defRPr>
            </a:pPr>
            <a:r>
              <a:rPr sz="1500" b="1" i="0">
                <a:solidFill>
                  <a:srgbClr val="1E62D0"/>
                </a:solidFill>
              </a:rPr>
              <a:t>Next meeting focus: Phase 6 - evaluate the framework with planned scenarios.</a:t>
            </a:r>
          </a:p>
        </p:txBody>
      </p:sp>
    </p:spTree>
    <p:extLst>
      <p:ext uri="{BB962C8B-B14F-4D97-AF65-F5344CB8AC3E}">
        <p14:creationId xmlns:p14="http://schemas.microsoft.com/office/powerpoint/2010/main" val="21370659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2026-08-22T20:20:13.1050000Z</dcterms:created>
  <dcterms:modified xsi:type="dcterms:W3CDTF">2026-08-22T20:20:13.1050000Z</dcterms:modified>
</coreProperties>
</file>